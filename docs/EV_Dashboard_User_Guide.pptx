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22960" y="1371600"/>
            <a:ext cx="822960" cy="822960"/>
          </a:xfrm>
          <a:prstGeom prst="roundRect">
            <a:avLst>
              <a:gd name="adj" fmla="val 8889"/>
            </a:avLst>
          </a:prstGeom>
          <a:solidFill>
            <a:srgbClr val="1A9E75"/>
          </a:solidFill>
          <a:ln w="12700">
            <a:solidFill>
              <a:srgbClr val="1A9E75"/>
            </a:solidFill>
            <a:prstDash val="solid"/>
          </a:ln>
        </p:spPr>
        <p:txBody>
          <a:bodyPr/>
          <a:p/>
        </p:txBody>
      </p:sp>
      <p:sp>
        <p:nvSpPr>
          <p:cNvPr id="3" name="Text 1"/>
          <p:cNvSpPr/>
          <p:nvPr/>
        </p:nvSpPr>
        <p:spPr>
          <a:xfrm>
            <a:off x="822960" y="1371600"/>
            <a:ext cx="822960" cy="822960"/>
          </a:xfrm>
          <a:prstGeom prst="rect">
            <a:avLst/>
          </a:prstGeom>
          <a:noFill/>
          <a:ln/>
        </p:spPr>
        <p:txBody>
          <a:bodyPr wrap="square" lIns="0" tIns="0" rIns="0" bIns="0" rtlCol="0" anchor="ctr"/>
          <a:lstStyle/>
          <a:p>
            <a:pPr algn="ctr" indent="0" marL="0">
              <a:buNone/>
            </a:pPr>
            <a:r>
              <a:rPr lang="en-US" sz="2600" b="1" dirty="0">
                <a:solidFill>
                  <a:srgbClr val="0E2A24"/>
                </a:solidFill>
                <a:latin typeface="Cambria" pitchFamily="34" charset="0"/>
                <a:ea typeface="Cambria" pitchFamily="34" charset="-122"/>
                <a:cs typeface="Cambria" pitchFamily="34" charset="-120"/>
              </a:rPr>
              <a:t>EV</a:t>
            </a:r>
            <a:endParaRPr lang="en-US" sz="2600" dirty="0"/>
          </a:p>
        </p:txBody>
      </p:sp>
      <p:sp>
        <p:nvSpPr>
          <p:cNvPr id="4" name="Text 2"/>
          <p:cNvSpPr/>
          <p:nvPr/>
        </p:nvSpPr>
        <p:spPr>
          <a:xfrm>
            <a:off x="822960" y="2468880"/>
            <a:ext cx="10515600" cy="868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Jamaica EV Dashboard</a:t>
            </a:r>
            <a:endParaRPr lang="en-US" sz="4800" dirty="0"/>
          </a:p>
        </p:txBody>
      </p:sp>
      <p:sp>
        <p:nvSpPr>
          <p:cNvPr id="5" name="Text 3"/>
          <p:cNvSpPr/>
          <p:nvPr/>
        </p:nvSpPr>
        <p:spPr>
          <a:xfrm>
            <a:off x="822960" y="3364992"/>
            <a:ext cx="10515600" cy="457200"/>
          </a:xfrm>
          <a:prstGeom prst="rect">
            <a:avLst/>
          </a:prstGeom>
          <a:noFill/>
          <a:ln/>
        </p:spPr>
        <p:txBody>
          <a:bodyPr wrap="square" lIns="0" tIns="0" rIns="0" bIns="0" rtlCol="0" anchor="ctr"/>
          <a:lstStyle/>
          <a:p>
            <a:pPr indent="0" marL="0">
              <a:buNone/>
            </a:pPr>
            <a:r>
              <a:rPr lang="en-US" sz="2000" dirty="0">
                <a:solidFill>
                  <a:srgbClr val="A9C6BF"/>
                </a:solidFill>
                <a:latin typeface="Calibri" pitchFamily="34" charset="0"/>
                <a:ea typeface="Calibri" pitchFamily="34" charset="-122"/>
                <a:cs typeface="Calibri" pitchFamily="34" charset="-120"/>
              </a:rPr>
              <a:t>A step-by-step guide to using every page</a:t>
            </a:r>
            <a:endParaRPr lang="en-US" sz="2000" dirty="0"/>
          </a:p>
        </p:txBody>
      </p:sp>
      <p:sp>
        <p:nvSpPr>
          <p:cNvPr id="6" name="Text 4"/>
          <p:cNvSpPr/>
          <p:nvPr/>
        </p:nvSpPr>
        <p:spPr>
          <a:xfrm>
            <a:off x="822960" y="3977640"/>
            <a:ext cx="8778240" cy="822960"/>
          </a:xfrm>
          <a:prstGeom prst="rect">
            <a:avLst/>
          </a:prstGeom>
          <a:noFill/>
          <a:ln/>
        </p:spPr>
        <p:txBody>
          <a:bodyPr wrap="square" lIns="0" tIns="0" rIns="0" bIns="0" rtlCol="0" anchor="ctr"/>
          <a:lstStyle/>
          <a:p>
            <a:pPr indent="0" marL="0">
              <a:lnSpc>
                <a:spcPct val="125000"/>
              </a:lnSpc>
              <a:buNone/>
            </a:pPr>
            <a:r>
              <a:rPr lang="en-US" sz="1350" dirty="0">
                <a:solidFill>
                  <a:srgbClr val="8FB3AB"/>
                </a:solidFill>
                <a:latin typeface="Calibri" pitchFamily="34" charset="0"/>
                <a:ea typeface="Calibri" pitchFamily="34" charset="-122"/>
                <a:cs typeface="Calibri" pitchFamily="34" charset="-120"/>
              </a:rPr>
              <a:t>Compare the cost and emissions of electric and petrol vehicles in Jamaica.</a:t>
            </a:r>
            <a:endParaRPr lang="en-US" sz="1350" dirty="0"/>
          </a:p>
          <a:p>
            <a:pPr indent="0" marL="0">
              <a:lnSpc>
                <a:spcPct val="125000"/>
              </a:lnSpc>
              <a:buNone/>
            </a:pPr>
            <a:r>
              <a:rPr lang="en-US" sz="1350" dirty="0">
                <a:solidFill>
                  <a:srgbClr val="8FB3AB"/>
                </a:solidFill>
                <a:latin typeface="Calibri" pitchFamily="34" charset="0"/>
                <a:ea typeface="Calibri" pitchFamily="34" charset="-122"/>
                <a:cs typeface="Calibri" pitchFamily="34" charset="-120"/>
              </a:rPr>
              <a:t>No technical background needed. Every screen is explained in order.</a:t>
            </a:r>
            <a:endParaRPr lang="en-US" sz="1350" dirty="0"/>
          </a:p>
        </p:txBody>
      </p:sp>
      <p:sp>
        <p:nvSpPr>
          <p:cNvPr id="7" name="Text 5"/>
          <p:cNvSpPr/>
          <p:nvPr/>
        </p:nvSpPr>
        <p:spPr>
          <a:xfrm>
            <a:off x="822960" y="5943600"/>
            <a:ext cx="5486400" cy="274320"/>
          </a:xfrm>
          <a:prstGeom prst="rect">
            <a:avLst/>
          </a:prstGeom>
          <a:noFill/>
          <a:ln/>
        </p:spPr>
        <p:txBody>
          <a:bodyPr wrap="square" lIns="0" tIns="0" rIns="0" bIns="0" rtlCol="0" anchor="ctr"/>
          <a:lstStyle/>
          <a:p>
            <a:pPr indent="0" marL="0">
              <a:buNone/>
            </a:pPr>
            <a:r>
              <a:rPr lang="en-US" sz="1200" b="1" dirty="0">
                <a:solidFill>
                  <a:srgbClr val="1A9E75"/>
                </a:solidFill>
                <a:latin typeface="Calibri" pitchFamily="34" charset="0"/>
                <a:ea typeface="Calibri" pitchFamily="34" charset="-122"/>
                <a:cs typeface="Calibri" pitchFamily="34" charset="-120"/>
              </a:rPr>
              <a:t>UWI Mona  ·  EV Lab</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457200"/>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What this dashboard is for</a:t>
            </a:r>
            <a:endParaRPr lang="en-US" sz="3200" dirty="0"/>
          </a:p>
        </p:txBody>
      </p:sp>
      <p:sp>
        <p:nvSpPr>
          <p:cNvPr id="3" name="Text 1"/>
          <p:cNvSpPr/>
          <p:nvPr/>
        </p:nvSpPr>
        <p:spPr>
          <a:xfrm>
            <a:off x="502920" y="1207008"/>
            <a:ext cx="11155680" cy="502920"/>
          </a:xfrm>
          <a:prstGeom prst="rect">
            <a:avLst/>
          </a:prstGeom>
          <a:noFill/>
          <a:ln/>
        </p:spPr>
        <p:txBody>
          <a:bodyPr wrap="square" lIns="0" tIns="0" rIns="0" bIns="0" rtlCol="0" anchor="ctr"/>
          <a:lstStyle/>
          <a:p>
            <a:pPr indent="0" marL="0">
              <a:buNone/>
            </a:pPr>
            <a:r>
              <a:rPr lang="en-US" sz="1400" dirty="0">
                <a:solidFill>
                  <a:srgbClr val="6B7A77"/>
                </a:solidFill>
                <a:latin typeface="Calibri" pitchFamily="34" charset="0"/>
                <a:ea typeface="Calibri" pitchFamily="34" charset="-122"/>
                <a:cs typeface="Calibri" pitchFamily="34" charset="-120"/>
              </a:rPr>
              <a:t>It answers one practical question in several different ways: does switching from petrol to electric actually save money and cut emissions in Jamaica, and for whom?</a:t>
            </a:r>
            <a:endParaRPr lang="en-US" sz="1400" dirty="0"/>
          </a:p>
        </p:txBody>
      </p:sp>
      <p:sp>
        <p:nvSpPr>
          <p:cNvPr id="4" name="Shape 2"/>
          <p:cNvSpPr/>
          <p:nvPr/>
        </p:nvSpPr>
        <p:spPr>
          <a:xfrm>
            <a:off x="502920" y="1874520"/>
            <a:ext cx="3617976" cy="1371600"/>
          </a:xfrm>
          <a:prstGeom prst="roundRect">
            <a:avLst>
              <a:gd name="adj" fmla="val 4000"/>
            </a:avLst>
          </a:prstGeom>
          <a:solidFill>
            <a:srgbClr val="F1F6F4"/>
          </a:solidFill>
          <a:ln w="12700">
            <a:solidFill>
              <a:srgbClr val="D8E3E0"/>
            </a:solidFill>
            <a:prstDash val="solid"/>
          </a:ln>
        </p:spPr>
        <p:txBody>
          <a:bodyPr/>
          <a:p/>
        </p:txBody>
      </p:sp>
      <p:sp>
        <p:nvSpPr>
          <p:cNvPr id="5" name="Text 3"/>
          <p:cNvSpPr/>
          <p:nvPr/>
        </p:nvSpPr>
        <p:spPr>
          <a:xfrm>
            <a:off x="649224" y="2002536"/>
            <a:ext cx="3325368"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If you are buying a car</a:t>
            </a:r>
            <a:endParaRPr lang="en-US" sz="1100" dirty="0"/>
          </a:p>
        </p:txBody>
      </p:sp>
      <p:sp>
        <p:nvSpPr>
          <p:cNvPr id="6" name="Text 4"/>
          <p:cNvSpPr/>
          <p:nvPr/>
        </p:nvSpPr>
        <p:spPr>
          <a:xfrm>
            <a:off x="649224" y="2276856"/>
            <a:ext cx="3325368" cy="8412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Compare a petrol car against an electric one over the years you plan to own it. See the year the EV becomes cheaper.</a:t>
            </a:r>
            <a:endParaRPr lang="en-US" sz="1050" dirty="0"/>
          </a:p>
        </p:txBody>
      </p:sp>
      <p:sp>
        <p:nvSpPr>
          <p:cNvPr id="7" name="Shape 5"/>
          <p:cNvSpPr/>
          <p:nvPr/>
        </p:nvSpPr>
        <p:spPr>
          <a:xfrm>
            <a:off x="4285488" y="1874520"/>
            <a:ext cx="3617976" cy="1371600"/>
          </a:xfrm>
          <a:prstGeom prst="roundRect">
            <a:avLst>
              <a:gd name="adj" fmla="val 4000"/>
            </a:avLst>
          </a:prstGeom>
          <a:solidFill>
            <a:srgbClr val="F1F6F4"/>
          </a:solidFill>
          <a:ln w="12700">
            <a:solidFill>
              <a:srgbClr val="D8E3E0"/>
            </a:solidFill>
            <a:prstDash val="solid"/>
          </a:ln>
        </p:spPr>
        <p:txBody>
          <a:bodyPr/>
          <a:p/>
        </p:txBody>
      </p:sp>
      <p:sp>
        <p:nvSpPr>
          <p:cNvPr id="8" name="Text 6"/>
          <p:cNvSpPr/>
          <p:nvPr/>
        </p:nvSpPr>
        <p:spPr>
          <a:xfrm>
            <a:off x="4431792" y="2002536"/>
            <a:ext cx="3325368"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If you drive a taxi</a:t>
            </a:r>
            <a:endParaRPr lang="en-US" sz="1100" dirty="0"/>
          </a:p>
        </p:txBody>
      </p:sp>
      <p:sp>
        <p:nvSpPr>
          <p:cNvPr id="9" name="Text 7"/>
          <p:cNvSpPr/>
          <p:nvPr/>
        </p:nvSpPr>
        <p:spPr>
          <a:xfrm>
            <a:off x="4431792" y="2276856"/>
            <a:ext cx="3325368" cy="8412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Work out daily takings after fuel or charging, maintenance and loan payments, for up to twelve vehicles at once.</a:t>
            </a:r>
            <a:endParaRPr lang="en-US" sz="1050" dirty="0"/>
          </a:p>
        </p:txBody>
      </p:sp>
      <p:sp>
        <p:nvSpPr>
          <p:cNvPr id="10" name="Shape 8"/>
          <p:cNvSpPr/>
          <p:nvPr/>
        </p:nvSpPr>
        <p:spPr>
          <a:xfrm>
            <a:off x="8068056" y="1874520"/>
            <a:ext cx="3617976" cy="1371600"/>
          </a:xfrm>
          <a:prstGeom prst="roundRect">
            <a:avLst>
              <a:gd name="adj" fmla="val 4000"/>
            </a:avLst>
          </a:prstGeom>
          <a:solidFill>
            <a:srgbClr val="F1F6F4"/>
          </a:solidFill>
          <a:ln w="12700">
            <a:solidFill>
              <a:srgbClr val="D8E3E0"/>
            </a:solidFill>
            <a:prstDash val="solid"/>
          </a:ln>
        </p:spPr>
        <p:txBody>
          <a:bodyPr/>
          <a:p/>
        </p:txBody>
      </p:sp>
      <p:sp>
        <p:nvSpPr>
          <p:cNvPr id="11" name="Text 9"/>
          <p:cNvSpPr/>
          <p:nvPr/>
        </p:nvSpPr>
        <p:spPr>
          <a:xfrm>
            <a:off x="8214360" y="2002536"/>
            <a:ext cx="3325368" cy="256032"/>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If you work in policy</a:t>
            </a:r>
            <a:endParaRPr lang="en-US" sz="1100" dirty="0"/>
          </a:p>
        </p:txBody>
      </p:sp>
      <p:sp>
        <p:nvSpPr>
          <p:cNvPr id="12" name="Text 10"/>
          <p:cNvSpPr/>
          <p:nvPr/>
        </p:nvSpPr>
        <p:spPr>
          <a:xfrm>
            <a:off x="8214360" y="2276856"/>
            <a:ext cx="3325368" cy="8412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Track national 2030 targets, compare Jamaica with the wider Caribbean, and model fleet-wide emissions.</a:t>
            </a:r>
            <a:endParaRPr lang="en-US" sz="1050" dirty="0"/>
          </a:p>
        </p:txBody>
      </p:sp>
      <p:sp>
        <p:nvSpPr>
          <p:cNvPr id="13" name="Text 11"/>
          <p:cNvSpPr/>
          <p:nvPr/>
        </p:nvSpPr>
        <p:spPr>
          <a:xfrm>
            <a:off x="502920" y="3493008"/>
            <a:ext cx="5486400" cy="320040"/>
          </a:xfrm>
          <a:prstGeom prst="rect">
            <a:avLst/>
          </a:prstGeom>
          <a:noFill/>
          <a:ln/>
        </p:spPr>
        <p:txBody>
          <a:bodyPr wrap="square" lIns="0" tIns="0" rIns="0" bIns="0" rtlCol="0" anchor="ctr"/>
          <a:lstStyle/>
          <a:p>
            <a:pPr indent="0" marL="0">
              <a:buNone/>
            </a:pPr>
            <a:r>
              <a:rPr lang="en-US" sz="1700" b="1" dirty="0">
                <a:solidFill>
                  <a:srgbClr val="0E2A24"/>
                </a:solidFill>
                <a:latin typeface="Cambria" pitchFamily="34" charset="0"/>
                <a:ea typeface="Cambria" pitchFamily="34" charset="-122"/>
                <a:cs typeface="Cambria" pitchFamily="34" charset="-120"/>
              </a:rPr>
              <a:t>How the pages are ordered</a:t>
            </a:r>
            <a:endParaRPr lang="en-US" sz="1700" dirty="0"/>
          </a:p>
        </p:txBody>
      </p:sp>
      <p:sp>
        <p:nvSpPr>
          <p:cNvPr id="14" name="Shape 12"/>
          <p:cNvSpPr/>
          <p:nvPr/>
        </p:nvSpPr>
        <p:spPr>
          <a:xfrm>
            <a:off x="502920" y="3950208"/>
            <a:ext cx="292608" cy="292608"/>
          </a:xfrm>
          <a:prstGeom prst="ellipse">
            <a:avLst/>
          </a:prstGeom>
          <a:solidFill>
            <a:srgbClr val="1A9E75"/>
          </a:solidFill>
          <a:ln w="12700">
            <a:solidFill>
              <a:srgbClr val="1A9E75"/>
            </a:solidFill>
            <a:prstDash val="solid"/>
          </a:ln>
        </p:spPr>
        <p:txBody>
          <a:bodyPr/>
          <a:p/>
        </p:txBody>
      </p:sp>
      <p:sp>
        <p:nvSpPr>
          <p:cNvPr id="15" name="Text 13"/>
          <p:cNvSpPr/>
          <p:nvPr/>
        </p:nvSpPr>
        <p:spPr>
          <a:xfrm>
            <a:off x="502920" y="395020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p:nvPr/>
        </p:nvSpPr>
        <p:spPr>
          <a:xfrm>
            <a:off x="905256" y="3913632"/>
            <a:ext cx="5120640" cy="365760"/>
          </a:xfrm>
          <a:prstGeom prst="rect">
            <a:avLst/>
          </a:prstGeom>
          <a:noFill/>
          <a:ln/>
        </p:spPr>
        <p:txBody>
          <a:bodyPr wrap="square" lIns="0" tIns="0" rIns="0" bIns="0" rtlCol="0" anchor="ctr"/>
          <a:lstStyle/>
          <a:p>
            <a:pPr indent="0" marL="0">
              <a:buNone/>
            </a:pPr>
            <a:r>
              <a:rPr lang="en-US" sz="1150" b="1" dirty="0">
                <a:solidFill>
                  <a:srgbClr val="0E2A24"/>
                </a:solidFill>
                <a:latin typeface="Calibri" pitchFamily="34" charset="0"/>
                <a:ea typeface="Calibri" pitchFamily="34" charset="-122"/>
                <a:cs typeface="Calibri" pitchFamily="34" charset="-120"/>
              </a:rPr>
              <a:t>Fiscal Policy &amp; Duty Tracker   </a:t>
            </a:r>
            <a:pPr indent="0" marL="0">
              <a:buNone/>
            </a:pPr>
            <a:r>
              <a:rPr lang="en-US" sz="1150" dirty="0">
                <a:solidFill>
                  <a:srgbClr val="6B7A77"/>
                </a:solidFill>
                <a:latin typeface="Calibri" pitchFamily="34" charset="0"/>
                <a:ea typeface="Calibri" pitchFamily="34" charset="-122"/>
                <a:cs typeface="Calibri" pitchFamily="34" charset="-120"/>
              </a:rPr>
              <a:t>Where national policy stands</a:t>
            </a:r>
            <a:endParaRPr lang="en-US" sz="1150" dirty="0"/>
          </a:p>
        </p:txBody>
      </p:sp>
      <p:sp>
        <p:nvSpPr>
          <p:cNvPr id="17" name="Shape 15"/>
          <p:cNvSpPr/>
          <p:nvPr/>
        </p:nvSpPr>
        <p:spPr>
          <a:xfrm>
            <a:off x="6172200" y="3950208"/>
            <a:ext cx="292608" cy="292608"/>
          </a:xfrm>
          <a:prstGeom prst="ellipse">
            <a:avLst/>
          </a:prstGeom>
          <a:solidFill>
            <a:srgbClr val="1A9E75"/>
          </a:solidFill>
          <a:ln w="12700">
            <a:solidFill>
              <a:srgbClr val="1A9E75"/>
            </a:solidFill>
            <a:prstDash val="solid"/>
          </a:ln>
        </p:spPr>
        <p:txBody>
          <a:bodyPr/>
          <a:p/>
        </p:txBody>
      </p:sp>
      <p:sp>
        <p:nvSpPr>
          <p:cNvPr id="18" name="Text 16"/>
          <p:cNvSpPr/>
          <p:nvPr/>
        </p:nvSpPr>
        <p:spPr>
          <a:xfrm>
            <a:off x="6172200" y="395020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9" name="Text 17"/>
          <p:cNvSpPr/>
          <p:nvPr/>
        </p:nvSpPr>
        <p:spPr>
          <a:xfrm>
            <a:off x="6574536" y="3913632"/>
            <a:ext cx="5120640" cy="365760"/>
          </a:xfrm>
          <a:prstGeom prst="rect">
            <a:avLst/>
          </a:prstGeom>
          <a:noFill/>
          <a:ln/>
        </p:spPr>
        <p:txBody>
          <a:bodyPr wrap="square" lIns="0" tIns="0" rIns="0" bIns="0" rtlCol="0" anchor="ctr"/>
          <a:lstStyle/>
          <a:p>
            <a:pPr indent="0" marL="0">
              <a:buNone/>
            </a:pPr>
            <a:r>
              <a:rPr lang="en-US" sz="1150" b="1" dirty="0">
                <a:solidFill>
                  <a:srgbClr val="0E2A24"/>
                </a:solidFill>
                <a:latin typeface="Calibri" pitchFamily="34" charset="0"/>
                <a:ea typeface="Calibri" pitchFamily="34" charset="-122"/>
                <a:cs typeface="Calibri" pitchFamily="34" charset="-120"/>
              </a:rPr>
              <a:t>Caribbean Regional Comparison   </a:t>
            </a:r>
            <a:pPr indent="0" marL="0">
              <a:buNone/>
            </a:pPr>
            <a:r>
              <a:rPr lang="en-US" sz="1150" dirty="0">
                <a:solidFill>
                  <a:srgbClr val="6B7A77"/>
                </a:solidFill>
                <a:latin typeface="Calibri" pitchFamily="34" charset="0"/>
                <a:ea typeface="Calibri" pitchFamily="34" charset="-122"/>
                <a:cs typeface="Calibri" pitchFamily="34" charset="-120"/>
              </a:rPr>
              <a:t>How Jamaica compares to its neighbours</a:t>
            </a:r>
            <a:endParaRPr lang="en-US" sz="1150" dirty="0"/>
          </a:p>
        </p:txBody>
      </p:sp>
      <p:sp>
        <p:nvSpPr>
          <p:cNvPr id="20" name="Shape 18"/>
          <p:cNvSpPr/>
          <p:nvPr/>
        </p:nvSpPr>
        <p:spPr>
          <a:xfrm>
            <a:off x="502920" y="4517136"/>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51713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2" name="Text 20"/>
          <p:cNvSpPr/>
          <p:nvPr/>
        </p:nvSpPr>
        <p:spPr>
          <a:xfrm>
            <a:off x="905256" y="4480560"/>
            <a:ext cx="5120640" cy="365760"/>
          </a:xfrm>
          <a:prstGeom prst="rect">
            <a:avLst/>
          </a:prstGeom>
          <a:noFill/>
          <a:ln/>
        </p:spPr>
        <p:txBody>
          <a:bodyPr wrap="square" lIns="0" tIns="0" rIns="0" bIns="0" rtlCol="0" anchor="ctr"/>
          <a:lstStyle/>
          <a:p>
            <a:pPr indent="0" marL="0">
              <a:buNone/>
            </a:pPr>
            <a:r>
              <a:rPr lang="en-US" sz="1150" b="1" dirty="0">
                <a:solidFill>
                  <a:srgbClr val="0E2A24"/>
                </a:solidFill>
                <a:latin typeface="Calibri" pitchFamily="34" charset="0"/>
                <a:ea typeface="Calibri" pitchFamily="34" charset="-122"/>
                <a:cs typeface="Calibri" pitchFamily="34" charset="-120"/>
              </a:rPr>
              <a:t>EV vs. ICE Calculator   </a:t>
            </a:r>
            <a:pPr indent="0" marL="0">
              <a:buNone/>
            </a:pPr>
            <a:r>
              <a:rPr lang="en-US" sz="1150" dirty="0">
                <a:solidFill>
                  <a:srgbClr val="6B7A77"/>
                </a:solidFill>
                <a:latin typeface="Calibri" pitchFamily="34" charset="0"/>
                <a:ea typeface="Calibri" pitchFamily="34" charset="-122"/>
                <a:cs typeface="Calibri" pitchFamily="34" charset="-120"/>
              </a:rPr>
              <a:t>Cost for a private buyer</a:t>
            </a:r>
            <a:endParaRPr lang="en-US" sz="1150" dirty="0"/>
          </a:p>
        </p:txBody>
      </p:sp>
      <p:sp>
        <p:nvSpPr>
          <p:cNvPr id="23" name="Shape 21"/>
          <p:cNvSpPr/>
          <p:nvPr/>
        </p:nvSpPr>
        <p:spPr>
          <a:xfrm>
            <a:off x="6172200" y="4517136"/>
            <a:ext cx="292608" cy="292608"/>
          </a:xfrm>
          <a:prstGeom prst="ellipse">
            <a:avLst/>
          </a:prstGeom>
          <a:solidFill>
            <a:srgbClr val="1A7A6E"/>
          </a:solidFill>
          <a:ln w="12700">
            <a:solidFill>
              <a:srgbClr val="1A7A6E"/>
            </a:solidFill>
            <a:prstDash val="solid"/>
          </a:ln>
        </p:spPr>
        <p:txBody>
          <a:bodyPr/>
          <a:p/>
        </p:txBody>
      </p:sp>
      <p:sp>
        <p:nvSpPr>
          <p:cNvPr id="24" name="Text 22"/>
          <p:cNvSpPr/>
          <p:nvPr/>
        </p:nvSpPr>
        <p:spPr>
          <a:xfrm>
            <a:off x="6172200" y="451713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5" name="Text 23"/>
          <p:cNvSpPr/>
          <p:nvPr/>
        </p:nvSpPr>
        <p:spPr>
          <a:xfrm>
            <a:off x="6574536" y="4480560"/>
            <a:ext cx="5120640" cy="365760"/>
          </a:xfrm>
          <a:prstGeom prst="rect">
            <a:avLst/>
          </a:prstGeom>
          <a:noFill/>
          <a:ln/>
        </p:spPr>
        <p:txBody>
          <a:bodyPr wrap="square" lIns="0" tIns="0" rIns="0" bIns="0" rtlCol="0" anchor="ctr"/>
          <a:lstStyle/>
          <a:p>
            <a:pPr indent="0" marL="0">
              <a:buNone/>
            </a:pPr>
            <a:r>
              <a:rPr lang="en-US" sz="1150" b="1" dirty="0">
                <a:solidFill>
                  <a:srgbClr val="0E2A24"/>
                </a:solidFill>
                <a:latin typeface="Calibri" pitchFamily="34" charset="0"/>
                <a:ea typeface="Calibri" pitchFamily="34" charset="-122"/>
                <a:cs typeface="Calibri" pitchFamily="34" charset="-120"/>
              </a:rPr>
              <a:t>Taxi Feasibility Tool   </a:t>
            </a:r>
            <a:pPr indent="0" marL="0">
              <a:buNone/>
            </a:pPr>
            <a:r>
              <a:rPr lang="en-US" sz="1150" dirty="0">
                <a:solidFill>
                  <a:srgbClr val="6B7A77"/>
                </a:solidFill>
                <a:latin typeface="Calibri" pitchFamily="34" charset="0"/>
                <a:ea typeface="Calibri" pitchFamily="34" charset="-122"/>
                <a:cs typeface="Calibri" pitchFamily="34" charset="-120"/>
              </a:rPr>
              <a:t>Income for a taxi operator</a:t>
            </a:r>
            <a:endParaRPr lang="en-US" sz="1150" dirty="0"/>
          </a:p>
        </p:txBody>
      </p:sp>
      <p:sp>
        <p:nvSpPr>
          <p:cNvPr id="26" name="Shape 24"/>
          <p:cNvSpPr/>
          <p:nvPr/>
        </p:nvSpPr>
        <p:spPr>
          <a:xfrm>
            <a:off x="502920" y="5084064"/>
            <a:ext cx="292608" cy="292608"/>
          </a:xfrm>
          <a:prstGeom prst="ellipse">
            <a:avLst/>
          </a:prstGeom>
          <a:solidFill>
            <a:srgbClr val="6B7A77"/>
          </a:solidFill>
          <a:ln w="12700">
            <a:solidFill>
              <a:srgbClr val="6B7A77"/>
            </a:solidFill>
            <a:prstDash val="solid"/>
          </a:ln>
        </p:spPr>
        <p:txBody>
          <a:bodyPr/>
          <a:p/>
        </p:txBody>
      </p:sp>
      <p:sp>
        <p:nvSpPr>
          <p:cNvPr id="27" name="Text 25"/>
          <p:cNvSpPr/>
          <p:nvPr/>
        </p:nvSpPr>
        <p:spPr>
          <a:xfrm>
            <a:off x="502920" y="50840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8" name="Text 26"/>
          <p:cNvSpPr/>
          <p:nvPr/>
        </p:nvSpPr>
        <p:spPr>
          <a:xfrm>
            <a:off x="905256" y="5047488"/>
            <a:ext cx="5120640" cy="365760"/>
          </a:xfrm>
          <a:prstGeom prst="rect">
            <a:avLst/>
          </a:prstGeom>
          <a:noFill/>
          <a:ln/>
        </p:spPr>
        <p:txBody>
          <a:bodyPr wrap="square" lIns="0" tIns="0" rIns="0" bIns="0" rtlCol="0" anchor="ctr"/>
          <a:lstStyle/>
          <a:p>
            <a:pPr indent="0" marL="0">
              <a:buNone/>
            </a:pPr>
            <a:r>
              <a:rPr lang="en-US" sz="1150" b="1" dirty="0">
                <a:solidFill>
                  <a:srgbClr val="0E2A24"/>
                </a:solidFill>
                <a:latin typeface="Calibri" pitchFamily="34" charset="0"/>
                <a:ea typeface="Calibri" pitchFamily="34" charset="-122"/>
                <a:cs typeface="Calibri" pitchFamily="34" charset="-120"/>
              </a:rPr>
              <a:t>Fleet Penetration Simulator   </a:t>
            </a:r>
            <a:pPr indent="0" marL="0">
              <a:buNone/>
            </a:pPr>
            <a:r>
              <a:rPr lang="en-US" sz="1150" dirty="0">
                <a:solidFill>
                  <a:srgbClr val="6B7A77"/>
                </a:solidFill>
                <a:latin typeface="Calibri" pitchFamily="34" charset="0"/>
                <a:ea typeface="Calibri" pitchFamily="34" charset="-122"/>
                <a:cs typeface="Calibri" pitchFamily="34" charset="-120"/>
              </a:rPr>
              <a:t>National fleet projections</a:t>
            </a:r>
            <a:endParaRPr lang="en-US" sz="1150" dirty="0"/>
          </a:p>
        </p:txBody>
      </p:sp>
      <p:sp>
        <p:nvSpPr>
          <p:cNvPr id="29" name="Shape 27"/>
          <p:cNvSpPr/>
          <p:nvPr/>
        </p:nvSpPr>
        <p:spPr>
          <a:xfrm>
            <a:off x="6172200" y="5084064"/>
            <a:ext cx="292608" cy="292608"/>
          </a:xfrm>
          <a:prstGeom prst="ellipse">
            <a:avLst/>
          </a:prstGeom>
          <a:solidFill>
            <a:srgbClr val="1F3864"/>
          </a:solidFill>
          <a:ln w="12700">
            <a:solidFill>
              <a:srgbClr val="1F3864"/>
            </a:solidFill>
            <a:prstDash val="solid"/>
          </a:ln>
        </p:spPr>
        <p:txBody>
          <a:bodyPr/>
          <a:p/>
        </p:txBody>
      </p:sp>
      <p:sp>
        <p:nvSpPr>
          <p:cNvPr id="30" name="Text 28"/>
          <p:cNvSpPr/>
          <p:nvPr/>
        </p:nvSpPr>
        <p:spPr>
          <a:xfrm>
            <a:off x="6172200" y="508406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31" name="Text 29"/>
          <p:cNvSpPr/>
          <p:nvPr/>
        </p:nvSpPr>
        <p:spPr>
          <a:xfrm>
            <a:off x="6574536" y="5047488"/>
            <a:ext cx="5120640" cy="365760"/>
          </a:xfrm>
          <a:prstGeom prst="rect">
            <a:avLst/>
          </a:prstGeom>
          <a:noFill/>
          <a:ln/>
        </p:spPr>
        <p:txBody>
          <a:bodyPr wrap="square" lIns="0" tIns="0" rIns="0" bIns="0" rtlCol="0" anchor="ctr"/>
          <a:lstStyle/>
          <a:p>
            <a:pPr indent="0" marL="0">
              <a:buNone/>
            </a:pPr>
            <a:r>
              <a:rPr lang="en-US" sz="1150" b="1" dirty="0">
                <a:solidFill>
                  <a:srgbClr val="0E2A24"/>
                </a:solidFill>
                <a:latin typeface="Calibri" pitchFamily="34" charset="0"/>
                <a:ea typeface="Calibri" pitchFamily="34" charset="-122"/>
                <a:cs typeface="Calibri" pitchFamily="34" charset="-120"/>
              </a:rPr>
              <a:t>Emissions Impact Calculator   </a:t>
            </a:r>
            <a:pPr indent="0" marL="0">
              <a:buNone/>
            </a:pPr>
            <a:r>
              <a:rPr lang="en-US" sz="1150" dirty="0">
                <a:solidFill>
                  <a:srgbClr val="6B7A77"/>
                </a:solidFill>
                <a:latin typeface="Calibri" pitchFamily="34" charset="0"/>
                <a:ea typeface="Calibri" pitchFamily="34" charset="-122"/>
                <a:cs typeface="Calibri" pitchFamily="34" charset="-120"/>
              </a:rPr>
              <a:t>CO2 for one vehicle</a:t>
            </a:r>
            <a:endParaRPr lang="en-US" sz="1150" dirty="0"/>
          </a:p>
        </p:txBody>
      </p:sp>
      <p:sp>
        <p:nvSpPr>
          <p:cNvPr id="32" name="Shape 30"/>
          <p:cNvSpPr/>
          <p:nvPr/>
        </p:nvSpPr>
        <p:spPr>
          <a:xfrm>
            <a:off x="502920" y="5650992"/>
            <a:ext cx="292608" cy="292608"/>
          </a:xfrm>
          <a:prstGeom prst="ellipse">
            <a:avLst/>
          </a:prstGeom>
          <a:solidFill>
            <a:srgbClr val="1F3864"/>
          </a:solidFill>
          <a:ln w="12700">
            <a:solidFill>
              <a:srgbClr val="1F3864"/>
            </a:solidFill>
            <a:prstDash val="solid"/>
          </a:ln>
        </p:spPr>
        <p:txBody>
          <a:bodyPr/>
          <a:p/>
        </p:txBody>
      </p:sp>
      <p:sp>
        <p:nvSpPr>
          <p:cNvPr id="33" name="Text 31"/>
          <p:cNvSpPr/>
          <p:nvPr/>
        </p:nvSpPr>
        <p:spPr>
          <a:xfrm>
            <a:off x="502920" y="565099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7</a:t>
            </a:r>
            <a:endParaRPr lang="en-US" sz="1150" dirty="0"/>
          </a:p>
        </p:txBody>
      </p:sp>
      <p:sp>
        <p:nvSpPr>
          <p:cNvPr id="34" name="Text 32"/>
          <p:cNvSpPr/>
          <p:nvPr/>
        </p:nvSpPr>
        <p:spPr>
          <a:xfrm>
            <a:off x="905256" y="5614416"/>
            <a:ext cx="5120640" cy="365760"/>
          </a:xfrm>
          <a:prstGeom prst="rect">
            <a:avLst/>
          </a:prstGeom>
          <a:noFill/>
          <a:ln/>
        </p:spPr>
        <p:txBody>
          <a:bodyPr wrap="square" lIns="0" tIns="0" rIns="0" bIns="0" rtlCol="0" anchor="ctr"/>
          <a:lstStyle/>
          <a:p>
            <a:pPr indent="0" marL="0">
              <a:buNone/>
            </a:pPr>
            <a:r>
              <a:rPr lang="en-US" sz="1150" b="1" dirty="0">
                <a:solidFill>
                  <a:srgbClr val="0E2A24"/>
                </a:solidFill>
                <a:latin typeface="Calibri" pitchFamily="34" charset="0"/>
                <a:ea typeface="Calibri" pitchFamily="34" charset="-122"/>
                <a:cs typeface="Calibri" pitchFamily="34" charset="-120"/>
              </a:rPr>
              <a:t>Gas &amp; Energy Price Tracker   </a:t>
            </a:r>
            <a:pPr indent="0" marL="0">
              <a:buNone/>
            </a:pPr>
            <a:r>
              <a:rPr lang="en-US" sz="1150" dirty="0">
                <a:solidFill>
                  <a:srgbClr val="6B7A77"/>
                </a:solidFill>
                <a:latin typeface="Calibri" pitchFamily="34" charset="0"/>
                <a:ea typeface="Calibri" pitchFamily="34" charset="-122"/>
                <a:cs typeface="Calibri" pitchFamily="34" charset="-120"/>
              </a:rPr>
              <a:t>Historic fuel prices</a:t>
            </a:r>
            <a:endParaRPr lang="en-US" sz="1150" dirty="0"/>
          </a:p>
        </p:txBody>
      </p:sp>
      <p:sp>
        <p:nvSpPr>
          <p:cNvPr id="38" name="Text 36"/>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Overview</a:t>
            </a:r>
            <a:endParaRPr lang="en-US" sz="900" dirty="0"/>
          </a:p>
        </p:txBody>
      </p:sp>
      <p:sp>
        <p:nvSpPr>
          <p:cNvPr id="39" name="Text 37"/>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GETTING STARTED</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Opening the dashboard</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a command prompt</a:t>
            </a:r>
            <a:endParaRPr lang="en-US" sz="1300" dirty="0"/>
          </a:p>
        </p:txBody>
      </p:sp>
      <p:sp>
        <p:nvSpPr>
          <p:cNvPr id="7" name="Text 5"/>
          <p:cNvSpPr/>
          <p:nvPr/>
        </p:nvSpPr>
        <p:spPr>
          <a:xfrm>
            <a:off x="932688" y="1572768"/>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On Windows press the Start key, type cmd and press Enter.</a:t>
            </a:r>
            <a:endParaRPr lang="en-US" sz="1150" dirty="0"/>
          </a:p>
        </p:txBody>
      </p:sp>
      <p:sp>
        <p:nvSpPr>
          <p:cNvPr id="8" name="Shape 6"/>
          <p:cNvSpPr/>
          <p:nvPr/>
        </p:nvSpPr>
        <p:spPr>
          <a:xfrm>
            <a:off x="502920" y="1979676"/>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197967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195224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Switch on the project environment</a:t>
            </a:r>
            <a:endParaRPr lang="en-US" sz="1300" dirty="0"/>
          </a:p>
        </p:txBody>
      </p:sp>
      <p:sp>
        <p:nvSpPr>
          <p:cNvPr id="11" name="Text 9"/>
          <p:cNvSpPr/>
          <p:nvPr/>
        </p:nvSpPr>
        <p:spPr>
          <a:xfrm>
            <a:off x="932688" y="2180844"/>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Type:  conda activate EVlab   then press Enter.</a:t>
            </a:r>
            <a:endParaRPr lang="en-US" sz="1150" dirty="0"/>
          </a:p>
        </p:txBody>
      </p:sp>
      <p:sp>
        <p:nvSpPr>
          <p:cNvPr id="12" name="Shape 10"/>
          <p:cNvSpPr/>
          <p:nvPr/>
        </p:nvSpPr>
        <p:spPr>
          <a:xfrm>
            <a:off x="502920" y="2587752"/>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258775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256032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Go to the project folder</a:t>
            </a:r>
            <a:endParaRPr lang="en-US" sz="1300" dirty="0"/>
          </a:p>
        </p:txBody>
      </p:sp>
      <p:sp>
        <p:nvSpPr>
          <p:cNvPr id="15" name="Text 13"/>
          <p:cNvSpPr/>
          <p:nvPr/>
        </p:nvSpPr>
        <p:spPr>
          <a:xfrm>
            <a:off x="932688" y="278892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Type:  cd "C:\Users\Andrew Smart\ev-lab-repo"   then press Enter.</a:t>
            </a:r>
            <a:endParaRPr lang="en-US" sz="1150" dirty="0"/>
          </a:p>
        </p:txBody>
      </p:sp>
      <p:sp>
        <p:nvSpPr>
          <p:cNvPr id="16" name="Shape 14"/>
          <p:cNvSpPr/>
          <p:nvPr/>
        </p:nvSpPr>
        <p:spPr>
          <a:xfrm>
            <a:off x="502920" y="3364992"/>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336499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333756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Start it</a:t>
            </a:r>
            <a:endParaRPr lang="en-US" sz="1300" dirty="0"/>
          </a:p>
        </p:txBody>
      </p:sp>
      <p:sp>
        <p:nvSpPr>
          <p:cNvPr id="19" name="Text 17"/>
          <p:cNvSpPr/>
          <p:nvPr/>
        </p:nvSpPr>
        <p:spPr>
          <a:xfrm>
            <a:off x="932688" y="356616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Type:  python dashboard/app.py   then press Enter. Leave this window open.</a:t>
            </a:r>
            <a:endParaRPr lang="en-US" sz="1150" dirty="0"/>
          </a:p>
        </p:txBody>
      </p:sp>
      <p:sp>
        <p:nvSpPr>
          <p:cNvPr id="20" name="Shape 18"/>
          <p:cNvSpPr/>
          <p:nvPr/>
        </p:nvSpPr>
        <p:spPr>
          <a:xfrm>
            <a:off x="502920" y="4142232"/>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1422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11480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it in your browser</a:t>
            </a:r>
            <a:endParaRPr lang="en-US" sz="1300" dirty="0"/>
          </a:p>
        </p:txBody>
      </p:sp>
      <p:sp>
        <p:nvSpPr>
          <p:cNvPr id="23" name="Text 21"/>
          <p:cNvSpPr/>
          <p:nvPr/>
        </p:nvSpPr>
        <p:spPr>
          <a:xfrm>
            <a:off x="932688" y="4343400"/>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Go to  http://127.0.0.1:8050  in Chrome or Edge.</a:t>
            </a:r>
            <a:endParaRPr lang="en-US" sz="1150" dirty="0"/>
          </a:p>
        </p:txBody>
      </p:sp>
      <p:sp>
        <p:nvSpPr>
          <p:cNvPr id="24" name="Shape 22"/>
          <p:cNvSpPr/>
          <p:nvPr/>
        </p:nvSpPr>
        <p:spPr>
          <a:xfrm>
            <a:off x="6355080" y="1371600"/>
            <a:ext cx="5330952" cy="3794760"/>
          </a:xfrm>
          <a:prstGeom prst="roundRect">
            <a:avLst>
              <a:gd name="adj" fmla="val 1446"/>
            </a:avLst>
          </a:prstGeom>
          <a:solidFill>
            <a:srgbClr val="FBFDFC"/>
          </a:solidFill>
          <a:ln w="19050">
            <a:solidFill>
              <a:srgbClr val="1A9E75"/>
            </a:solidFill>
            <a:prstDash val="dash"/>
          </a:ln>
        </p:spPr>
        <p:txBody>
          <a:bodyPr/>
          <a:p/>
        </p:txBody>
      </p:sp>
      <p:sp>
        <p:nvSpPr>
          <p:cNvPr id="25" name="Shape 23"/>
          <p:cNvSpPr/>
          <p:nvPr/>
        </p:nvSpPr>
        <p:spPr>
          <a:xfrm>
            <a:off x="655624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6" name="Text 24"/>
          <p:cNvSpPr/>
          <p:nvPr/>
        </p:nvSpPr>
        <p:spPr>
          <a:xfrm>
            <a:off x="655624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7" name="Text 25"/>
          <p:cNvSpPr/>
          <p:nvPr/>
        </p:nvSpPr>
        <p:spPr>
          <a:xfrm>
            <a:off x="6556248" y="193852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command prompt after the dashboard has started</a:t>
            </a:r>
            <a:endParaRPr lang="en-US" sz="1250" dirty="0"/>
          </a:p>
        </p:txBody>
      </p:sp>
      <p:sp>
        <p:nvSpPr>
          <p:cNvPr id="28" name="Text 26"/>
          <p:cNvSpPr/>
          <p:nvPr/>
        </p:nvSpPr>
        <p:spPr>
          <a:xfrm>
            <a:off x="6556248" y="256032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9" name="Text 27"/>
          <p:cNvSpPr/>
          <p:nvPr/>
        </p:nvSpPr>
        <p:spPr>
          <a:xfrm>
            <a:off x="6629400" y="2798064"/>
            <a:ext cx="4782312" cy="2194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line reading 'Dash is running on http://127.0.0.1:8050'</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web address to type into the browser</a:t>
            </a:r>
            <a:endParaRPr lang="en-US" sz="1050" dirty="0"/>
          </a:p>
        </p:txBody>
      </p:sp>
      <p:sp>
        <p:nvSpPr>
          <p:cNvPr id="30" name="Shape 28"/>
          <p:cNvSpPr/>
          <p:nvPr/>
        </p:nvSpPr>
        <p:spPr>
          <a:xfrm>
            <a:off x="502920" y="5440680"/>
            <a:ext cx="11183112" cy="658368"/>
          </a:xfrm>
          <a:prstGeom prst="roundRect">
            <a:avLst>
              <a:gd name="adj" fmla="val 8333"/>
            </a:avLst>
          </a:prstGeom>
          <a:solidFill>
            <a:srgbClr val="F1F6F4"/>
          </a:solidFill>
          <a:ln w="12700">
            <a:solidFill>
              <a:srgbClr val="D8E3E0"/>
            </a:solidFill>
            <a:prstDash val="solid"/>
          </a:ln>
        </p:spPr>
        <p:txBody>
          <a:bodyPr/>
          <a:p/>
        </p:txBody>
      </p:sp>
      <p:sp>
        <p:nvSpPr>
          <p:cNvPr id="31" name="Shape 29"/>
          <p:cNvSpPr/>
          <p:nvPr/>
        </p:nvSpPr>
        <p:spPr>
          <a:xfrm>
            <a:off x="685800" y="5614416"/>
            <a:ext cx="310896" cy="310896"/>
          </a:xfrm>
          <a:prstGeom prst="ellipse">
            <a:avLst/>
          </a:prstGeom>
          <a:solidFill>
            <a:srgbClr val="1F3864"/>
          </a:solidFill>
          <a:ln w="12700">
            <a:solidFill>
              <a:srgbClr val="1F3864"/>
            </a:solidFill>
            <a:prstDash val="solid"/>
          </a:ln>
        </p:spPr>
        <p:txBody>
          <a:bodyPr/>
          <a:p/>
        </p:txBody>
      </p:sp>
      <p:sp>
        <p:nvSpPr>
          <p:cNvPr id="32" name="Text 30"/>
          <p:cNvSpPr/>
          <p:nvPr/>
        </p:nvSpPr>
        <p:spPr>
          <a:xfrm>
            <a:off x="685800" y="561441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33" name="Text 31"/>
          <p:cNvSpPr/>
          <p:nvPr/>
        </p:nvSpPr>
        <p:spPr>
          <a:xfrm>
            <a:off x="1133856" y="5550408"/>
            <a:ext cx="10424160" cy="457200"/>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To stop it:  </a:t>
            </a:r>
            <a:pPr indent="0" marL="0">
              <a:buNone/>
            </a:pPr>
            <a:r>
              <a:rPr lang="en-US" sz="1100" dirty="0">
                <a:solidFill>
                  <a:srgbClr val="6B7A77"/>
                </a:solidFill>
                <a:latin typeface="Calibri" pitchFamily="34" charset="0"/>
                <a:ea typeface="Calibri" pitchFamily="34" charset="-122"/>
                <a:cs typeface="Calibri" pitchFamily="34" charset="-120"/>
              </a:rPr>
              <a:t>click the command prompt window and press Ctrl + C. Closing the browser alone does not stop it.</a:t>
            </a:r>
            <a:endParaRPr lang="en-US" sz="1100" dirty="0"/>
          </a:p>
        </p:txBody>
      </p:sp>
      <p:sp>
        <p:nvSpPr>
          <p:cNvPr id="34" name="Text 32"/>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Getting started</a:t>
            </a:r>
            <a:endParaRPr lang="en-US" sz="900" dirty="0"/>
          </a:p>
        </p:txBody>
      </p:sp>
      <p:sp>
        <p:nvSpPr>
          <p:cNvPr id="35" name="Text 33"/>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GETTING STARTED</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Finding your way around the screen</a:t>
            </a:r>
            <a:endParaRPr lang="en-US" sz="3200" dirty="0"/>
          </a:p>
        </p:txBody>
      </p:sp>
      <p:sp>
        <p:nvSpPr>
          <p:cNvPr id="4" name="Text 2"/>
          <p:cNvSpPr/>
          <p:nvPr/>
        </p:nvSpPr>
        <p:spPr>
          <a:xfrm>
            <a:off x="502920" y="1207008"/>
            <a:ext cx="11155680" cy="32004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Every page shares the same three areas. Once you know these, all seven modules work the same way.</a:t>
            </a:r>
            <a:endParaRPr lang="en-US" sz="1300" dirty="0"/>
          </a:p>
        </p:txBody>
      </p:sp>
      <p:sp>
        <p:nvSpPr>
          <p:cNvPr id="5" name="Shape 3"/>
          <p:cNvSpPr/>
          <p:nvPr/>
        </p:nvSpPr>
        <p:spPr>
          <a:xfrm>
            <a:off x="502920" y="1664208"/>
            <a:ext cx="3617976" cy="1234440"/>
          </a:xfrm>
          <a:prstGeom prst="roundRect">
            <a:avLst>
              <a:gd name="adj" fmla="val 4444"/>
            </a:avLst>
          </a:prstGeom>
          <a:solidFill>
            <a:srgbClr val="F1F6F4"/>
          </a:solidFill>
          <a:ln w="12700">
            <a:solidFill>
              <a:srgbClr val="D8E3E0"/>
            </a:solidFill>
            <a:prstDash val="solid"/>
          </a:ln>
        </p:spPr>
        <p:txBody>
          <a:bodyPr/>
          <a:p/>
        </p:txBody>
      </p:sp>
      <p:sp>
        <p:nvSpPr>
          <p:cNvPr id="6" name="Text 4"/>
          <p:cNvSpPr/>
          <p:nvPr/>
        </p:nvSpPr>
        <p:spPr>
          <a:xfrm>
            <a:off x="649224" y="1792224"/>
            <a:ext cx="3325368" cy="256032"/>
          </a:xfrm>
          <a:prstGeom prst="rect">
            <a:avLst/>
          </a:prstGeom>
          <a:noFill/>
          <a:ln/>
        </p:spPr>
        <p:txBody>
          <a:bodyPr wrap="square" lIns="0" tIns="0" rIns="0" bIns="0" rtlCol="0" anchor="ctr"/>
          <a:lstStyle/>
          <a:p>
            <a:pPr indent="0" marL="0">
              <a:buNone/>
            </a:pPr>
            <a:r>
              <a:rPr lang="en-US" sz="1100" b="1" dirty="0">
                <a:solidFill>
                  <a:srgbClr val="1A7A6E"/>
                </a:solidFill>
                <a:latin typeface="Calibri" pitchFamily="34" charset="0"/>
                <a:ea typeface="Calibri" pitchFamily="34" charset="-122"/>
                <a:cs typeface="Calibri" pitchFamily="34" charset="-120"/>
              </a:rPr>
              <a:t>Left sidebar</a:t>
            </a:r>
            <a:endParaRPr lang="en-US" sz="1100" dirty="0"/>
          </a:p>
        </p:txBody>
      </p:sp>
      <p:sp>
        <p:nvSpPr>
          <p:cNvPr id="7" name="Text 5"/>
          <p:cNvSpPr/>
          <p:nvPr/>
        </p:nvSpPr>
        <p:spPr>
          <a:xfrm>
            <a:off x="649224" y="2066544"/>
            <a:ext cx="3325368" cy="70408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The numbered list of pages. Click any name to switch. The page you are on is highlighted.</a:t>
            </a:r>
            <a:endParaRPr lang="en-US" sz="1050" dirty="0"/>
          </a:p>
        </p:txBody>
      </p:sp>
      <p:sp>
        <p:nvSpPr>
          <p:cNvPr id="8" name="Shape 6"/>
          <p:cNvSpPr/>
          <p:nvPr/>
        </p:nvSpPr>
        <p:spPr>
          <a:xfrm>
            <a:off x="4285488" y="1664208"/>
            <a:ext cx="3617976" cy="1234440"/>
          </a:xfrm>
          <a:prstGeom prst="roundRect">
            <a:avLst>
              <a:gd name="adj" fmla="val 4444"/>
            </a:avLst>
          </a:prstGeom>
          <a:solidFill>
            <a:srgbClr val="F1F6F4"/>
          </a:solidFill>
          <a:ln w="12700">
            <a:solidFill>
              <a:srgbClr val="D8E3E0"/>
            </a:solidFill>
            <a:prstDash val="solid"/>
          </a:ln>
        </p:spPr>
        <p:txBody>
          <a:bodyPr/>
          <a:p/>
        </p:txBody>
      </p:sp>
      <p:sp>
        <p:nvSpPr>
          <p:cNvPr id="9" name="Text 7"/>
          <p:cNvSpPr/>
          <p:nvPr/>
        </p:nvSpPr>
        <p:spPr>
          <a:xfrm>
            <a:off x="4431792" y="1792224"/>
            <a:ext cx="3325368"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Top of the page</a:t>
            </a:r>
            <a:endParaRPr lang="en-US" sz="1100" dirty="0"/>
          </a:p>
        </p:txBody>
      </p:sp>
      <p:sp>
        <p:nvSpPr>
          <p:cNvPr id="10" name="Text 8"/>
          <p:cNvSpPr/>
          <p:nvPr/>
        </p:nvSpPr>
        <p:spPr>
          <a:xfrm>
            <a:off x="4431792" y="2066544"/>
            <a:ext cx="3325368" cy="70408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The page title, and the collapsible Global settings panel that feeds several modules.</a:t>
            </a:r>
            <a:endParaRPr lang="en-US" sz="1050" dirty="0"/>
          </a:p>
        </p:txBody>
      </p:sp>
      <p:sp>
        <p:nvSpPr>
          <p:cNvPr id="11" name="Shape 9"/>
          <p:cNvSpPr/>
          <p:nvPr/>
        </p:nvSpPr>
        <p:spPr>
          <a:xfrm>
            <a:off x="8068056" y="1664208"/>
            <a:ext cx="3617976" cy="1234440"/>
          </a:xfrm>
          <a:prstGeom prst="roundRect">
            <a:avLst>
              <a:gd name="adj" fmla="val 4444"/>
            </a:avLst>
          </a:prstGeom>
          <a:solidFill>
            <a:srgbClr val="F1F6F4"/>
          </a:solidFill>
          <a:ln w="12700">
            <a:solidFill>
              <a:srgbClr val="D8E3E0"/>
            </a:solidFill>
            <a:prstDash val="solid"/>
          </a:ln>
        </p:spPr>
        <p:txBody>
          <a:bodyPr/>
          <a:p/>
        </p:txBody>
      </p:sp>
      <p:sp>
        <p:nvSpPr>
          <p:cNvPr id="12" name="Text 10"/>
          <p:cNvSpPr/>
          <p:nvPr/>
        </p:nvSpPr>
        <p:spPr>
          <a:xfrm>
            <a:off x="8214360" y="1792224"/>
            <a:ext cx="3325368" cy="256032"/>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Main area</a:t>
            </a:r>
            <a:endParaRPr lang="en-US" sz="1100" dirty="0"/>
          </a:p>
        </p:txBody>
      </p:sp>
      <p:sp>
        <p:nvSpPr>
          <p:cNvPr id="13" name="Text 11"/>
          <p:cNvSpPr/>
          <p:nvPr/>
        </p:nvSpPr>
        <p:spPr>
          <a:xfrm>
            <a:off x="8214360" y="2066544"/>
            <a:ext cx="3325368" cy="70408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Controls on the left, results and charts on the right. Results update instantly as you type.</a:t>
            </a:r>
            <a:endParaRPr lang="en-US" sz="1050" dirty="0"/>
          </a:p>
        </p:txBody>
      </p:sp>
      <p:sp>
        <p:nvSpPr>
          <p:cNvPr id="14" name="Shape 12"/>
          <p:cNvSpPr/>
          <p:nvPr/>
        </p:nvSpPr>
        <p:spPr>
          <a:xfrm>
            <a:off x="502920" y="3127248"/>
            <a:ext cx="11183112" cy="2606040"/>
          </a:xfrm>
          <a:prstGeom prst="roundRect">
            <a:avLst>
              <a:gd name="adj" fmla="val 2105"/>
            </a:avLst>
          </a:prstGeom>
          <a:solidFill>
            <a:srgbClr val="FBFDFC"/>
          </a:solidFill>
          <a:ln w="19050">
            <a:solidFill>
              <a:srgbClr val="1A9E75"/>
            </a:solidFill>
            <a:prstDash val="dash"/>
          </a:ln>
        </p:spPr>
        <p:txBody>
          <a:bodyPr/>
          <a:p/>
        </p:txBody>
      </p:sp>
      <p:sp>
        <p:nvSpPr>
          <p:cNvPr id="15" name="Shape 13"/>
          <p:cNvSpPr/>
          <p:nvPr/>
        </p:nvSpPr>
        <p:spPr>
          <a:xfrm>
            <a:off x="704088" y="3310128"/>
            <a:ext cx="1417320" cy="274320"/>
          </a:xfrm>
          <a:prstGeom prst="roundRect">
            <a:avLst>
              <a:gd name="adj" fmla="val 16667"/>
            </a:avLst>
          </a:prstGeom>
          <a:solidFill>
            <a:srgbClr val="1A9E75"/>
          </a:solidFill>
          <a:ln w="12700">
            <a:solidFill>
              <a:srgbClr val="1A9E75"/>
            </a:solidFill>
            <a:prstDash val="solid"/>
          </a:ln>
        </p:spPr>
        <p:txBody>
          <a:bodyPr/>
          <a:p/>
        </p:txBody>
      </p:sp>
      <p:sp>
        <p:nvSpPr>
          <p:cNvPr id="16" name="Text 14"/>
          <p:cNvSpPr/>
          <p:nvPr/>
        </p:nvSpPr>
        <p:spPr>
          <a:xfrm>
            <a:off x="704088" y="3310128"/>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17" name="Text 15"/>
          <p:cNvSpPr/>
          <p:nvPr/>
        </p:nvSpPr>
        <p:spPr>
          <a:xfrm>
            <a:off x="704088" y="3694176"/>
            <a:ext cx="1078077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whole browser window with any module open</a:t>
            </a:r>
            <a:endParaRPr lang="en-US" sz="1250" dirty="0"/>
          </a:p>
        </p:txBody>
      </p:sp>
      <p:sp>
        <p:nvSpPr>
          <p:cNvPr id="18" name="Text 16"/>
          <p:cNvSpPr/>
          <p:nvPr/>
        </p:nvSpPr>
        <p:spPr>
          <a:xfrm>
            <a:off x="704088" y="4315968"/>
            <a:ext cx="1078077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19" name="Text 17"/>
          <p:cNvSpPr/>
          <p:nvPr/>
        </p:nvSpPr>
        <p:spPr>
          <a:xfrm>
            <a:off x="777240" y="4553712"/>
            <a:ext cx="10634472" cy="10058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Sidebar on the left, with the current page highlighted</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Global settings panel across the top</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Input controls in the left column of the main area</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Charts and result cards in the right column</a:t>
            </a:r>
            <a:endParaRPr lang="en-US" sz="1050" dirty="0"/>
          </a:p>
        </p:txBody>
      </p:sp>
      <p:sp>
        <p:nvSpPr>
          <p:cNvPr id="20" name="Text 18"/>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Getting started</a:t>
            </a:r>
            <a:endParaRPr lang="en-US" sz="900" dirty="0"/>
          </a:p>
        </p:txBody>
      </p:sp>
      <p:sp>
        <p:nvSpPr>
          <p:cNvPr id="21" name="Text 19"/>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HOME PAGE</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The home page</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This is the first screen you see</a:t>
            </a:r>
            <a:endParaRPr lang="en-US" sz="1300" dirty="0"/>
          </a:p>
        </p:txBody>
      </p:sp>
      <p:sp>
        <p:nvSpPr>
          <p:cNvPr id="7" name="Text 5"/>
          <p:cNvSpPr/>
          <p:nvPr/>
        </p:nvSpPr>
        <p:spPr>
          <a:xfrm>
            <a:off x="932688" y="157276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It shows one card for each of the seven pages in the dashboard.</a:t>
            </a:r>
            <a:endParaRPr lang="en-US" sz="1150" dirty="0"/>
          </a:p>
        </p:txBody>
      </p:sp>
      <p:sp>
        <p:nvSpPr>
          <p:cNvPr id="8" name="Shape 6"/>
          <p:cNvSpPr/>
          <p:nvPr/>
        </p:nvSpPr>
        <p:spPr>
          <a:xfrm>
            <a:off x="502920" y="2148840"/>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2148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212140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Read the card</a:t>
            </a:r>
            <a:endParaRPr lang="en-US" sz="1300" dirty="0"/>
          </a:p>
        </p:txBody>
      </p:sp>
      <p:sp>
        <p:nvSpPr>
          <p:cNvPr id="11" name="Text 9"/>
          <p:cNvSpPr/>
          <p:nvPr/>
        </p:nvSpPr>
        <p:spPr>
          <a:xfrm>
            <a:off x="932688" y="235000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Each card gives the page number, its name, and the week it was built.</a:t>
            </a:r>
            <a:endParaRPr lang="en-US" sz="1150" dirty="0"/>
          </a:p>
        </p:txBody>
      </p:sp>
      <p:sp>
        <p:nvSpPr>
          <p:cNvPr id="12" name="Shape 10"/>
          <p:cNvSpPr/>
          <p:nvPr/>
        </p:nvSpPr>
        <p:spPr>
          <a:xfrm>
            <a:off x="502920" y="2926080"/>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292608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289864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Click a card to open that page</a:t>
            </a:r>
            <a:endParaRPr lang="en-US" sz="1300" dirty="0"/>
          </a:p>
        </p:txBody>
      </p:sp>
      <p:sp>
        <p:nvSpPr>
          <p:cNvPr id="15" name="Text 13"/>
          <p:cNvSpPr/>
          <p:nvPr/>
        </p:nvSpPr>
        <p:spPr>
          <a:xfrm>
            <a:off x="932688" y="312724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This does exactly the same thing as clicking the name in the left sidebar.</a:t>
            </a:r>
            <a:endParaRPr lang="en-US" sz="1150" dirty="0"/>
          </a:p>
        </p:txBody>
      </p:sp>
      <p:sp>
        <p:nvSpPr>
          <p:cNvPr id="16" name="Shape 14"/>
          <p:cNvSpPr/>
          <p:nvPr/>
        </p:nvSpPr>
        <p:spPr>
          <a:xfrm>
            <a:off x="502920" y="3703320"/>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37033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367588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Faded cards are not finished</a:t>
            </a:r>
            <a:endParaRPr lang="en-US" sz="1300" dirty="0"/>
          </a:p>
        </p:txBody>
      </p:sp>
      <p:sp>
        <p:nvSpPr>
          <p:cNvPr id="19" name="Text 17"/>
          <p:cNvSpPr/>
          <p:nvPr/>
        </p:nvSpPr>
        <p:spPr>
          <a:xfrm>
            <a:off x="932688" y="390448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A card with a dashed border and an 'In development' tag has no content in it yet.</a:t>
            </a:r>
            <a:endParaRPr lang="en-US" sz="1150" dirty="0"/>
          </a:p>
        </p:txBody>
      </p:sp>
      <p:sp>
        <p:nvSpPr>
          <p:cNvPr id="20" name="Shape 18"/>
          <p:cNvSpPr/>
          <p:nvPr/>
        </p:nvSpPr>
        <p:spPr>
          <a:xfrm>
            <a:off x="502920" y="4480560"/>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48056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45312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Getting back here</a:t>
            </a:r>
            <a:endParaRPr lang="en-US" sz="1300" dirty="0"/>
          </a:p>
        </p:txBody>
      </p:sp>
      <p:sp>
        <p:nvSpPr>
          <p:cNvPr id="23" name="Text 21"/>
          <p:cNvSpPr/>
          <p:nvPr/>
        </p:nvSpPr>
        <p:spPr>
          <a:xfrm>
            <a:off x="932688" y="468172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Click 'Home' at the very top of the left sidebar from anywhere.</a:t>
            </a:r>
            <a:endParaRPr lang="en-US" sz="1150" dirty="0"/>
          </a:p>
        </p:txBody>
      </p:sp>
      <p:sp>
        <p:nvSpPr>
          <p:cNvPr id="24" name="Shape 22"/>
          <p:cNvSpPr/>
          <p:nvPr/>
        </p:nvSpPr>
        <p:spPr>
          <a:xfrm>
            <a:off x="6355080" y="1371600"/>
            <a:ext cx="5330952" cy="4023360"/>
          </a:xfrm>
          <a:prstGeom prst="roundRect">
            <a:avLst>
              <a:gd name="adj" fmla="val 1364"/>
            </a:avLst>
          </a:prstGeom>
          <a:solidFill>
            <a:srgbClr val="FBFDFC"/>
          </a:solidFill>
          <a:ln w="19050">
            <a:solidFill>
              <a:srgbClr val="1A9E75"/>
            </a:solidFill>
            <a:prstDash val="dash"/>
          </a:ln>
        </p:spPr>
        <p:txBody>
          <a:bodyPr/>
          <a:p/>
        </p:txBody>
      </p:sp>
      <p:sp>
        <p:nvSpPr>
          <p:cNvPr id="25" name="Shape 23"/>
          <p:cNvSpPr/>
          <p:nvPr/>
        </p:nvSpPr>
        <p:spPr>
          <a:xfrm>
            <a:off x="655624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6" name="Text 24"/>
          <p:cNvSpPr/>
          <p:nvPr/>
        </p:nvSpPr>
        <p:spPr>
          <a:xfrm>
            <a:off x="655624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7" name="Text 25"/>
          <p:cNvSpPr/>
          <p:nvPr/>
        </p:nvSpPr>
        <p:spPr>
          <a:xfrm>
            <a:off x="6556248" y="193852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home page showing all seven module cards</a:t>
            </a:r>
            <a:endParaRPr lang="en-US" sz="1250" dirty="0"/>
          </a:p>
        </p:txBody>
      </p:sp>
      <p:sp>
        <p:nvSpPr>
          <p:cNvPr id="28" name="Text 26"/>
          <p:cNvSpPr/>
          <p:nvPr/>
        </p:nvSpPr>
        <p:spPr>
          <a:xfrm>
            <a:off x="6556248" y="256032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9" name="Text 27"/>
          <p:cNvSpPr/>
          <p:nvPr/>
        </p:nvSpPr>
        <p:spPr>
          <a:xfrm>
            <a:off x="6629400" y="2798064"/>
            <a:ext cx="4782312" cy="24231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A normal card, for example '3. EV vs. ICE Calculator'</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faded card with the 'In development' tag</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Home link at the top of the sidebar</a:t>
            </a:r>
            <a:endParaRPr lang="en-US" sz="1050" dirty="0"/>
          </a:p>
        </p:txBody>
      </p:sp>
      <p:sp>
        <p:nvSpPr>
          <p:cNvPr id="30" name="Text 28"/>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Home page</a:t>
            </a:r>
            <a:endParaRPr lang="en-US" sz="900" dirty="0"/>
          </a:p>
        </p:txBody>
      </p:sp>
      <p:sp>
        <p:nvSpPr>
          <p:cNvPr id="31" name="Text 29"/>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GLOBAL SETTINGS</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Set your prices once, before anything else</a:t>
            </a:r>
            <a:endParaRPr lang="en-US" sz="3200" dirty="0"/>
          </a:p>
        </p:txBody>
      </p:sp>
      <p:sp>
        <p:nvSpPr>
          <p:cNvPr id="4" name="Text 2"/>
          <p:cNvSpPr/>
          <p:nvPr/>
        </p:nvSpPr>
        <p:spPr>
          <a:xfrm>
            <a:off x="502920" y="1207008"/>
            <a:ext cx="11155680" cy="566928"/>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The Global settings panel sits at the top of the page. What you enter here is used by the calculator, the taxi tool, the emissions page and the fuel tracker. Setting it first means every result you see afterwards reflects real prices you pay.</a:t>
            </a:r>
            <a:endParaRPr lang="en-US" sz="1300" dirty="0"/>
          </a:p>
        </p:txBody>
      </p:sp>
      <p:sp>
        <p:nvSpPr>
          <p:cNvPr id="5" name="Shape 3"/>
          <p:cNvSpPr/>
          <p:nvPr/>
        </p:nvSpPr>
        <p:spPr>
          <a:xfrm>
            <a:off x="502920" y="1874520"/>
            <a:ext cx="2672334" cy="1600200"/>
          </a:xfrm>
          <a:prstGeom prst="roundRect">
            <a:avLst>
              <a:gd name="adj" fmla="val 3429"/>
            </a:avLst>
          </a:prstGeom>
          <a:solidFill>
            <a:srgbClr val="F1F6F4"/>
          </a:solidFill>
          <a:ln w="12700">
            <a:solidFill>
              <a:srgbClr val="D8E3E0"/>
            </a:solidFill>
            <a:prstDash val="solid"/>
          </a:ln>
        </p:spPr>
        <p:txBody>
          <a:bodyPr/>
          <a:p/>
        </p:txBody>
      </p:sp>
      <p:sp>
        <p:nvSpPr>
          <p:cNvPr id="6" name="Text 4"/>
          <p:cNvSpPr/>
          <p:nvPr/>
        </p:nvSpPr>
        <p:spPr>
          <a:xfrm>
            <a:off x="649224" y="2002536"/>
            <a:ext cx="2379726"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Fuel grade</a:t>
            </a:r>
            <a:endParaRPr lang="en-US" sz="1100" dirty="0"/>
          </a:p>
        </p:txBody>
      </p:sp>
      <p:sp>
        <p:nvSpPr>
          <p:cNvPr id="7" name="Text 5"/>
          <p:cNvSpPr/>
          <p:nvPr/>
        </p:nvSpPr>
        <p:spPr>
          <a:xfrm>
            <a:off x="649224" y="2276856"/>
            <a:ext cx="2379726" cy="10698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Choose 87 or 90 octane. This picks which Petrojam price the dashboard starts from.</a:t>
            </a:r>
            <a:endParaRPr lang="en-US" sz="1050" dirty="0"/>
          </a:p>
        </p:txBody>
      </p:sp>
      <p:sp>
        <p:nvSpPr>
          <p:cNvPr id="8" name="Shape 6"/>
          <p:cNvSpPr/>
          <p:nvPr/>
        </p:nvSpPr>
        <p:spPr>
          <a:xfrm>
            <a:off x="3339846" y="1874520"/>
            <a:ext cx="2672334" cy="1600200"/>
          </a:xfrm>
          <a:prstGeom prst="roundRect">
            <a:avLst>
              <a:gd name="adj" fmla="val 3429"/>
            </a:avLst>
          </a:prstGeom>
          <a:solidFill>
            <a:srgbClr val="F1F6F4"/>
          </a:solidFill>
          <a:ln w="12700">
            <a:solidFill>
              <a:srgbClr val="D8E3E0"/>
            </a:solidFill>
            <a:prstDash val="solid"/>
          </a:ln>
        </p:spPr>
        <p:txBody>
          <a:bodyPr/>
          <a:p/>
        </p:txBody>
      </p:sp>
      <p:sp>
        <p:nvSpPr>
          <p:cNvPr id="9" name="Text 7"/>
          <p:cNvSpPr/>
          <p:nvPr/>
        </p:nvSpPr>
        <p:spPr>
          <a:xfrm>
            <a:off x="3486150" y="2002536"/>
            <a:ext cx="2379726"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Fuel price you pay</a:t>
            </a:r>
            <a:endParaRPr lang="en-US" sz="1100" dirty="0"/>
          </a:p>
        </p:txBody>
      </p:sp>
      <p:sp>
        <p:nvSpPr>
          <p:cNvPr id="10" name="Text 8"/>
          <p:cNvSpPr/>
          <p:nvPr/>
        </p:nvSpPr>
        <p:spPr>
          <a:xfrm>
            <a:off x="3486150" y="2276856"/>
            <a:ext cx="2379726" cy="10698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Type the price from the pump at your own station. This is the first box and the most important one.</a:t>
            </a:r>
            <a:endParaRPr lang="en-US" sz="1050" dirty="0"/>
          </a:p>
        </p:txBody>
      </p:sp>
      <p:sp>
        <p:nvSpPr>
          <p:cNvPr id="11" name="Shape 9"/>
          <p:cNvSpPr/>
          <p:nvPr/>
        </p:nvSpPr>
        <p:spPr>
          <a:xfrm>
            <a:off x="6176772" y="1874520"/>
            <a:ext cx="2672334" cy="1600200"/>
          </a:xfrm>
          <a:prstGeom prst="roundRect">
            <a:avLst>
              <a:gd name="adj" fmla="val 3429"/>
            </a:avLst>
          </a:prstGeom>
          <a:solidFill>
            <a:srgbClr val="F1F6F4"/>
          </a:solidFill>
          <a:ln w="12700">
            <a:solidFill>
              <a:srgbClr val="D8E3E0"/>
            </a:solidFill>
            <a:prstDash val="solid"/>
          </a:ln>
        </p:spPr>
        <p:txBody>
          <a:bodyPr/>
          <a:p/>
        </p:txBody>
      </p:sp>
      <p:sp>
        <p:nvSpPr>
          <p:cNvPr id="12" name="Text 10"/>
          <p:cNvSpPr/>
          <p:nvPr/>
        </p:nvSpPr>
        <p:spPr>
          <a:xfrm>
            <a:off x="6323076" y="2002536"/>
            <a:ext cx="2379726"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Home charging</a:t>
            </a:r>
            <a:endParaRPr lang="en-US" sz="1100" dirty="0"/>
          </a:p>
        </p:txBody>
      </p:sp>
      <p:sp>
        <p:nvSpPr>
          <p:cNvPr id="13" name="Text 11"/>
          <p:cNvSpPr/>
          <p:nvPr/>
        </p:nvSpPr>
        <p:spPr>
          <a:xfrm>
            <a:off x="6323076" y="2276856"/>
            <a:ext cx="2379726" cy="10698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Your JPS residential rate per kWh, from a recent bill. This is charging in your own yard.</a:t>
            </a:r>
            <a:endParaRPr lang="en-US" sz="1050" dirty="0"/>
          </a:p>
        </p:txBody>
      </p:sp>
      <p:sp>
        <p:nvSpPr>
          <p:cNvPr id="14" name="Shape 12"/>
          <p:cNvSpPr/>
          <p:nvPr/>
        </p:nvSpPr>
        <p:spPr>
          <a:xfrm>
            <a:off x="9013698" y="1874520"/>
            <a:ext cx="2672334" cy="1600200"/>
          </a:xfrm>
          <a:prstGeom prst="roundRect">
            <a:avLst>
              <a:gd name="adj" fmla="val 3429"/>
            </a:avLst>
          </a:prstGeom>
          <a:solidFill>
            <a:srgbClr val="F1F6F4"/>
          </a:solidFill>
          <a:ln w="12700">
            <a:solidFill>
              <a:srgbClr val="D8E3E0"/>
            </a:solidFill>
            <a:prstDash val="solid"/>
          </a:ln>
        </p:spPr>
        <p:txBody>
          <a:bodyPr/>
          <a:p/>
        </p:txBody>
      </p:sp>
      <p:sp>
        <p:nvSpPr>
          <p:cNvPr id="15" name="Text 13"/>
          <p:cNvSpPr/>
          <p:nvPr/>
        </p:nvSpPr>
        <p:spPr>
          <a:xfrm>
            <a:off x="9160002" y="2002536"/>
            <a:ext cx="2379726"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Public charging network</a:t>
            </a:r>
            <a:endParaRPr lang="en-US" sz="1100" dirty="0"/>
          </a:p>
        </p:txBody>
      </p:sp>
      <p:sp>
        <p:nvSpPr>
          <p:cNvPr id="16" name="Text 14"/>
          <p:cNvSpPr/>
          <p:nvPr/>
        </p:nvSpPr>
        <p:spPr>
          <a:xfrm>
            <a:off x="9160002" y="2276856"/>
            <a:ext cx="2379726" cy="10698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Pick which public network you use, or 'Custom rate' for a workplace charger or a tariff not listed. The price differs a lot between networks and by time of day.</a:t>
            </a:r>
            <a:endParaRPr lang="en-US" sz="1050" dirty="0"/>
          </a:p>
        </p:txBody>
      </p:sp>
      <p:sp>
        <p:nvSpPr>
          <p:cNvPr id="17" name="Shape 15"/>
          <p:cNvSpPr/>
          <p:nvPr/>
        </p:nvSpPr>
        <p:spPr>
          <a:xfrm>
            <a:off x="502920" y="3703320"/>
            <a:ext cx="11183112" cy="2011680"/>
          </a:xfrm>
          <a:prstGeom prst="roundRect">
            <a:avLst>
              <a:gd name="adj" fmla="val 2727"/>
            </a:avLst>
          </a:prstGeom>
          <a:solidFill>
            <a:srgbClr val="FBFDFC"/>
          </a:solidFill>
          <a:ln w="19050">
            <a:solidFill>
              <a:srgbClr val="1A9E75"/>
            </a:solidFill>
            <a:prstDash val="dash"/>
          </a:ln>
        </p:spPr>
        <p:txBody>
          <a:bodyPr/>
          <a:p/>
        </p:txBody>
      </p:sp>
      <p:sp>
        <p:nvSpPr>
          <p:cNvPr id="18" name="Shape 16"/>
          <p:cNvSpPr/>
          <p:nvPr/>
        </p:nvSpPr>
        <p:spPr>
          <a:xfrm>
            <a:off x="704088" y="388620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19" name="Text 17"/>
          <p:cNvSpPr/>
          <p:nvPr/>
        </p:nvSpPr>
        <p:spPr>
          <a:xfrm>
            <a:off x="704088" y="388620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0" name="Text 18"/>
          <p:cNvSpPr/>
          <p:nvPr/>
        </p:nvSpPr>
        <p:spPr>
          <a:xfrm>
            <a:off x="704088" y="4270248"/>
            <a:ext cx="1078077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Global settings panel, expanded</a:t>
            </a:r>
            <a:endParaRPr lang="en-US" sz="1250" dirty="0"/>
          </a:p>
        </p:txBody>
      </p:sp>
      <p:sp>
        <p:nvSpPr>
          <p:cNvPr id="21" name="Text 19"/>
          <p:cNvSpPr/>
          <p:nvPr/>
        </p:nvSpPr>
        <p:spPr>
          <a:xfrm>
            <a:off x="704088" y="4892040"/>
            <a:ext cx="1078077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2" name="Text 20"/>
          <p:cNvSpPr/>
          <p:nvPr/>
        </p:nvSpPr>
        <p:spPr>
          <a:xfrm>
            <a:off x="777240" y="5129784"/>
            <a:ext cx="10634472" cy="41148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Fuel grade dropdown</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'Fuel price you pay' box, and the effective price shown under it</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custom rate box that appears when you pick 'Custom rate'</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Home charging and Public charging network controls</a:t>
            </a:r>
            <a:endParaRPr lang="en-US" sz="1050" dirty="0"/>
          </a:p>
        </p:txBody>
      </p:sp>
      <p:sp>
        <p:nvSpPr>
          <p:cNvPr id="23" name="Text 21"/>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Global settings</a:t>
            </a:r>
            <a:endParaRPr lang="en-US" sz="900" dirty="0"/>
          </a:p>
        </p:txBody>
      </p:sp>
      <p:sp>
        <p:nvSpPr>
          <p:cNvPr id="24" name="Text 22"/>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GLOBAL SETTINGS</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Filling in Global settings</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the panel</a:t>
            </a:r>
            <a:endParaRPr lang="en-US" sz="1300" dirty="0"/>
          </a:p>
        </p:txBody>
      </p:sp>
      <p:sp>
        <p:nvSpPr>
          <p:cNvPr id="7" name="Text 5"/>
          <p:cNvSpPr/>
          <p:nvPr/>
        </p:nvSpPr>
        <p:spPr>
          <a:xfrm>
            <a:off x="932688" y="157276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Click the words 'Global settings' at the top of the page to expand it.</a:t>
            </a:r>
            <a:endParaRPr lang="en-US" sz="1150" dirty="0"/>
          </a:p>
        </p:txBody>
      </p:sp>
      <p:sp>
        <p:nvSpPr>
          <p:cNvPr id="8" name="Shape 6"/>
          <p:cNvSpPr/>
          <p:nvPr/>
        </p:nvSpPr>
        <p:spPr>
          <a:xfrm>
            <a:off x="502920" y="2148840"/>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2148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212140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Pick your fuel grade</a:t>
            </a:r>
            <a:endParaRPr lang="en-US" sz="1300" dirty="0"/>
          </a:p>
        </p:txBody>
      </p:sp>
      <p:sp>
        <p:nvSpPr>
          <p:cNvPr id="11" name="Text 9"/>
          <p:cNvSpPr/>
          <p:nvPr/>
        </p:nvSpPr>
        <p:spPr>
          <a:xfrm>
            <a:off x="932688" y="2350008"/>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Choose the grade you actually put in your car, 87 or 90.</a:t>
            </a:r>
            <a:endParaRPr lang="en-US" sz="1150" dirty="0"/>
          </a:p>
        </p:txBody>
      </p:sp>
      <p:sp>
        <p:nvSpPr>
          <p:cNvPr id="12" name="Shape 10"/>
          <p:cNvSpPr/>
          <p:nvPr/>
        </p:nvSpPr>
        <p:spPr>
          <a:xfrm>
            <a:off x="502920" y="2756916"/>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275691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272948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Type the fuel price you pay</a:t>
            </a:r>
            <a:endParaRPr lang="en-US" sz="1300" dirty="0"/>
          </a:p>
        </p:txBody>
      </p:sp>
      <p:sp>
        <p:nvSpPr>
          <p:cNvPr id="15" name="Text 13"/>
          <p:cNvSpPr/>
          <p:nvPr/>
        </p:nvSpPr>
        <p:spPr>
          <a:xfrm>
            <a:off x="932688" y="2958084"/>
            <a:ext cx="5056632" cy="690372"/>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Read it off the pump at your usual station and enter it. Until you do, the dashboard uses a Kingston survey average and tells you it is doing so.</a:t>
            </a:r>
            <a:endParaRPr lang="en-US" sz="1150" dirty="0"/>
          </a:p>
        </p:txBody>
      </p:sp>
      <p:sp>
        <p:nvSpPr>
          <p:cNvPr id="16" name="Shape 14"/>
          <p:cNvSpPr/>
          <p:nvPr/>
        </p:nvSpPr>
        <p:spPr>
          <a:xfrm>
            <a:off x="502920" y="3703320"/>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37033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367588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Enter your home electricity rate</a:t>
            </a:r>
            <a:endParaRPr lang="en-US" sz="1300" dirty="0"/>
          </a:p>
        </p:txBody>
      </p:sp>
      <p:sp>
        <p:nvSpPr>
          <p:cNvPr id="19" name="Text 17"/>
          <p:cNvSpPr/>
          <p:nvPr/>
        </p:nvSpPr>
        <p:spPr>
          <a:xfrm>
            <a:off x="932688" y="390448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In J$ per kWh, from a recent JPS bill. This is charging at your own premises.</a:t>
            </a:r>
            <a:endParaRPr lang="en-US" sz="1150" dirty="0"/>
          </a:p>
        </p:txBody>
      </p:sp>
      <p:sp>
        <p:nvSpPr>
          <p:cNvPr id="20" name="Shape 18"/>
          <p:cNvSpPr/>
          <p:nvPr/>
        </p:nvSpPr>
        <p:spPr>
          <a:xfrm>
            <a:off x="502920" y="4480560"/>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48056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45312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Choose your public charging network</a:t>
            </a:r>
            <a:endParaRPr lang="en-US" sz="1300" dirty="0"/>
          </a:p>
        </p:txBody>
      </p:sp>
      <p:sp>
        <p:nvSpPr>
          <p:cNvPr id="23" name="Text 21"/>
          <p:cNvSpPr/>
          <p:nvPr/>
        </p:nvSpPr>
        <p:spPr>
          <a:xfrm>
            <a:off x="932688" y="468172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Evergo, JPS Charge 'n Go at one of its three times of day, or 'Custom rate' if you charge somewhere not listed. The rate box below updates and renames itself to match.</a:t>
            </a:r>
            <a:endParaRPr lang="en-US" sz="1150" dirty="0"/>
          </a:p>
        </p:txBody>
      </p:sp>
      <p:sp>
        <p:nvSpPr>
          <p:cNvPr id="24" name="Shape 22"/>
          <p:cNvSpPr/>
          <p:nvPr/>
        </p:nvSpPr>
        <p:spPr>
          <a:xfrm>
            <a:off x="6355080" y="1371600"/>
            <a:ext cx="5330952" cy="3657600"/>
          </a:xfrm>
          <a:prstGeom prst="roundRect">
            <a:avLst>
              <a:gd name="adj" fmla="val 1500"/>
            </a:avLst>
          </a:prstGeom>
          <a:solidFill>
            <a:srgbClr val="FBFDFC"/>
          </a:solidFill>
          <a:ln w="19050">
            <a:solidFill>
              <a:srgbClr val="1A9E75"/>
            </a:solidFill>
            <a:prstDash val="dash"/>
          </a:ln>
        </p:spPr>
        <p:txBody>
          <a:bodyPr/>
          <a:p/>
        </p:txBody>
      </p:sp>
      <p:sp>
        <p:nvSpPr>
          <p:cNvPr id="25" name="Shape 23"/>
          <p:cNvSpPr/>
          <p:nvPr/>
        </p:nvSpPr>
        <p:spPr>
          <a:xfrm>
            <a:off x="655624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6" name="Text 24"/>
          <p:cNvSpPr/>
          <p:nvPr/>
        </p:nvSpPr>
        <p:spPr>
          <a:xfrm>
            <a:off x="655624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7" name="Text 25"/>
          <p:cNvSpPr/>
          <p:nvPr/>
        </p:nvSpPr>
        <p:spPr>
          <a:xfrm>
            <a:off x="6556248" y="193852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Close-up of the price fields with values filled in</a:t>
            </a:r>
            <a:endParaRPr lang="en-US" sz="1250" dirty="0"/>
          </a:p>
        </p:txBody>
      </p:sp>
      <p:sp>
        <p:nvSpPr>
          <p:cNvPr id="28" name="Text 26"/>
          <p:cNvSpPr/>
          <p:nvPr/>
        </p:nvSpPr>
        <p:spPr>
          <a:xfrm>
            <a:off x="6556248" y="256032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9" name="Text 27"/>
          <p:cNvSpPr/>
          <p:nvPr/>
        </p:nvSpPr>
        <p:spPr>
          <a:xfrm>
            <a:off x="6629400" y="2798064"/>
            <a:ext cx="4782312" cy="20574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'Fuel price you pay' box</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effective price line underneath it</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network dropdown and the rate box that renames itself</a:t>
            </a:r>
            <a:endParaRPr lang="en-US" sz="1050" dirty="0"/>
          </a:p>
        </p:txBody>
      </p:sp>
      <p:sp>
        <p:nvSpPr>
          <p:cNvPr id="30" name="Shape 28"/>
          <p:cNvSpPr/>
          <p:nvPr/>
        </p:nvSpPr>
        <p:spPr>
          <a:xfrm>
            <a:off x="502920" y="5193792"/>
            <a:ext cx="11183112" cy="658368"/>
          </a:xfrm>
          <a:prstGeom prst="roundRect">
            <a:avLst>
              <a:gd name="adj" fmla="val 8333"/>
            </a:avLst>
          </a:prstGeom>
          <a:solidFill>
            <a:srgbClr val="F1F6F4"/>
          </a:solidFill>
          <a:ln w="12700">
            <a:solidFill>
              <a:srgbClr val="D8E3E0"/>
            </a:solidFill>
            <a:prstDash val="solid"/>
          </a:ln>
        </p:spPr>
        <p:txBody>
          <a:bodyPr/>
          <a:p/>
        </p:txBody>
      </p:sp>
      <p:sp>
        <p:nvSpPr>
          <p:cNvPr id="31" name="Shape 29"/>
          <p:cNvSpPr/>
          <p:nvPr/>
        </p:nvSpPr>
        <p:spPr>
          <a:xfrm>
            <a:off x="685800" y="5367528"/>
            <a:ext cx="310896" cy="310896"/>
          </a:xfrm>
          <a:prstGeom prst="ellipse">
            <a:avLst/>
          </a:prstGeom>
          <a:solidFill>
            <a:srgbClr val="1A9E75"/>
          </a:solidFill>
          <a:ln w="12700">
            <a:solidFill>
              <a:srgbClr val="1A9E75"/>
            </a:solidFill>
            <a:prstDash val="solid"/>
          </a:ln>
        </p:spPr>
        <p:txBody>
          <a:bodyPr/>
          <a:p/>
        </p:txBody>
      </p:sp>
      <p:sp>
        <p:nvSpPr>
          <p:cNvPr id="32" name="Text 30"/>
          <p:cNvSpPr/>
          <p:nvPr/>
        </p:nvSpPr>
        <p:spPr>
          <a:xfrm>
            <a:off x="685800" y="53675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33" name="Text 31"/>
          <p:cNvSpPr/>
          <p:nvPr/>
        </p:nvSpPr>
        <p:spPr>
          <a:xfrm>
            <a:off x="1133856" y="5303520"/>
            <a:ext cx="10424160" cy="457200"/>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Don't want to type a fuel price?  Leave it blank and the dashboard uses a surveyed Kingston average, and tells you it is doing so. The list of named stations has been removed: a markup surveyed on three dates goes stale, while the price on the pump in front of you does not.</a:t>
            </a:r>
            <a:pPr indent="0" marL="0">
              <a:buNone/>
            </a:pPr>
            <a:r>
              <a:rPr lang="en-US" sz="1100" dirty="0">
                <a:solidFill>
                  <a:srgbClr val="6B7A77"/>
                </a:solidFill>
                <a:latin typeface="Calibri" pitchFamily="34" charset="0"/>
                <a:ea typeface="Calibri" pitchFamily="34" charset="-122"/>
                <a:cs typeface="Calibri" pitchFamily="34" charset="-120"/>
              </a:rPr>
              <a:t/>
            </a:r>
            <a:endParaRPr lang="en-US" sz="1100" dirty="0"/>
          </a:p>
        </p:txBody>
      </p:sp>
      <p:sp>
        <p:nvSpPr>
          <p:cNvPr id="34" name="Text 32"/>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Global settings</a:t>
            </a:r>
            <a:endParaRPr lang="en-US" sz="900" dirty="0"/>
          </a:p>
        </p:txBody>
      </p:sp>
      <p:sp>
        <p:nvSpPr>
          <p:cNvPr id="35" name="Text 33"/>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GLOBAL SETTINGS</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Where and when you charge changes the price a lot</a:t>
            </a:r>
            <a:endParaRPr lang="en-US" sz="3200" dirty="0"/>
          </a:p>
        </p:txBody>
      </p:sp>
      <p:sp>
        <p:nvSpPr>
          <p:cNvPr id="4" name="Text 2"/>
          <p:cNvSpPr/>
          <p:nvPr/>
        </p:nvSpPr>
        <p:spPr>
          <a:xfrm>
            <a:off x="502920" y="1207008"/>
            <a:ext cx="11155680" cy="54864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Jamaica has two public charging networks and they price very differently. Evergo charges the same amount at any hour. JPS Charge 'n Go changes its price through the day. This one choice moves the results more than almost anything else in the dashboard.</a:t>
            </a:r>
            <a:endParaRPr lang="en-US" sz="1300" dirty="0"/>
          </a:p>
        </p:txBody>
      </p:sp>
      <p:sp>
        <p:nvSpPr>
          <p:cNvPr id="5" name="Shape 3"/>
          <p:cNvSpPr/>
          <p:nvPr/>
        </p:nvSpPr>
        <p:spPr>
          <a:xfrm>
            <a:off x="502920" y="1920240"/>
            <a:ext cx="11183112" cy="621792"/>
          </a:xfrm>
          <a:prstGeom prst="roundRect">
            <a:avLst>
              <a:gd name="adj" fmla="val 8824"/>
            </a:avLst>
          </a:prstGeom>
          <a:solidFill>
            <a:srgbClr val="F1F6F4"/>
          </a:solidFill>
          <a:ln w="12700">
            <a:solidFill>
              <a:srgbClr val="D8E3E0"/>
            </a:solidFill>
            <a:prstDash val="solid"/>
          </a:ln>
        </p:spPr>
        <p:txBody>
          <a:bodyPr/>
          <a:p/>
        </p:txBody>
      </p:sp>
      <p:sp>
        <p:nvSpPr>
          <p:cNvPr id="6" name="Text 4"/>
          <p:cNvSpPr/>
          <p:nvPr/>
        </p:nvSpPr>
        <p:spPr>
          <a:xfrm>
            <a:off x="731520" y="1975104"/>
            <a:ext cx="2468880" cy="256032"/>
          </a:xfrm>
          <a:prstGeom prst="rect">
            <a:avLst/>
          </a:prstGeom>
          <a:noFill/>
          <a:ln/>
        </p:spPr>
        <p:txBody>
          <a:bodyPr wrap="square" lIns="0" tIns="0" rIns="0" bIns="0" rtlCol="0" anchor="ctr"/>
          <a:lstStyle/>
          <a:p>
            <a:pPr indent="0" marL="0">
              <a:buNone/>
            </a:pPr>
            <a:r>
              <a:rPr lang="en-US" sz="1400" b="1" dirty="0">
                <a:solidFill>
                  <a:srgbClr val="1A9E75"/>
                </a:solidFill>
                <a:latin typeface="Calibri" pitchFamily="34" charset="0"/>
                <a:ea typeface="Calibri" pitchFamily="34" charset="-122"/>
                <a:cs typeface="Calibri" pitchFamily="34" charset="-120"/>
              </a:rPr>
              <a:t>Home</a:t>
            </a:r>
            <a:endParaRPr lang="en-US" sz="1400" dirty="0"/>
          </a:p>
        </p:txBody>
      </p:sp>
      <p:sp>
        <p:nvSpPr>
          <p:cNvPr id="7" name="Text 5"/>
          <p:cNvSpPr/>
          <p:nvPr/>
        </p:nvSpPr>
        <p:spPr>
          <a:xfrm>
            <a:off x="731520" y="2231136"/>
            <a:ext cx="5120640" cy="237744"/>
          </a:xfrm>
          <a:prstGeom prst="rect">
            <a:avLst/>
          </a:prstGeom>
          <a:noFill/>
          <a:ln/>
        </p:spPr>
        <p:txBody>
          <a:bodyPr wrap="square" lIns="0" tIns="0" rIns="0" bIns="0" rtlCol="0" anchor="ctr"/>
          <a:lstStyle/>
          <a:p>
            <a:pPr indent="0" marL="0">
              <a:buNone/>
            </a:pPr>
            <a:r>
              <a:rPr lang="en-US" sz="1100" dirty="0">
                <a:solidFill>
                  <a:srgbClr val="6B7A77"/>
                </a:solidFill>
                <a:latin typeface="Calibri" pitchFamily="34" charset="0"/>
                <a:ea typeface="Calibri" pitchFamily="34" charset="-122"/>
                <a:cs typeface="Calibri" pitchFamily="34" charset="-120"/>
              </a:rPr>
              <a:t>JPS residential, your own yard</a:t>
            </a:r>
            <a:endParaRPr lang="en-US" sz="1100" dirty="0"/>
          </a:p>
        </p:txBody>
      </p:sp>
      <p:sp>
        <p:nvSpPr>
          <p:cNvPr id="8" name="Text 6"/>
          <p:cNvSpPr/>
          <p:nvPr/>
        </p:nvSpPr>
        <p:spPr>
          <a:xfrm>
            <a:off x="6035040" y="2048256"/>
            <a:ext cx="1828800" cy="365760"/>
          </a:xfrm>
          <a:prstGeom prst="rect">
            <a:avLst/>
          </a:prstGeom>
          <a:noFill/>
          <a:ln/>
        </p:spPr>
        <p:txBody>
          <a:bodyPr wrap="square" lIns="0" tIns="0" rIns="0" bIns="0" rtlCol="0" anchor="ctr"/>
          <a:lstStyle/>
          <a:p>
            <a:pPr algn="r" indent="0" marL="0">
              <a:buNone/>
            </a:pPr>
            <a:r>
              <a:rPr lang="en-US" sz="1900" b="1" dirty="0">
                <a:solidFill>
                  <a:srgbClr val="1A9E75"/>
                </a:solidFill>
                <a:latin typeface="Calibri" pitchFamily="34" charset="0"/>
                <a:ea typeface="Calibri" pitchFamily="34" charset="-122"/>
                <a:cs typeface="Calibri" pitchFamily="34" charset="-120"/>
              </a:rPr>
              <a:t>J$42</a:t>
            </a:r>
            <a:endParaRPr lang="en-US" sz="1900" dirty="0"/>
          </a:p>
        </p:txBody>
      </p:sp>
      <p:sp>
        <p:nvSpPr>
          <p:cNvPr id="9" name="Text 7"/>
          <p:cNvSpPr/>
          <p:nvPr/>
        </p:nvSpPr>
        <p:spPr>
          <a:xfrm>
            <a:off x="7955280" y="2139696"/>
            <a:ext cx="1097280" cy="219456"/>
          </a:xfrm>
          <a:prstGeom prst="rect">
            <a:avLst/>
          </a:prstGeom>
          <a:noFill/>
          <a:ln/>
        </p:spPr>
        <p:txBody>
          <a:bodyPr wrap="square" lIns="0" tIns="0" rIns="0" bIns="0" rtlCol="0" anchor="ctr"/>
          <a:lstStyle/>
          <a:p>
            <a:pPr indent="0" marL="0">
              <a:buNone/>
            </a:pPr>
            <a:r>
              <a:rPr lang="en-US" sz="1000" dirty="0">
                <a:solidFill>
                  <a:srgbClr val="6B7A77"/>
                </a:solidFill>
                <a:latin typeface="Calibri" pitchFamily="34" charset="0"/>
                <a:ea typeface="Calibri" pitchFamily="34" charset="-122"/>
                <a:cs typeface="Calibri" pitchFamily="34" charset="-120"/>
              </a:rPr>
              <a:t>per kWh</a:t>
            </a:r>
            <a:endParaRPr lang="en-US" sz="1000" dirty="0"/>
          </a:p>
        </p:txBody>
      </p:sp>
      <p:sp>
        <p:nvSpPr>
          <p:cNvPr id="10" name="Text 8"/>
          <p:cNvSpPr/>
          <p:nvPr/>
        </p:nvSpPr>
        <p:spPr>
          <a:xfrm>
            <a:off x="9144000" y="2103120"/>
            <a:ext cx="2377440" cy="256032"/>
          </a:xfrm>
          <a:prstGeom prst="rect">
            <a:avLst/>
          </a:prstGeom>
          <a:noFill/>
          <a:ln/>
        </p:spPr>
        <p:txBody>
          <a:bodyPr wrap="square" lIns="0" tIns="0" rIns="0" bIns="0" rtlCol="0" anchor="ctr"/>
          <a:lstStyle/>
          <a:p>
            <a:pPr algn="r" indent="0" marL="0">
              <a:buNone/>
            </a:pPr>
            <a:r>
              <a:rPr lang="en-US" sz="1100" i="1" dirty="0">
                <a:solidFill>
                  <a:srgbClr val="1A9E75"/>
                </a:solidFill>
                <a:latin typeface="Calibri" pitchFamily="34" charset="0"/>
                <a:ea typeface="Calibri" pitchFamily="34" charset="-122"/>
                <a:cs typeface="Calibri" pitchFamily="34" charset="-120"/>
              </a:rPr>
              <a:t>Cheapest of all</a:t>
            </a:r>
            <a:endParaRPr lang="en-US" sz="1100" dirty="0"/>
          </a:p>
        </p:txBody>
      </p:sp>
      <p:sp>
        <p:nvSpPr>
          <p:cNvPr id="11" name="Shape 9"/>
          <p:cNvSpPr/>
          <p:nvPr/>
        </p:nvSpPr>
        <p:spPr>
          <a:xfrm>
            <a:off x="502920" y="2633472"/>
            <a:ext cx="11183112" cy="621792"/>
          </a:xfrm>
          <a:prstGeom prst="roundRect">
            <a:avLst>
              <a:gd name="adj" fmla="val 8824"/>
            </a:avLst>
          </a:prstGeom>
          <a:solidFill>
            <a:srgbClr val="F1F6F4"/>
          </a:solidFill>
          <a:ln w="12700">
            <a:solidFill>
              <a:srgbClr val="D8E3E0"/>
            </a:solidFill>
            <a:prstDash val="solid"/>
          </a:ln>
        </p:spPr>
        <p:txBody>
          <a:bodyPr/>
          <a:p/>
        </p:txBody>
      </p:sp>
      <p:sp>
        <p:nvSpPr>
          <p:cNvPr id="12" name="Text 10"/>
          <p:cNvSpPr/>
          <p:nvPr/>
        </p:nvSpPr>
        <p:spPr>
          <a:xfrm>
            <a:off x="731520" y="2688336"/>
            <a:ext cx="2468880" cy="256032"/>
          </a:xfrm>
          <a:prstGeom prst="rect">
            <a:avLst/>
          </a:prstGeom>
          <a:noFill/>
          <a:ln/>
        </p:spPr>
        <p:txBody>
          <a:bodyPr wrap="square" lIns="0" tIns="0" rIns="0" bIns="0" rtlCol="0" anchor="ctr"/>
          <a:lstStyle/>
          <a:p>
            <a:pPr indent="0" marL="0">
              <a:buNone/>
            </a:pPr>
            <a:r>
              <a:rPr lang="en-US" sz="1400" b="1" dirty="0">
                <a:solidFill>
                  <a:srgbClr val="1A9E75"/>
                </a:solidFill>
                <a:latin typeface="Calibri" pitchFamily="34" charset="0"/>
                <a:ea typeface="Calibri" pitchFamily="34" charset="-122"/>
                <a:cs typeface="Calibri" pitchFamily="34" charset="-120"/>
              </a:rPr>
              <a:t>JPS overnight</a:t>
            </a:r>
            <a:endParaRPr lang="en-US" sz="1400" dirty="0"/>
          </a:p>
        </p:txBody>
      </p:sp>
      <p:sp>
        <p:nvSpPr>
          <p:cNvPr id="13" name="Text 11"/>
          <p:cNvSpPr/>
          <p:nvPr/>
        </p:nvSpPr>
        <p:spPr>
          <a:xfrm>
            <a:off x="731520" y="2944368"/>
            <a:ext cx="5120640" cy="237744"/>
          </a:xfrm>
          <a:prstGeom prst="rect">
            <a:avLst/>
          </a:prstGeom>
          <a:noFill/>
          <a:ln/>
        </p:spPr>
        <p:txBody>
          <a:bodyPr wrap="square" lIns="0" tIns="0" rIns="0" bIns="0" rtlCol="0" anchor="ctr"/>
          <a:lstStyle/>
          <a:p>
            <a:pPr indent="0" marL="0">
              <a:buNone/>
            </a:pPr>
            <a:r>
              <a:rPr lang="en-US" sz="1100" dirty="0">
                <a:solidFill>
                  <a:srgbClr val="6B7A77"/>
                </a:solidFill>
                <a:latin typeface="Calibri" pitchFamily="34" charset="0"/>
                <a:ea typeface="Calibri" pitchFamily="34" charset="-122"/>
                <a:cs typeface="Calibri" pitchFamily="34" charset="-120"/>
              </a:rPr>
              <a:t>Weeknights 10pm to 6am, most of the weekend</a:t>
            </a:r>
            <a:endParaRPr lang="en-US" sz="1100" dirty="0"/>
          </a:p>
        </p:txBody>
      </p:sp>
      <p:sp>
        <p:nvSpPr>
          <p:cNvPr id="14" name="Text 12"/>
          <p:cNvSpPr/>
          <p:nvPr/>
        </p:nvSpPr>
        <p:spPr>
          <a:xfrm>
            <a:off x="6035040" y="2761488"/>
            <a:ext cx="1828800" cy="365760"/>
          </a:xfrm>
          <a:prstGeom prst="rect">
            <a:avLst/>
          </a:prstGeom>
          <a:noFill/>
          <a:ln/>
        </p:spPr>
        <p:txBody>
          <a:bodyPr wrap="square" lIns="0" tIns="0" rIns="0" bIns="0" rtlCol="0" anchor="ctr"/>
          <a:lstStyle/>
          <a:p>
            <a:pPr algn="r" indent="0" marL="0">
              <a:buNone/>
            </a:pPr>
            <a:r>
              <a:rPr lang="en-US" sz="1900" b="1" dirty="0">
                <a:solidFill>
                  <a:srgbClr val="1A9E75"/>
                </a:solidFill>
                <a:latin typeface="Calibri" pitchFamily="34" charset="0"/>
                <a:ea typeface="Calibri" pitchFamily="34" charset="-122"/>
                <a:cs typeface="Calibri" pitchFamily="34" charset="-120"/>
              </a:rPr>
              <a:t>J$50.11</a:t>
            </a:r>
            <a:endParaRPr lang="en-US" sz="1900" dirty="0"/>
          </a:p>
        </p:txBody>
      </p:sp>
      <p:sp>
        <p:nvSpPr>
          <p:cNvPr id="15" name="Text 13"/>
          <p:cNvSpPr/>
          <p:nvPr/>
        </p:nvSpPr>
        <p:spPr>
          <a:xfrm>
            <a:off x="7955280" y="2852928"/>
            <a:ext cx="1097280" cy="219456"/>
          </a:xfrm>
          <a:prstGeom prst="rect">
            <a:avLst/>
          </a:prstGeom>
          <a:noFill/>
          <a:ln/>
        </p:spPr>
        <p:txBody>
          <a:bodyPr wrap="square" lIns="0" tIns="0" rIns="0" bIns="0" rtlCol="0" anchor="ctr"/>
          <a:lstStyle/>
          <a:p>
            <a:pPr indent="0" marL="0">
              <a:buNone/>
            </a:pPr>
            <a:r>
              <a:rPr lang="en-US" sz="1000" dirty="0">
                <a:solidFill>
                  <a:srgbClr val="6B7A77"/>
                </a:solidFill>
                <a:latin typeface="Calibri" pitchFamily="34" charset="0"/>
                <a:ea typeface="Calibri" pitchFamily="34" charset="-122"/>
                <a:cs typeface="Calibri" pitchFamily="34" charset="-120"/>
              </a:rPr>
              <a:t>per kWh</a:t>
            </a:r>
            <a:endParaRPr lang="en-US" sz="1000" dirty="0"/>
          </a:p>
        </p:txBody>
      </p:sp>
      <p:sp>
        <p:nvSpPr>
          <p:cNvPr id="16" name="Text 14"/>
          <p:cNvSpPr/>
          <p:nvPr/>
        </p:nvSpPr>
        <p:spPr>
          <a:xfrm>
            <a:off x="9144000" y="2816352"/>
            <a:ext cx="2377440" cy="256032"/>
          </a:xfrm>
          <a:prstGeom prst="rect">
            <a:avLst/>
          </a:prstGeom>
          <a:noFill/>
          <a:ln/>
        </p:spPr>
        <p:txBody>
          <a:bodyPr wrap="square" lIns="0" tIns="0" rIns="0" bIns="0" rtlCol="0" anchor="ctr"/>
          <a:lstStyle/>
          <a:p>
            <a:pPr algn="r" indent="0" marL="0">
              <a:buNone/>
            </a:pPr>
            <a:r>
              <a:rPr lang="en-US" sz="1100" i="1" dirty="0">
                <a:solidFill>
                  <a:srgbClr val="1A9E75"/>
                </a:solidFill>
                <a:latin typeface="Calibri" pitchFamily="34" charset="0"/>
                <a:ea typeface="Calibri" pitchFamily="34" charset="-122"/>
                <a:cs typeface="Calibri" pitchFamily="34" charset="-120"/>
              </a:rPr>
              <a:t>Cheapest public option</a:t>
            </a:r>
            <a:endParaRPr lang="en-US" sz="1100" dirty="0"/>
          </a:p>
        </p:txBody>
      </p:sp>
      <p:sp>
        <p:nvSpPr>
          <p:cNvPr id="17" name="Shape 15"/>
          <p:cNvSpPr/>
          <p:nvPr/>
        </p:nvSpPr>
        <p:spPr>
          <a:xfrm>
            <a:off x="502920" y="3346704"/>
            <a:ext cx="11183112" cy="621792"/>
          </a:xfrm>
          <a:prstGeom prst="roundRect">
            <a:avLst>
              <a:gd name="adj" fmla="val 8824"/>
            </a:avLst>
          </a:prstGeom>
          <a:solidFill>
            <a:srgbClr val="F1F6F4"/>
          </a:solidFill>
          <a:ln w="12700">
            <a:solidFill>
              <a:srgbClr val="D8E3E0"/>
            </a:solidFill>
            <a:prstDash val="solid"/>
          </a:ln>
        </p:spPr>
        <p:txBody>
          <a:bodyPr/>
          <a:p/>
        </p:txBody>
      </p:sp>
      <p:sp>
        <p:nvSpPr>
          <p:cNvPr id="18" name="Text 16"/>
          <p:cNvSpPr/>
          <p:nvPr/>
        </p:nvSpPr>
        <p:spPr>
          <a:xfrm>
            <a:off x="731520" y="3401568"/>
            <a:ext cx="2468880" cy="256032"/>
          </a:xfrm>
          <a:prstGeom prst="rect">
            <a:avLst/>
          </a:prstGeom>
          <a:noFill/>
          <a:ln/>
        </p:spPr>
        <p:txBody>
          <a:bodyPr wrap="square" lIns="0" tIns="0" rIns="0" bIns="0" rtlCol="0" anchor="ctr"/>
          <a:lstStyle/>
          <a:p>
            <a:pPr indent="0" marL="0">
              <a:buNone/>
            </a:pPr>
            <a:r>
              <a:rPr lang="en-US" sz="1400" b="1" dirty="0">
                <a:solidFill>
                  <a:srgbClr val="1A7A6E"/>
                </a:solidFill>
                <a:latin typeface="Calibri" pitchFamily="34" charset="0"/>
                <a:ea typeface="Calibri" pitchFamily="34" charset="-122"/>
                <a:cs typeface="Calibri" pitchFamily="34" charset="-120"/>
              </a:rPr>
              <a:t>JPS daytime</a:t>
            </a:r>
            <a:endParaRPr lang="en-US" sz="1400" dirty="0"/>
          </a:p>
        </p:txBody>
      </p:sp>
      <p:sp>
        <p:nvSpPr>
          <p:cNvPr id="19" name="Text 17"/>
          <p:cNvSpPr/>
          <p:nvPr/>
        </p:nvSpPr>
        <p:spPr>
          <a:xfrm>
            <a:off x="731520" y="3657600"/>
            <a:ext cx="5120640" cy="237744"/>
          </a:xfrm>
          <a:prstGeom prst="rect">
            <a:avLst/>
          </a:prstGeom>
          <a:noFill/>
          <a:ln/>
        </p:spPr>
        <p:txBody>
          <a:bodyPr wrap="square" lIns="0" tIns="0" rIns="0" bIns="0" rtlCol="0" anchor="ctr"/>
          <a:lstStyle/>
          <a:p>
            <a:pPr indent="0" marL="0">
              <a:buNone/>
            </a:pPr>
            <a:r>
              <a:rPr lang="en-US" sz="1100" dirty="0">
                <a:solidFill>
                  <a:srgbClr val="6B7A77"/>
                </a:solidFill>
                <a:latin typeface="Calibri" pitchFamily="34" charset="0"/>
                <a:ea typeface="Calibri" pitchFamily="34" charset="-122"/>
                <a:cs typeface="Calibri" pitchFamily="34" charset="-120"/>
              </a:rPr>
              <a:t>Weekdays 6am to 6pm</a:t>
            </a:r>
            <a:endParaRPr lang="en-US" sz="1100" dirty="0"/>
          </a:p>
        </p:txBody>
      </p:sp>
      <p:sp>
        <p:nvSpPr>
          <p:cNvPr id="20" name="Text 18"/>
          <p:cNvSpPr/>
          <p:nvPr/>
        </p:nvSpPr>
        <p:spPr>
          <a:xfrm>
            <a:off x="6035040" y="3474720"/>
            <a:ext cx="1828800" cy="365760"/>
          </a:xfrm>
          <a:prstGeom prst="rect">
            <a:avLst/>
          </a:prstGeom>
          <a:noFill/>
          <a:ln/>
        </p:spPr>
        <p:txBody>
          <a:bodyPr wrap="square" lIns="0" tIns="0" rIns="0" bIns="0" rtlCol="0" anchor="ctr"/>
          <a:lstStyle/>
          <a:p>
            <a:pPr algn="r" indent="0" marL="0">
              <a:buNone/>
            </a:pPr>
            <a:r>
              <a:rPr lang="en-US" sz="1900" b="1" dirty="0">
                <a:solidFill>
                  <a:srgbClr val="1A7A6E"/>
                </a:solidFill>
                <a:latin typeface="Calibri" pitchFamily="34" charset="0"/>
                <a:ea typeface="Calibri" pitchFamily="34" charset="-122"/>
                <a:cs typeface="Calibri" pitchFamily="34" charset="-120"/>
              </a:rPr>
              <a:t>J$61.33</a:t>
            </a:r>
            <a:endParaRPr lang="en-US" sz="1900" dirty="0"/>
          </a:p>
        </p:txBody>
      </p:sp>
      <p:sp>
        <p:nvSpPr>
          <p:cNvPr id="21" name="Text 19"/>
          <p:cNvSpPr/>
          <p:nvPr/>
        </p:nvSpPr>
        <p:spPr>
          <a:xfrm>
            <a:off x="7955280" y="3566160"/>
            <a:ext cx="1097280" cy="219456"/>
          </a:xfrm>
          <a:prstGeom prst="rect">
            <a:avLst/>
          </a:prstGeom>
          <a:noFill/>
          <a:ln/>
        </p:spPr>
        <p:txBody>
          <a:bodyPr wrap="square" lIns="0" tIns="0" rIns="0" bIns="0" rtlCol="0" anchor="ctr"/>
          <a:lstStyle/>
          <a:p>
            <a:pPr indent="0" marL="0">
              <a:buNone/>
            </a:pPr>
            <a:r>
              <a:rPr lang="en-US" sz="1000" dirty="0">
                <a:solidFill>
                  <a:srgbClr val="6B7A77"/>
                </a:solidFill>
                <a:latin typeface="Calibri" pitchFamily="34" charset="0"/>
                <a:ea typeface="Calibri" pitchFamily="34" charset="-122"/>
                <a:cs typeface="Calibri" pitchFamily="34" charset="-120"/>
              </a:rPr>
              <a:t>per kWh</a:t>
            </a:r>
            <a:endParaRPr lang="en-US" sz="1000" dirty="0"/>
          </a:p>
        </p:txBody>
      </p:sp>
      <p:sp>
        <p:nvSpPr>
          <p:cNvPr id="22" name="Shape 20"/>
          <p:cNvSpPr/>
          <p:nvPr/>
        </p:nvSpPr>
        <p:spPr>
          <a:xfrm>
            <a:off x="502920" y="4059936"/>
            <a:ext cx="11183112" cy="621792"/>
          </a:xfrm>
          <a:prstGeom prst="roundRect">
            <a:avLst>
              <a:gd name="adj" fmla="val 8824"/>
            </a:avLst>
          </a:prstGeom>
          <a:solidFill>
            <a:srgbClr val="F1F6F4"/>
          </a:solidFill>
          <a:ln w="12700">
            <a:solidFill>
              <a:srgbClr val="D8E3E0"/>
            </a:solidFill>
            <a:prstDash val="solid"/>
          </a:ln>
        </p:spPr>
        <p:txBody>
          <a:bodyPr/>
          <a:p/>
        </p:txBody>
      </p:sp>
      <p:sp>
        <p:nvSpPr>
          <p:cNvPr id="23" name="Text 21"/>
          <p:cNvSpPr/>
          <p:nvPr/>
        </p:nvSpPr>
        <p:spPr>
          <a:xfrm>
            <a:off x="731520" y="4114800"/>
            <a:ext cx="2468880" cy="256032"/>
          </a:xfrm>
          <a:prstGeom prst="rect">
            <a:avLst/>
          </a:prstGeom>
          <a:noFill/>
          <a:ln/>
        </p:spPr>
        <p:txBody>
          <a:bodyPr wrap="square" lIns="0" tIns="0" rIns="0" bIns="0" rtlCol="0" anchor="ctr"/>
          <a:lstStyle/>
          <a:p>
            <a:pPr indent="0" marL="0">
              <a:buNone/>
            </a:pPr>
            <a:r>
              <a:rPr lang="en-US" sz="1400" b="1" dirty="0">
                <a:solidFill>
                  <a:srgbClr val="1F3864"/>
                </a:solidFill>
                <a:latin typeface="Calibri" pitchFamily="34" charset="0"/>
                <a:ea typeface="Calibri" pitchFamily="34" charset="-122"/>
                <a:cs typeface="Calibri" pitchFamily="34" charset="-120"/>
              </a:rPr>
              <a:t>Evergo</a:t>
            </a:r>
            <a:endParaRPr lang="en-US" sz="1400" dirty="0"/>
          </a:p>
        </p:txBody>
      </p:sp>
      <p:sp>
        <p:nvSpPr>
          <p:cNvPr id="24" name="Text 22"/>
          <p:cNvSpPr/>
          <p:nvPr/>
        </p:nvSpPr>
        <p:spPr>
          <a:xfrm>
            <a:off x="731520" y="4370832"/>
            <a:ext cx="5120640" cy="237744"/>
          </a:xfrm>
          <a:prstGeom prst="rect">
            <a:avLst/>
          </a:prstGeom>
          <a:noFill/>
          <a:ln/>
        </p:spPr>
        <p:txBody>
          <a:bodyPr wrap="square" lIns="0" tIns="0" rIns="0" bIns="0" rtlCol="0" anchor="ctr"/>
          <a:lstStyle/>
          <a:p>
            <a:pPr indent="0" marL="0">
              <a:buNone/>
            </a:pPr>
            <a:r>
              <a:rPr lang="en-US" sz="1100" dirty="0">
                <a:solidFill>
                  <a:srgbClr val="6B7A77"/>
                </a:solidFill>
                <a:latin typeface="Calibri" pitchFamily="34" charset="0"/>
                <a:ea typeface="Calibri" pitchFamily="34" charset="-122"/>
                <a:cs typeface="Calibri" pitchFamily="34" charset="-120"/>
              </a:rPr>
              <a:t>Any hour, any charger, any level</a:t>
            </a:r>
            <a:endParaRPr lang="en-US" sz="1100" dirty="0"/>
          </a:p>
        </p:txBody>
      </p:sp>
      <p:sp>
        <p:nvSpPr>
          <p:cNvPr id="25" name="Text 23"/>
          <p:cNvSpPr/>
          <p:nvPr/>
        </p:nvSpPr>
        <p:spPr>
          <a:xfrm>
            <a:off x="6035040" y="4187952"/>
            <a:ext cx="1828800" cy="365760"/>
          </a:xfrm>
          <a:prstGeom prst="rect">
            <a:avLst/>
          </a:prstGeom>
          <a:noFill/>
          <a:ln/>
        </p:spPr>
        <p:txBody>
          <a:bodyPr wrap="square" lIns="0" tIns="0" rIns="0" bIns="0" rtlCol="0" anchor="ctr"/>
          <a:lstStyle/>
          <a:p>
            <a:pPr algn="r" indent="0" marL="0">
              <a:buNone/>
            </a:pPr>
            <a:r>
              <a:rPr lang="en-US" sz="1900" b="1" dirty="0">
                <a:solidFill>
                  <a:srgbClr val="1F3864"/>
                </a:solidFill>
                <a:latin typeface="Calibri" pitchFamily="34" charset="0"/>
                <a:ea typeface="Calibri" pitchFamily="34" charset="-122"/>
                <a:cs typeface="Calibri" pitchFamily="34" charset="-120"/>
              </a:rPr>
              <a:t>J$96.00</a:t>
            </a:r>
            <a:endParaRPr lang="en-US" sz="1900" dirty="0"/>
          </a:p>
        </p:txBody>
      </p:sp>
      <p:sp>
        <p:nvSpPr>
          <p:cNvPr id="26" name="Text 24"/>
          <p:cNvSpPr/>
          <p:nvPr/>
        </p:nvSpPr>
        <p:spPr>
          <a:xfrm>
            <a:off x="7955280" y="4279392"/>
            <a:ext cx="1097280" cy="219456"/>
          </a:xfrm>
          <a:prstGeom prst="rect">
            <a:avLst/>
          </a:prstGeom>
          <a:noFill/>
          <a:ln/>
        </p:spPr>
        <p:txBody>
          <a:bodyPr wrap="square" lIns="0" tIns="0" rIns="0" bIns="0" rtlCol="0" anchor="ctr"/>
          <a:lstStyle/>
          <a:p>
            <a:pPr indent="0" marL="0">
              <a:buNone/>
            </a:pPr>
            <a:r>
              <a:rPr lang="en-US" sz="1000" dirty="0">
                <a:solidFill>
                  <a:srgbClr val="6B7A77"/>
                </a:solidFill>
                <a:latin typeface="Calibri" pitchFamily="34" charset="0"/>
                <a:ea typeface="Calibri" pitchFamily="34" charset="-122"/>
                <a:cs typeface="Calibri" pitchFamily="34" charset="-120"/>
              </a:rPr>
              <a:t>per kWh</a:t>
            </a:r>
            <a:endParaRPr lang="en-US" sz="1000" dirty="0"/>
          </a:p>
        </p:txBody>
      </p:sp>
      <p:sp>
        <p:nvSpPr>
          <p:cNvPr id="27" name="Text 25"/>
          <p:cNvSpPr/>
          <p:nvPr/>
        </p:nvSpPr>
        <p:spPr>
          <a:xfrm>
            <a:off x="9144000" y="4242816"/>
            <a:ext cx="2377440" cy="256032"/>
          </a:xfrm>
          <a:prstGeom prst="rect">
            <a:avLst/>
          </a:prstGeom>
          <a:noFill/>
          <a:ln/>
        </p:spPr>
        <p:txBody>
          <a:bodyPr wrap="square" lIns="0" tIns="0" rIns="0" bIns="0" rtlCol="0" anchor="ctr"/>
          <a:lstStyle/>
          <a:p>
            <a:pPr algn="r" indent="0" marL="0">
              <a:buNone/>
            </a:pPr>
            <a:r>
              <a:rPr lang="en-US" sz="1100" i="1" dirty="0">
                <a:solidFill>
                  <a:srgbClr val="1F3864"/>
                </a:solidFill>
                <a:latin typeface="Calibri" pitchFamily="34" charset="0"/>
                <a:ea typeface="Calibri" pitchFamily="34" charset="-122"/>
                <a:cs typeface="Calibri" pitchFamily="34" charset="-120"/>
              </a:rPr>
              <a:t>Flat rate</a:t>
            </a:r>
            <a:endParaRPr lang="en-US" sz="1100" dirty="0"/>
          </a:p>
        </p:txBody>
      </p:sp>
      <p:sp>
        <p:nvSpPr>
          <p:cNvPr id="28" name="Shape 26"/>
          <p:cNvSpPr/>
          <p:nvPr/>
        </p:nvSpPr>
        <p:spPr>
          <a:xfrm>
            <a:off x="502920" y="4773168"/>
            <a:ext cx="11183112" cy="621792"/>
          </a:xfrm>
          <a:prstGeom prst="roundRect">
            <a:avLst>
              <a:gd name="adj" fmla="val 8824"/>
            </a:avLst>
          </a:prstGeom>
          <a:solidFill>
            <a:srgbClr val="F1F6F4"/>
          </a:solidFill>
          <a:ln w="12700">
            <a:solidFill>
              <a:srgbClr val="D8E3E0"/>
            </a:solidFill>
            <a:prstDash val="solid"/>
          </a:ln>
        </p:spPr>
        <p:txBody>
          <a:bodyPr/>
          <a:p/>
        </p:txBody>
      </p:sp>
      <p:sp>
        <p:nvSpPr>
          <p:cNvPr id="29" name="Text 27"/>
          <p:cNvSpPr/>
          <p:nvPr/>
        </p:nvSpPr>
        <p:spPr>
          <a:xfrm>
            <a:off x="731520" y="4828032"/>
            <a:ext cx="2468880" cy="256032"/>
          </a:xfrm>
          <a:prstGeom prst="rect">
            <a:avLst/>
          </a:prstGeom>
          <a:noFill/>
          <a:ln/>
        </p:spPr>
        <p:txBody>
          <a:bodyPr wrap="square" lIns="0" tIns="0" rIns="0" bIns="0" rtlCol="0" anchor="ctr"/>
          <a:lstStyle/>
          <a:p>
            <a:pPr indent="0" marL="0">
              <a:buNone/>
            </a:pPr>
            <a:r>
              <a:rPr lang="en-US" sz="1400" b="1" dirty="0">
                <a:solidFill>
                  <a:srgbClr val="C55A11"/>
                </a:solidFill>
                <a:latin typeface="Calibri" pitchFamily="34" charset="0"/>
                <a:ea typeface="Calibri" pitchFamily="34" charset="-122"/>
                <a:cs typeface="Calibri" pitchFamily="34" charset="-120"/>
              </a:rPr>
              <a:t>JPS evening peak</a:t>
            </a:r>
            <a:endParaRPr lang="en-US" sz="1400" dirty="0"/>
          </a:p>
        </p:txBody>
      </p:sp>
      <p:sp>
        <p:nvSpPr>
          <p:cNvPr id="30" name="Text 28"/>
          <p:cNvSpPr/>
          <p:nvPr/>
        </p:nvSpPr>
        <p:spPr>
          <a:xfrm>
            <a:off x="731520" y="5084064"/>
            <a:ext cx="5120640" cy="237744"/>
          </a:xfrm>
          <a:prstGeom prst="rect">
            <a:avLst/>
          </a:prstGeom>
          <a:noFill/>
          <a:ln/>
        </p:spPr>
        <p:txBody>
          <a:bodyPr wrap="square" lIns="0" tIns="0" rIns="0" bIns="0" rtlCol="0" anchor="ctr"/>
          <a:lstStyle/>
          <a:p>
            <a:pPr indent="0" marL="0">
              <a:buNone/>
            </a:pPr>
            <a:r>
              <a:rPr lang="en-US" sz="1100" dirty="0">
                <a:solidFill>
                  <a:srgbClr val="6B7A77"/>
                </a:solidFill>
                <a:latin typeface="Calibri" pitchFamily="34" charset="0"/>
                <a:ea typeface="Calibri" pitchFamily="34" charset="-122"/>
                <a:cs typeface="Calibri" pitchFamily="34" charset="-120"/>
              </a:rPr>
              <a:t>Weekdays 6pm to 10pm</a:t>
            </a:r>
            <a:endParaRPr lang="en-US" sz="1100" dirty="0"/>
          </a:p>
        </p:txBody>
      </p:sp>
      <p:sp>
        <p:nvSpPr>
          <p:cNvPr id="31" name="Text 29"/>
          <p:cNvSpPr/>
          <p:nvPr/>
        </p:nvSpPr>
        <p:spPr>
          <a:xfrm>
            <a:off x="6035040" y="4901184"/>
            <a:ext cx="1828800" cy="365760"/>
          </a:xfrm>
          <a:prstGeom prst="rect">
            <a:avLst/>
          </a:prstGeom>
          <a:noFill/>
          <a:ln/>
        </p:spPr>
        <p:txBody>
          <a:bodyPr wrap="square" lIns="0" tIns="0" rIns="0" bIns="0" rtlCol="0" anchor="ctr"/>
          <a:lstStyle/>
          <a:p>
            <a:pPr algn="r" indent="0" marL="0">
              <a:buNone/>
            </a:pPr>
            <a:r>
              <a:rPr lang="en-US" sz="1900" b="1" dirty="0">
                <a:solidFill>
                  <a:srgbClr val="C55A11"/>
                </a:solidFill>
                <a:latin typeface="Calibri" pitchFamily="34" charset="0"/>
                <a:ea typeface="Calibri" pitchFamily="34" charset="-122"/>
                <a:cs typeface="Calibri" pitchFamily="34" charset="-120"/>
              </a:rPr>
              <a:t>J$130.63</a:t>
            </a:r>
            <a:endParaRPr lang="en-US" sz="1900" dirty="0"/>
          </a:p>
        </p:txBody>
      </p:sp>
      <p:sp>
        <p:nvSpPr>
          <p:cNvPr id="32" name="Text 30"/>
          <p:cNvSpPr/>
          <p:nvPr/>
        </p:nvSpPr>
        <p:spPr>
          <a:xfrm>
            <a:off x="7955280" y="4992624"/>
            <a:ext cx="1097280" cy="219456"/>
          </a:xfrm>
          <a:prstGeom prst="rect">
            <a:avLst/>
          </a:prstGeom>
          <a:noFill/>
          <a:ln/>
        </p:spPr>
        <p:txBody>
          <a:bodyPr wrap="square" lIns="0" tIns="0" rIns="0" bIns="0" rtlCol="0" anchor="ctr"/>
          <a:lstStyle/>
          <a:p>
            <a:pPr indent="0" marL="0">
              <a:buNone/>
            </a:pPr>
            <a:r>
              <a:rPr lang="en-US" sz="1000" dirty="0">
                <a:solidFill>
                  <a:srgbClr val="6B7A77"/>
                </a:solidFill>
                <a:latin typeface="Calibri" pitchFamily="34" charset="0"/>
                <a:ea typeface="Calibri" pitchFamily="34" charset="-122"/>
                <a:cs typeface="Calibri" pitchFamily="34" charset="-120"/>
              </a:rPr>
              <a:t>per kWh</a:t>
            </a:r>
            <a:endParaRPr lang="en-US" sz="1000" dirty="0"/>
          </a:p>
        </p:txBody>
      </p:sp>
      <p:sp>
        <p:nvSpPr>
          <p:cNvPr id="33" name="Text 31"/>
          <p:cNvSpPr/>
          <p:nvPr/>
        </p:nvSpPr>
        <p:spPr>
          <a:xfrm>
            <a:off x="9144000" y="4956048"/>
            <a:ext cx="2377440" cy="256032"/>
          </a:xfrm>
          <a:prstGeom prst="rect">
            <a:avLst/>
          </a:prstGeom>
          <a:noFill/>
          <a:ln/>
        </p:spPr>
        <p:txBody>
          <a:bodyPr wrap="square" lIns="0" tIns="0" rIns="0" bIns="0" rtlCol="0" anchor="ctr"/>
          <a:lstStyle/>
          <a:p>
            <a:pPr algn="r" indent="0" marL="0">
              <a:buNone/>
            </a:pPr>
            <a:r>
              <a:rPr lang="en-US" sz="1100" i="1" dirty="0">
                <a:solidFill>
                  <a:srgbClr val="C55A11"/>
                </a:solidFill>
                <a:latin typeface="Calibri" pitchFamily="34" charset="0"/>
                <a:ea typeface="Calibri" pitchFamily="34" charset="-122"/>
                <a:cs typeface="Calibri" pitchFamily="34" charset="-120"/>
              </a:rPr>
              <a:t>Most expensive</a:t>
            </a:r>
            <a:endParaRPr lang="en-US" sz="1100" dirty="0"/>
          </a:p>
        </p:txBody>
      </p:sp>
      <p:sp>
        <p:nvSpPr>
          <p:cNvPr id="34" name="Shape 32"/>
          <p:cNvSpPr/>
          <p:nvPr/>
        </p:nvSpPr>
        <p:spPr>
          <a:xfrm>
            <a:off x="502920" y="5577840"/>
            <a:ext cx="11183112" cy="658368"/>
          </a:xfrm>
          <a:prstGeom prst="roundRect">
            <a:avLst>
              <a:gd name="adj" fmla="val 8333"/>
            </a:avLst>
          </a:prstGeom>
          <a:solidFill>
            <a:srgbClr val="F1F6F4"/>
          </a:solidFill>
          <a:ln w="12700">
            <a:solidFill>
              <a:srgbClr val="D8E3E0"/>
            </a:solidFill>
            <a:prstDash val="solid"/>
          </a:ln>
        </p:spPr>
        <p:txBody>
          <a:bodyPr/>
          <a:p/>
        </p:txBody>
      </p:sp>
      <p:sp>
        <p:nvSpPr>
          <p:cNvPr id="35" name="Shape 33"/>
          <p:cNvSpPr/>
          <p:nvPr/>
        </p:nvSpPr>
        <p:spPr>
          <a:xfrm>
            <a:off x="685800" y="5751576"/>
            <a:ext cx="310896" cy="310896"/>
          </a:xfrm>
          <a:prstGeom prst="ellipse">
            <a:avLst/>
          </a:prstGeom>
          <a:solidFill>
            <a:srgbClr val="1A9E75"/>
          </a:solidFill>
          <a:ln w="12700">
            <a:solidFill>
              <a:srgbClr val="1A9E75"/>
            </a:solidFill>
            <a:prstDash val="solid"/>
          </a:ln>
        </p:spPr>
        <p:txBody>
          <a:bodyPr/>
          <a:p/>
        </p:txBody>
      </p:sp>
      <p:sp>
        <p:nvSpPr>
          <p:cNvPr id="36" name="Text 34"/>
          <p:cNvSpPr/>
          <p:nvPr/>
        </p:nvSpPr>
        <p:spPr>
          <a:xfrm>
            <a:off x="685800" y="57515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37" name="Text 35"/>
          <p:cNvSpPr/>
          <p:nvPr/>
        </p:nvSpPr>
        <p:spPr>
          <a:xfrm>
            <a:off x="1133856" y="5687568"/>
            <a:ext cx="10424160" cy="457200"/>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Worth knowing:  </a:t>
            </a:r>
            <a:pPr indent="0" marL="0">
              <a:buNone/>
            </a:pPr>
            <a:r>
              <a:rPr lang="en-US" sz="1100" dirty="0">
                <a:solidFill>
                  <a:srgbClr val="6B7A77"/>
                </a:solidFill>
                <a:latin typeface="Calibri" pitchFamily="34" charset="0"/>
                <a:ea typeface="Calibri" pitchFamily="34" charset="-122"/>
                <a:cs typeface="Calibri" pitchFamily="34" charset="-120"/>
              </a:rPr>
              <a:t>charging on JPS at 7pm costs 2.6 times what the same charge costs at 2am. If you can plug in overnight, do.</a:t>
            </a:r>
            <a:endParaRPr lang="en-US" sz="1100" dirty="0"/>
          </a:p>
        </p:txBody>
      </p:sp>
      <p:sp>
        <p:nvSpPr>
          <p:cNvPr id="38" name="Text 36"/>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Global settings</a:t>
            </a:r>
            <a:endParaRPr lang="en-US" sz="900" dirty="0"/>
          </a:p>
        </p:txBody>
      </p:sp>
      <p:sp>
        <p:nvSpPr>
          <p:cNvPr id="39" name="Text 37"/>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roundRect">
            <a:avLst>
              <a:gd name="adj" fmla="val 6667"/>
            </a:avLst>
          </a:prstGeom>
          <a:solidFill>
            <a:srgbClr val="1A9E75"/>
          </a:solidFill>
          <a:ln w="12700">
            <a:solidFill>
              <a:srgbClr val="1A9E75"/>
            </a:solidFill>
            <a:prstDash val="solid"/>
          </a:ln>
        </p:spPr>
        <p:txBody>
          <a:bodyPr/>
          <a:p/>
        </p:txBody>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6200" b="1" dirty="0">
                <a:solidFill>
                  <a:srgbClr val="0E2A24"/>
                </a:solidFill>
                <a:latin typeface="Cambria" pitchFamily="34" charset="0"/>
                <a:ea typeface="Cambria" pitchFamily="34" charset="-122"/>
                <a:cs typeface="Cambria" pitchFamily="34" charset="-120"/>
              </a:rPr>
              <a:t>1</a:t>
            </a:r>
            <a:endParaRPr lang="en-US" sz="6200" dirty="0"/>
          </a:p>
        </p:txBody>
      </p:sp>
      <p:sp>
        <p:nvSpPr>
          <p:cNvPr id="4" name="Text 2"/>
          <p:cNvSpPr/>
          <p:nvPr/>
        </p:nvSpPr>
        <p:spPr>
          <a:xfrm>
            <a:off x="2514600" y="2194560"/>
            <a:ext cx="8686800" cy="292608"/>
          </a:xfrm>
          <a:prstGeom prst="rect">
            <a:avLst/>
          </a:prstGeom>
          <a:noFill/>
          <a:ln/>
        </p:spPr>
        <p:txBody>
          <a:bodyPr wrap="square" lIns="0" tIns="0" rIns="0" bIns="0" rtlCol="0" anchor="ctr"/>
          <a:lstStyle/>
          <a:p>
            <a:pPr indent="0" marL="0">
              <a:buNone/>
            </a:pPr>
            <a:r>
              <a:rPr lang="en-US" sz="1200" b="1" spc="200" kern="0" dirty="0">
                <a:solidFill>
                  <a:srgbClr val="1A9E75"/>
                </a:solidFill>
                <a:latin typeface="Calibri" pitchFamily="34" charset="0"/>
                <a:ea typeface="Calibri" pitchFamily="34" charset="-122"/>
                <a:cs typeface="Calibri" pitchFamily="34" charset="-120"/>
              </a:rPr>
              <a:t>MODULE 1</a:t>
            </a:r>
            <a:endParaRPr lang="en-US" sz="1200" dirty="0"/>
          </a:p>
        </p:txBody>
      </p:sp>
      <p:sp>
        <p:nvSpPr>
          <p:cNvPr id="5" name="Text 3"/>
          <p:cNvSpPr/>
          <p:nvPr/>
        </p:nvSpPr>
        <p:spPr>
          <a:xfrm>
            <a:off x="2514600" y="2487168"/>
            <a:ext cx="90525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Fiscal Policy &amp; Duty Tracker</a:t>
            </a:r>
            <a:endParaRPr lang="en-US" sz="3400" dirty="0"/>
          </a:p>
        </p:txBody>
      </p:sp>
      <p:sp>
        <p:nvSpPr>
          <p:cNvPr id="6" name="Text 4"/>
          <p:cNvSpPr/>
          <p:nvPr/>
        </p:nvSpPr>
        <p:spPr>
          <a:xfrm>
            <a:off x="2514600" y="3154680"/>
            <a:ext cx="8778240" cy="457200"/>
          </a:xfrm>
          <a:prstGeom prst="rect">
            <a:avLst/>
          </a:prstGeom>
          <a:noFill/>
          <a:ln/>
        </p:spPr>
        <p:txBody>
          <a:bodyPr wrap="square" lIns="0" tIns="0" rIns="0" bIns="0" rtlCol="0" anchor="ctr"/>
          <a:lstStyle/>
          <a:p>
            <a:pPr indent="0" marL="0">
              <a:buNone/>
            </a:pPr>
            <a:r>
              <a:rPr lang="en-US" sz="1400" dirty="0">
                <a:solidFill>
                  <a:srgbClr val="B9CFC9"/>
                </a:solidFill>
                <a:latin typeface="Calibri" pitchFamily="34" charset="0"/>
                <a:ea typeface="Calibri" pitchFamily="34" charset="-122"/>
                <a:cs typeface="Calibri" pitchFamily="34" charset="-120"/>
              </a:rPr>
              <a:t>Where Jamaica's national EV policy stands against its own 2030 targets.</a:t>
            </a:r>
            <a:endParaRPr lang="en-US" sz="1400" dirty="0"/>
          </a:p>
        </p:txBody>
      </p:sp>
      <p:sp>
        <p:nvSpPr>
          <p:cNvPr id="7" name="Text 5"/>
          <p:cNvSpPr/>
          <p:nvPr/>
        </p:nvSpPr>
        <p:spPr>
          <a:xfrm>
            <a:off x="2542032" y="3794760"/>
            <a:ext cx="8686800" cy="365760"/>
          </a:xfrm>
          <a:prstGeom prst="rect">
            <a:avLst/>
          </a:prstGeom>
          <a:noFill/>
          <a:ln/>
        </p:spPr>
        <p:txBody>
          <a:bodyPr wrap="square" lIns="0" tIns="0" rIns="0" bIns="0" rtlCol="0" anchor="ctr"/>
          <a:lstStyle/>
          <a:p>
            <a:pPr indent="0" marL="0">
              <a:buNone/>
            </a:pPr>
            <a:r>
              <a:rPr lang="en-US" sz="1200" i="1" dirty="0">
                <a:solidFill>
                  <a:srgbClr val="8FB3AB"/>
                </a:solidFill>
                <a:latin typeface="Calibri" pitchFamily="34" charset="0"/>
                <a:ea typeface="Calibri" pitchFamily="34" charset="-122"/>
                <a:cs typeface="Calibri" pitchFamily="34" charset="-120"/>
              </a:rPr>
              <a:t>What it answers:  Is the country on track, and which commitments have slipped?</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1</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Reading the policy tracker</a:t>
            </a:r>
            <a:endParaRPr lang="en-US" sz="3200" dirty="0"/>
          </a:p>
        </p:txBody>
      </p:sp>
      <p:sp>
        <p:nvSpPr>
          <p:cNvPr id="4" name="Text 2"/>
          <p:cNvSpPr/>
          <p:nvPr/>
        </p:nvSpPr>
        <p:spPr>
          <a:xfrm>
            <a:off x="502920" y="1207008"/>
            <a:ext cx="11155680" cy="32004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There is nothing to fill in on this page. It is a read-only summary, so you only need to know how to read it.</a:t>
            </a:r>
            <a:endParaRPr lang="en-US" sz="1300" dirty="0"/>
          </a:p>
        </p:txBody>
      </p:sp>
      <p:sp>
        <p:nvSpPr>
          <p:cNvPr id="5" name="Shape 3"/>
          <p:cNvSpPr/>
          <p:nvPr/>
        </p:nvSpPr>
        <p:spPr>
          <a:xfrm>
            <a:off x="502920" y="1664208"/>
            <a:ext cx="292608" cy="292608"/>
          </a:xfrm>
          <a:prstGeom prst="ellipse">
            <a:avLst/>
          </a:prstGeom>
          <a:solidFill>
            <a:srgbClr val="1A7A6E"/>
          </a:solidFill>
          <a:ln w="12700">
            <a:solidFill>
              <a:srgbClr val="1A7A6E"/>
            </a:solidFill>
            <a:prstDash val="solid"/>
          </a:ln>
        </p:spPr>
        <p:txBody>
          <a:bodyPr/>
          <a:p/>
        </p:txBody>
      </p:sp>
      <p:sp>
        <p:nvSpPr>
          <p:cNvPr id="6" name="Text 4"/>
          <p:cNvSpPr/>
          <p:nvPr/>
        </p:nvSpPr>
        <p:spPr>
          <a:xfrm>
            <a:off x="502920" y="166420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932688" y="163677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Start with the status summary</a:t>
            </a:r>
            <a:endParaRPr lang="en-US" sz="1300" dirty="0"/>
          </a:p>
        </p:txBody>
      </p:sp>
      <p:sp>
        <p:nvSpPr>
          <p:cNvPr id="8" name="Text 6"/>
          <p:cNvSpPr/>
          <p:nvPr/>
        </p:nvSpPr>
        <p:spPr>
          <a:xfrm>
            <a:off x="932688" y="1865376"/>
            <a:ext cx="5056632" cy="690372"/>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 doughnut chart counts how many of the 26 policy commitments fall into each status. It is the fastest way to see the overall picture.</a:t>
            </a:r>
            <a:endParaRPr lang="en-US" sz="1150" dirty="0"/>
          </a:p>
        </p:txBody>
      </p:sp>
      <p:sp>
        <p:nvSpPr>
          <p:cNvPr id="9" name="Shape 7"/>
          <p:cNvSpPr/>
          <p:nvPr/>
        </p:nvSpPr>
        <p:spPr>
          <a:xfrm>
            <a:off x="502920" y="2610612"/>
            <a:ext cx="292608" cy="292608"/>
          </a:xfrm>
          <a:prstGeom prst="ellipse">
            <a:avLst/>
          </a:prstGeom>
          <a:solidFill>
            <a:srgbClr val="1A7A6E"/>
          </a:solidFill>
          <a:ln w="12700">
            <a:solidFill>
              <a:srgbClr val="1A7A6E"/>
            </a:solidFill>
            <a:prstDash val="solid"/>
          </a:ln>
        </p:spPr>
        <p:txBody>
          <a:bodyPr/>
          <a:p/>
        </p:txBody>
      </p:sp>
      <p:sp>
        <p:nvSpPr>
          <p:cNvPr id="10" name="Text 8"/>
          <p:cNvSpPr/>
          <p:nvPr/>
        </p:nvSpPr>
        <p:spPr>
          <a:xfrm>
            <a:off x="502920" y="261061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1" name="Text 9"/>
          <p:cNvSpPr/>
          <p:nvPr/>
        </p:nvSpPr>
        <p:spPr>
          <a:xfrm>
            <a:off x="932688" y="258318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Read the colour key</a:t>
            </a:r>
            <a:endParaRPr lang="en-US" sz="1300" dirty="0"/>
          </a:p>
        </p:txBody>
      </p:sp>
      <p:sp>
        <p:nvSpPr>
          <p:cNvPr id="12" name="Text 10"/>
          <p:cNvSpPr/>
          <p:nvPr/>
        </p:nvSpPr>
        <p:spPr>
          <a:xfrm>
            <a:off x="932688" y="281178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Six statuses, from deep green for delivered through amber and orange to red, with grey for commitments where no public evidence was found either way.</a:t>
            </a:r>
            <a:endParaRPr lang="en-US" sz="1150" dirty="0"/>
          </a:p>
        </p:txBody>
      </p:sp>
      <p:sp>
        <p:nvSpPr>
          <p:cNvPr id="13" name="Shape 11"/>
          <p:cNvSpPr/>
          <p:nvPr/>
        </p:nvSpPr>
        <p:spPr>
          <a:xfrm>
            <a:off x="502920" y="3387852"/>
            <a:ext cx="292608" cy="292608"/>
          </a:xfrm>
          <a:prstGeom prst="ellipse">
            <a:avLst/>
          </a:prstGeom>
          <a:solidFill>
            <a:srgbClr val="1A7A6E"/>
          </a:solidFill>
          <a:ln w="12700">
            <a:solidFill>
              <a:srgbClr val="1A7A6E"/>
            </a:solidFill>
            <a:prstDash val="solid"/>
          </a:ln>
        </p:spPr>
        <p:txBody>
          <a:bodyPr/>
          <a:p/>
        </p:txBody>
      </p:sp>
      <p:sp>
        <p:nvSpPr>
          <p:cNvPr id="14" name="Text 12"/>
          <p:cNvSpPr/>
          <p:nvPr/>
        </p:nvSpPr>
        <p:spPr>
          <a:xfrm>
            <a:off x="502920" y="338785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5" name="Text 13"/>
          <p:cNvSpPr/>
          <p:nvPr/>
        </p:nvSpPr>
        <p:spPr>
          <a:xfrm>
            <a:off x="932688" y="336042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Scroll to the action table</a:t>
            </a:r>
            <a:endParaRPr lang="en-US" sz="1300" dirty="0"/>
          </a:p>
        </p:txBody>
      </p:sp>
      <p:sp>
        <p:nvSpPr>
          <p:cNvPr id="16" name="Text 14"/>
          <p:cNvSpPr/>
          <p:nvPr/>
        </p:nvSpPr>
        <p:spPr>
          <a:xfrm>
            <a:off x="932688" y="358902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This lists the commitments made in the 2023 national EV policy, one row each.</a:t>
            </a:r>
            <a:endParaRPr lang="en-US" sz="1150" dirty="0"/>
          </a:p>
        </p:txBody>
      </p:sp>
      <p:sp>
        <p:nvSpPr>
          <p:cNvPr id="17" name="Shape 15"/>
          <p:cNvSpPr/>
          <p:nvPr/>
        </p:nvSpPr>
        <p:spPr>
          <a:xfrm>
            <a:off x="502920" y="4165092"/>
            <a:ext cx="292608" cy="292608"/>
          </a:xfrm>
          <a:prstGeom prst="ellipse">
            <a:avLst/>
          </a:prstGeom>
          <a:solidFill>
            <a:srgbClr val="1A7A6E"/>
          </a:solidFill>
          <a:ln w="12700">
            <a:solidFill>
              <a:srgbClr val="1A7A6E"/>
            </a:solidFill>
            <a:prstDash val="solid"/>
          </a:ln>
        </p:spPr>
        <p:txBody>
          <a:bodyPr/>
          <a:p/>
        </p:txBody>
      </p:sp>
      <p:sp>
        <p:nvSpPr>
          <p:cNvPr id="18" name="Text 16"/>
          <p:cNvSpPr/>
          <p:nvPr/>
        </p:nvSpPr>
        <p:spPr>
          <a:xfrm>
            <a:off x="502920" y="416509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932688" y="413766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Use the colours</a:t>
            </a:r>
            <a:endParaRPr lang="en-US" sz="1300" dirty="0"/>
          </a:p>
        </p:txBody>
      </p:sp>
      <p:sp>
        <p:nvSpPr>
          <p:cNvPr id="20" name="Text 18"/>
          <p:cNvSpPr/>
          <p:nvPr/>
        </p:nvSpPr>
        <p:spPr>
          <a:xfrm>
            <a:off x="932688" y="436626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Each row is coloured by its status, so you can scan for problem areas without reading every row.</a:t>
            </a:r>
            <a:endParaRPr lang="en-US" sz="1150" dirty="0"/>
          </a:p>
        </p:txBody>
      </p:sp>
      <p:sp>
        <p:nvSpPr>
          <p:cNvPr id="21" name="Shape 19"/>
          <p:cNvSpPr/>
          <p:nvPr/>
        </p:nvSpPr>
        <p:spPr>
          <a:xfrm>
            <a:off x="502920" y="4942332"/>
            <a:ext cx="292608" cy="292608"/>
          </a:xfrm>
          <a:prstGeom prst="ellipse">
            <a:avLst/>
          </a:prstGeom>
          <a:solidFill>
            <a:srgbClr val="1A7A6E"/>
          </a:solidFill>
          <a:ln w="12700">
            <a:solidFill>
              <a:srgbClr val="1A7A6E"/>
            </a:solidFill>
            <a:prstDash val="solid"/>
          </a:ln>
        </p:spPr>
        <p:txBody>
          <a:bodyPr/>
          <a:p/>
        </p:txBody>
      </p:sp>
      <p:sp>
        <p:nvSpPr>
          <p:cNvPr id="22" name="Text 20"/>
          <p:cNvSpPr/>
          <p:nvPr/>
        </p:nvSpPr>
        <p:spPr>
          <a:xfrm>
            <a:off x="502920" y="49423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3" name="Text 21"/>
          <p:cNvSpPr/>
          <p:nvPr/>
        </p:nvSpPr>
        <p:spPr>
          <a:xfrm>
            <a:off x="932688" y="491490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Finish with the policy gaps table</a:t>
            </a:r>
            <a:endParaRPr lang="en-US" sz="1300" dirty="0"/>
          </a:p>
        </p:txBody>
      </p:sp>
      <p:sp>
        <p:nvSpPr>
          <p:cNvPr id="24" name="Text 22"/>
          <p:cNvSpPr/>
          <p:nvPr/>
        </p:nvSpPr>
        <p:spPr>
          <a:xfrm>
            <a:off x="932688" y="514350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Below the action table, 17 identified gaps grouped into four kinds: things nobody measures, standards never issued, work delivered by others rather than the state, and limits built into the policy's own design.</a:t>
            </a:r>
            <a:endParaRPr lang="en-US" sz="1150" dirty="0"/>
          </a:p>
        </p:txBody>
      </p:sp>
      <p:sp>
        <p:nvSpPr>
          <p:cNvPr id="25" name="Shape 23"/>
          <p:cNvSpPr/>
          <p:nvPr/>
        </p:nvSpPr>
        <p:spPr>
          <a:xfrm>
            <a:off x="6355080" y="1664208"/>
            <a:ext cx="5330952" cy="3566160"/>
          </a:xfrm>
          <a:prstGeom prst="roundRect">
            <a:avLst>
              <a:gd name="adj" fmla="val 1538"/>
            </a:avLst>
          </a:prstGeom>
          <a:solidFill>
            <a:srgbClr val="FBFDFC"/>
          </a:solidFill>
          <a:ln w="19050">
            <a:solidFill>
              <a:srgbClr val="1A9E75"/>
            </a:solidFill>
            <a:prstDash val="dash"/>
          </a:ln>
        </p:spPr>
        <p:txBody>
          <a:bodyPr/>
          <a:p/>
        </p:txBody>
      </p:sp>
      <p:sp>
        <p:nvSpPr>
          <p:cNvPr id="26" name="Shape 24"/>
          <p:cNvSpPr/>
          <p:nvPr/>
        </p:nvSpPr>
        <p:spPr>
          <a:xfrm>
            <a:off x="6556248" y="1847088"/>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7" name="Text 25"/>
          <p:cNvSpPr/>
          <p:nvPr/>
        </p:nvSpPr>
        <p:spPr>
          <a:xfrm>
            <a:off x="6556248" y="1847088"/>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8" name="Text 26"/>
          <p:cNvSpPr/>
          <p:nvPr/>
        </p:nvSpPr>
        <p:spPr>
          <a:xfrm>
            <a:off x="6556248" y="2231136"/>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full policy page, top to bottom</a:t>
            </a:r>
            <a:endParaRPr lang="en-US" sz="1250" dirty="0"/>
          </a:p>
        </p:txBody>
      </p:sp>
      <p:sp>
        <p:nvSpPr>
          <p:cNvPr id="29" name="Text 27"/>
          <p:cNvSpPr/>
          <p:nvPr/>
        </p:nvSpPr>
        <p:spPr>
          <a:xfrm>
            <a:off x="6556248" y="2852928"/>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30" name="Text 28"/>
          <p:cNvSpPr/>
          <p:nvPr/>
        </p:nvSpPr>
        <p:spPr>
          <a:xfrm>
            <a:off x="6629400" y="3090672"/>
            <a:ext cx="4782312" cy="19659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status summary doughnut and its colour key</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colour-coded action table</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status summary doughnut chart</a:t>
            </a:r>
            <a:endParaRPr lang="en-US" sz="1050" dirty="0"/>
          </a:p>
        </p:txBody>
      </p:sp>
      <p:sp>
        <p:nvSpPr>
          <p:cNvPr id="31" name="Text 29"/>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1 - Fiscal Policy &amp; Duty Tracker</a:t>
            </a:r>
            <a:endParaRPr lang="en-US" sz="900" dirty="0"/>
          </a:p>
        </p:txBody>
      </p:sp>
      <p:sp>
        <p:nvSpPr>
          <p:cNvPr id="32" name="Text 30"/>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1</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What the three targets mean</a:t>
            </a:r>
            <a:endParaRPr lang="en-US" sz="3200" dirty="0"/>
          </a:p>
        </p:txBody>
      </p:sp>
      <p:sp>
        <p:nvSpPr>
          <p:cNvPr id="4" name="Shape 2"/>
          <p:cNvSpPr/>
          <p:nvPr/>
        </p:nvSpPr>
        <p:spPr>
          <a:xfrm>
            <a:off x="502920" y="1371600"/>
            <a:ext cx="3617976" cy="1783080"/>
          </a:xfrm>
          <a:prstGeom prst="roundRect">
            <a:avLst>
              <a:gd name="adj" fmla="val 3077"/>
            </a:avLst>
          </a:prstGeom>
          <a:solidFill>
            <a:srgbClr val="F1F6F4"/>
          </a:solidFill>
          <a:ln w="12700">
            <a:solidFill>
              <a:srgbClr val="D8E3E0"/>
            </a:solidFill>
            <a:prstDash val="solid"/>
          </a:ln>
        </p:spPr>
        <p:txBody>
          <a:bodyPr/>
          <a:p/>
        </p:txBody>
      </p:sp>
      <p:sp>
        <p:nvSpPr>
          <p:cNvPr id="5" name="Text 3"/>
          <p:cNvSpPr/>
          <p:nvPr/>
        </p:nvSpPr>
        <p:spPr>
          <a:xfrm>
            <a:off x="649224" y="1499616"/>
            <a:ext cx="3325368" cy="256032"/>
          </a:xfrm>
          <a:prstGeom prst="rect">
            <a:avLst/>
          </a:prstGeom>
          <a:noFill/>
          <a:ln/>
        </p:spPr>
        <p:txBody>
          <a:bodyPr wrap="square" lIns="0" tIns="0" rIns="0" bIns="0" rtlCol="0" anchor="ctr"/>
          <a:lstStyle/>
          <a:p>
            <a:pPr indent="0" marL="0">
              <a:buNone/>
            </a:pPr>
            <a:r>
              <a:rPr lang="en-US" sz="1100" b="1" dirty="0">
                <a:solidFill>
                  <a:srgbClr val="1A7A6E"/>
                </a:solidFill>
                <a:latin typeface="Calibri" pitchFamily="34" charset="0"/>
                <a:ea typeface="Calibri" pitchFamily="34" charset="-122"/>
                <a:cs typeface="Calibri" pitchFamily="34" charset="-120"/>
              </a:rPr>
              <a:t>12%  Private vehicles</a:t>
            </a:r>
            <a:endParaRPr lang="en-US" sz="1100" dirty="0"/>
          </a:p>
        </p:txBody>
      </p:sp>
      <p:sp>
        <p:nvSpPr>
          <p:cNvPr id="6" name="Text 4"/>
          <p:cNvSpPr/>
          <p:nvPr/>
        </p:nvSpPr>
        <p:spPr>
          <a:xfrm>
            <a:off x="649224" y="1773936"/>
            <a:ext cx="3325368" cy="125272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Just over one in ten privately owned cars should be electric by 2030. This is the target the EV vs. ICE Calculator relates to.</a:t>
            </a:r>
            <a:endParaRPr lang="en-US" sz="1050" dirty="0"/>
          </a:p>
        </p:txBody>
      </p:sp>
      <p:sp>
        <p:nvSpPr>
          <p:cNvPr id="7" name="Shape 5"/>
          <p:cNvSpPr/>
          <p:nvPr/>
        </p:nvSpPr>
        <p:spPr>
          <a:xfrm>
            <a:off x="4285488" y="1371600"/>
            <a:ext cx="3617976" cy="1783080"/>
          </a:xfrm>
          <a:prstGeom prst="roundRect">
            <a:avLst>
              <a:gd name="adj" fmla="val 3077"/>
            </a:avLst>
          </a:prstGeom>
          <a:solidFill>
            <a:srgbClr val="F1F6F4"/>
          </a:solidFill>
          <a:ln w="12700">
            <a:solidFill>
              <a:srgbClr val="D8E3E0"/>
            </a:solidFill>
            <a:prstDash val="solid"/>
          </a:ln>
        </p:spPr>
        <p:txBody>
          <a:bodyPr/>
          <a:p/>
        </p:txBody>
      </p:sp>
      <p:sp>
        <p:nvSpPr>
          <p:cNvPr id="8" name="Text 6"/>
          <p:cNvSpPr/>
          <p:nvPr/>
        </p:nvSpPr>
        <p:spPr>
          <a:xfrm>
            <a:off x="4431792" y="1499616"/>
            <a:ext cx="3325368"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16%  Public transport</a:t>
            </a:r>
            <a:endParaRPr lang="en-US" sz="1100" dirty="0"/>
          </a:p>
        </p:txBody>
      </p:sp>
      <p:sp>
        <p:nvSpPr>
          <p:cNvPr id="9" name="Text 7"/>
          <p:cNvSpPr/>
          <p:nvPr/>
        </p:nvSpPr>
        <p:spPr>
          <a:xfrm>
            <a:off x="4431792" y="1773936"/>
            <a:ext cx="3325368" cy="125272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Roughly one in six buses and public passenger vehicles. Relates to the Taxi Feasibility Tool.</a:t>
            </a:r>
            <a:endParaRPr lang="en-US" sz="1050" dirty="0"/>
          </a:p>
        </p:txBody>
      </p:sp>
      <p:sp>
        <p:nvSpPr>
          <p:cNvPr id="10" name="Shape 8"/>
          <p:cNvSpPr/>
          <p:nvPr/>
        </p:nvSpPr>
        <p:spPr>
          <a:xfrm>
            <a:off x="8068056" y="1371600"/>
            <a:ext cx="3617976" cy="1783080"/>
          </a:xfrm>
          <a:prstGeom prst="roundRect">
            <a:avLst>
              <a:gd name="adj" fmla="val 3077"/>
            </a:avLst>
          </a:prstGeom>
          <a:solidFill>
            <a:srgbClr val="F1F6F4"/>
          </a:solidFill>
          <a:ln w="12700">
            <a:solidFill>
              <a:srgbClr val="D8E3E0"/>
            </a:solidFill>
            <a:prstDash val="solid"/>
          </a:ln>
        </p:spPr>
        <p:txBody>
          <a:bodyPr/>
          <a:p/>
        </p:txBody>
      </p:sp>
      <p:sp>
        <p:nvSpPr>
          <p:cNvPr id="11" name="Text 9"/>
          <p:cNvSpPr/>
          <p:nvPr/>
        </p:nvSpPr>
        <p:spPr>
          <a:xfrm>
            <a:off x="8214360" y="1499616"/>
            <a:ext cx="3325368" cy="256032"/>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100%  Government fleet</a:t>
            </a:r>
            <a:endParaRPr lang="en-US" sz="1100" dirty="0"/>
          </a:p>
        </p:txBody>
      </p:sp>
      <p:sp>
        <p:nvSpPr>
          <p:cNvPr id="12" name="Text 10"/>
          <p:cNvSpPr/>
          <p:nvPr/>
        </p:nvSpPr>
        <p:spPr>
          <a:xfrm>
            <a:off x="8214360" y="1773936"/>
            <a:ext cx="3325368" cy="125272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Every government-owned vehicle. The most ambitious of the three, and the smallest fleet.</a:t>
            </a:r>
            <a:endParaRPr lang="en-US" sz="1050" dirty="0"/>
          </a:p>
        </p:txBody>
      </p:sp>
      <p:sp>
        <p:nvSpPr>
          <p:cNvPr id="13" name="Text 11"/>
          <p:cNvSpPr/>
          <p:nvPr/>
        </p:nvSpPr>
        <p:spPr>
          <a:xfrm>
            <a:off x="502920" y="3383280"/>
            <a:ext cx="7315200" cy="365760"/>
          </a:xfrm>
          <a:prstGeom prst="rect">
            <a:avLst/>
          </a:prstGeom>
          <a:noFill/>
          <a:ln/>
        </p:spPr>
        <p:txBody>
          <a:bodyPr wrap="square" lIns="0" tIns="0" rIns="0" bIns="0" rtlCol="0" anchor="ctr"/>
          <a:lstStyle/>
          <a:p>
            <a:pPr indent="0" marL="0">
              <a:buNone/>
            </a:pPr>
            <a:r>
              <a:rPr lang="en-US" sz="1900" b="1" dirty="0">
                <a:solidFill>
                  <a:srgbClr val="0E2A24"/>
                </a:solidFill>
                <a:latin typeface="Cambria" pitchFamily="34" charset="0"/>
                <a:ea typeface="Cambria" pitchFamily="34" charset="-122"/>
                <a:cs typeface="Cambria" pitchFamily="34" charset="-120"/>
              </a:rPr>
              <a:t>Reading the action table</a:t>
            </a:r>
            <a:endParaRPr lang="en-US" sz="1900" dirty="0"/>
          </a:p>
        </p:txBody>
      </p:sp>
      <p:sp>
        <p:nvSpPr>
          <p:cNvPr id="14" name="Text 12"/>
          <p:cNvSpPr/>
          <p:nvPr/>
        </p:nvSpPr>
        <p:spPr>
          <a:xfrm>
            <a:off x="502920" y="3794760"/>
            <a:ext cx="5577840" cy="1463040"/>
          </a:xfrm>
          <a:prstGeom prst="rect">
            <a:avLst/>
          </a:prstGeom>
          <a:noFill/>
          <a:ln/>
        </p:spPr>
        <p:txBody>
          <a:bodyPr wrap="square" lIns="0" tIns="0" rIns="0" bIns="0" rtlCol="0" anchor="t"/>
          <a:lstStyle/>
          <a:p>
            <a:pPr indent="0" marL="0">
              <a:lnSpc>
                <a:spcPct val="130000"/>
              </a:lnSpc>
              <a:buNone/>
            </a:pPr>
            <a:r>
              <a:rPr lang="en-US" sz="1250" dirty="0">
                <a:solidFill>
                  <a:srgbClr val="6B7A77"/>
                </a:solidFill>
                <a:latin typeface="Calibri" pitchFamily="34" charset="0"/>
                <a:ea typeface="Calibri" pitchFamily="34" charset="-122"/>
                <a:cs typeface="Calibri" pitchFamily="34" charset="-120"/>
              </a:rPr>
              <a:t>Each row is one commitment from the policy document, coloured on a six-step scale from deep green for fully achieved, through blue, amber and orange, to red. Grey means no public evidence was found either way. The Notes column carries the evidence and is the widest column, because that is where the reasoning sits.</a:t>
            </a:r>
            <a:endParaRPr lang="en-US" sz="1250" dirty="0"/>
          </a:p>
          <a:p>
            <a:pPr indent="0" marL="0">
              <a:lnSpc>
                <a:spcPct val="130000"/>
              </a:lnSpc>
              <a:buNone/>
            </a:pPr>
            <a:r>
              <a:rPr lang="en-US" sz="1250" dirty="0">
                <a:solidFill>
                  <a:srgbClr val="6B7A77"/>
                </a:solidFill>
                <a:latin typeface="Calibri" pitchFamily="34" charset="0"/>
                <a:ea typeface="Calibri" pitchFamily="34" charset="-122"/>
                <a:cs typeface="Calibri" pitchFamily="34" charset="-120"/>
              </a:rPr>
              <a:t>The colour key beside the table names every step. The doughnut chart underneath counts the rows in each one, so it shows the overall shape of progress without reading every row.</a:t>
            </a:r>
            <a:endParaRPr lang="en-US" sz="1250" dirty="0"/>
          </a:p>
        </p:txBody>
      </p:sp>
      <p:sp>
        <p:nvSpPr>
          <p:cNvPr id="15" name="Shape 13"/>
          <p:cNvSpPr/>
          <p:nvPr/>
        </p:nvSpPr>
        <p:spPr>
          <a:xfrm>
            <a:off x="6355080" y="3364992"/>
            <a:ext cx="5330952" cy="2331720"/>
          </a:xfrm>
          <a:prstGeom prst="roundRect">
            <a:avLst>
              <a:gd name="adj" fmla="val 2353"/>
            </a:avLst>
          </a:prstGeom>
          <a:solidFill>
            <a:srgbClr val="FBFDFC"/>
          </a:solidFill>
          <a:ln w="19050">
            <a:solidFill>
              <a:srgbClr val="1A9E75"/>
            </a:solidFill>
            <a:prstDash val="dash"/>
          </a:ln>
        </p:spPr>
        <p:txBody>
          <a:bodyPr/>
          <a:p/>
        </p:txBody>
      </p:sp>
      <p:sp>
        <p:nvSpPr>
          <p:cNvPr id="16" name="Shape 14"/>
          <p:cNvSpPr/>
          <p:nvPr/>
        </p:nvSpPr>
        <p:spPr>
          <a:xfrm>
            <a:off x="6556248" y="3547872"/>
            <a:ext cx="1417320" cy="274320"/>
          </a:xfrm>
          <a:prstGeom prst="roundRect">
            <a:avLst>
              <a:gd name="adj" fmla="val 16667"/>
            </a:avLst>
          </a:prstGeom>
          <a:solidFill>
            <a:srgbClr val="1A9E75"/>
          </a:solidFill>
          <a:ln w="12700">
            <a:solidFill>
              <a:srgbClr val="1A9E75"/>
            </a:solidFill>
            <a:prstDash val="solid"/>
          </a:ln>
        </p:spPr>
        <p:txBody>
          <a:bodyPr/>
          <a:p/>
        </p:txBody>
      </p:sp>
      <p:sp>
        <p:nvSpPr>
          <p:cNvPr id="17" name="Text 15"/>
          <p:cNvSpPr/>
          <p:nvPr/>
        </p:nvSpPr>
        <p:spPr>
          <a:xfrm>
            <a:off x="6556248" y="3547872"/>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18" name="Text 16"/>
          <p:cNvSpPr/>
          <p:nvPr/>
        </p:nvSpPr>
        <p:spPr>
          <a:xfrm>
            <a:off x="6556248" y="3931920"/>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Close-up of a few rows of the action table</a:t>
            </a:r>
            <a:endParaRPr lang="en-US" sz="1250" dirty="0"/>
          </a:p>
        </p:txBody>
      </p:sp>
      <p:sp>
        <p:nvSpPr>
          <p:cNvPr id="19" name="Text 17"/>
          <p:cNvSpPr/>
          <p:nvPr/>
        </p:nvSpPr>
        <p:spPr>
          <a:xfrm>
            <a:off x="6556248" y="4553712"/>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0" name="Text 18"/>
          <p:cNvSpPr/>
          <p:nvPr/>
        </p:nvSpPr>
        <p:spPr>
          <a:xfrm>
            <a:off x="6629400" y="4791456"/>
            <a:ext cx="4782312" cy="7315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One row of a completed action</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One row of an action that has not been started</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status legend</a:t>
            </a:r>
            <a:endParaRPr lang="en-US" sz="1050" dirty="0"/>
          </a:p>
        </p:txBody>
      </p:sp>
      <p:sp>
        <p:nvSpPr>
          <p:cNvPr id="21" name="Text 19"/>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1 - Fiscal Policy &amp; Duty Tracker</a:t>
            </a:r>
            <a:endParaRPr lang="en-US" sz="900" dirty="0"/>
          </a:p>
        </p:txBody>
      </p:sp>
      <p:sp>
        <p:nvSpPr>
          <p:cNvPr id="22" name="Text 20"/>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roundRect">
            <a:avLst>
              <a:gd name="adj" fmla="val 6667"/>
            </a:avLst>
          </a:prstGeom>
          <a:solidFill>
            <a:srgbClr val="1A9E75"/>
          </a:solidFill>
          <a:ln w="12700">
            <a:solidFill>
              <a:srgbClr val="1A9E75"/>
            </a:solidFill>
            <a:prstDash val="solid"/>
          </a:ln>
        </p:spPr>
        <p:txBody>
          <a:bodyPr/>
          <a:p/>
        </p:txBody>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6200" b="1" dirty="0">
                <a:solidFill>
                  <a:srgbClr val="0E2A24"/>
                </a:solidFill>
                <a:latin typeface="Cambria" pitchFamily="34" charset="0"/>
                <a:ea typeface="Cambria" pitchFamily="34" charset="-122"/>
                <a:cs typeface="Cambria" pitchFamily="34" charset="-120"/>
              </a:rPr>
              <a:t>2</a:t>
            </a:r>
            <a:endParaRPr lang="en-US" sz="6200" dirty="0"/>
          </a:p>
        </p:txBody>
      </p:sp>
      <p:sp>
        <p:nvSpPr>
          <p:cNvPr id="4" name="Text 2"/>
          <p:cNvSpPr/>
          <p:nvPr/>
        </p:nvSpPr>
        <p:spPr>
          <a:xfrm>
            <a:off x="2514600" y="2194560"/>
            <a:ext cx="8686800" cy="292608"/>
          </a:xfrm>
          <a:prstGeom prst="rect">
            <a:avLst/>
          </a:prstGeom>
          <a:noFill/>
          <a:ln/>
        </p:spPr>
        <p:txBody>
          <a:bodyPr wrap="square" lIns="0" tIns="0" rIns="0" bIns="0" rtlCol="0" anchor="ctr"/>
          <a:lstStyle/>
          <a:p>
            <a:pPr indent="0" marL="0">
              <a:buNone/>
            </a:pPr>
            <a:r>
              <a:rPr lang="en-US" sz="1200" b="1" spc="200" kern="0" dirty="0">
                <a:solidFill>
                  <a:srgbClr val="1A9E75"/>
                </a:solidFill>
                <a:latin typeface="Calibri" pitchFamily="34" charset="0"/>
                <a:ea typeface="Calibri" pitchFamily="34" charset="-122"/>
                <a:cs typeface="Calibri" pitchFamily="34" charset="-120"/>
              </a:rPr>
              <a:t>MODULE 2</a:t>
            </a:r>
            <a:endParaRPr lang="en-US" sz="1200" dirty="0"/>
          </a:p>
        </p:txBody>
      </p:sp>
      <p:sp>
        <p:nvSpPr>
          <p:cNvPr id="5" name="Text 3"/>
          <p:cNvSpPr/>
          <p:nvPr/>
        </p:nvSpPr>
        <p:spPr>
          <a:xfrm>
            <a:off x="2514600" y="2487168"/>
            <a:ext cx="90525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Caribbean Regional Comparison</a:t>
            </a:r>
            <a:endParaRPr lang="en-US" sz="3400" dirty="0"/>
          </a:p>
        </p:txBody>
      </p:sp>
      <p:sp>
        <p:nvSpPr>
          <p:cNvPr id="6" name="Text 4"/>
          <p:cNvSpPr/>
          <p:nvPr/>
        </p:nvSpPr>
        <p:spPr>
          <a:xfrm>
            <a:off x="2514600" y="3154680"/>
            <a:ext cx="8778240" cy="457200"/>
          </a:xfrm>
          <a:prstGeom prst="rect">
            <a:avLst/>
          </a:prstGeom>
          <a:noFill/>
          <a:ln/>
        </p:spPr>
        <p:txBody>
          <a:bodyPr wrap="square" lIns="0" tIns="0" rIns="0" bIns="0" rtlCol="0" anchor="ctr"/>
          <a:lstStyle/>
          <a:p>
            <a:pPr indent="0" marL="0">
              <a:buNone/>
            </a:pPr>
            <a:r>
              <a:rPr lang="en-US" sz="1400" dirty="0">
                <a:solidFill>
                  <a:srgbClr val="B9CFC9"/>
                </a:solidFill>
                <a:latin typeface="Calibri" pitchFamily="34" charset="0"/>
                <a:ea typeface="Calibri" pitchFamily="34" charset="-122"/>
                <a:cs typeface="Calibri" pitchFamily="34" charset="-120"/>
              </a:rPr>
              <a:t>How Jamaica's electric vehicle uptake compares with its neighbours.</a:t>
            </a:r>
            <a:endParaRPr lang="en-US" sz="1400" dirty="0"/>
          </a:p>
        </p:txBody>
      </p:sp>
      <p:sp>
        <p:nvSpPr>
          <p:cNvPr id="7" name="Text 5"/>
          <p:cNvSpPr/>
          <p:nvPr/>
        </p:nvSpPr>
        <p:spPr>
          <a:xfrm>
            <a:off x="2542032" y="3794760"/>
            <a:ext cx="8686800" cy="365760"/>
          </a:xfrm>
          <a:prstGeom prst="rect">
            <a:avLst/>
          </a:prstGeom>
          <a:noFill/>
          <a:ln/>
        </p:spPr>
        <p:txBody>
          <a:bodyPr wrap="square" lIns="0" tIns="0" rIns="0" bIns="0" rtlCol="0" anchor="ctr"/>
          <a:lstStyle/>
          <a:p>
            <a:pPr indent="0" marL="0">
              <a:buNone/>
            </a:pPr>
            <a:r>
              <a:rPr lang="en-US" sz="1200" i="1" dirty="0">
                <a:solidFill>
                  <a:srgbClr val="8FB3AB"/>
                </a:solidFill>
                <a:latin typeface="Calibri" pitchFamily="34" charset="0"/>
                <a:ea typeface="Calibri" pitchFamily="34" charset="-122"/>
                <a:cs typeface="Calibri" pitchFamily="34" charset="-120"/>
              </a:rPr>
              <a:t>What it answers:  Are we ahead or behind, and does cheaper fuel explain 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2</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Reading the regional comparison</a:t>
            </a:r>
            <a:endParaRPr lang="en-US" sz="3200" dirty="0"/>
          </a:p>
        </p:txBody>
      </p:sp>
      <p:sp>
        <p:nvSpPr>
          <p:cNvPr id="4" name="Text 2"/>
          <p:cNvSpPr/>
          <p:nvPr/>
        </p:nvSpPr>
        <p:spPr>
          <a:xfrm>
            <a:off x="502920" y="1207008"/>
            <a:ext cx="11155680" cy="32004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Another read-only page. Three things to look at, in order.</a:t>
            </a:r>
            <a:endParaRPr lang="en-US" sz="1300" dirty="0"/>
          </a:p>
        </p:txBody>
      </p:sp>
      <p:sp>
        <p:nvSpPr>
          <p:cNvPr id="5" name="Shape 3"/>
          <p:cNvSpPr/>
          <p:nvPr/>
        </p:nvSpPr>
        <p:spPr>
          <a:xfrm>
            <a:off x="502920" y="1664208"/>
            <a:ext cx="292608" cy="292608"/>
          </a:xfrm>
          <a:prstGeom prst="ellipse">
            <a:avLst/>
          </a:prstGeom>
          <a:solidFill>
            <a:srgbClr val="1A7A6E"/>
          </a:solidFill>
          <a:ln w="12700">
            <a:solidFill>
              <a:srgbClr val="1A7A6E"/>
            </a:solidFill>
            <a:prstDash val="solid"/>
          </a:ln>
        </p:spPr>
        <p:txBody>
          <a:bodyPr/>
          <a:p/>
        </p:txBody>
      </p:sp>
      <p:sp>
        <p:nvSpPr>
          <p:cNvPr id="6" name="Text 4"/>
          <p:cNvSpPr/>
          <p:nvPr/>
        </p:nvSpPr>
        <p:spPr>
          <a:xfrm>
            <a:off x="502920" y="166420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932688" y="163677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The bar chart</a:t>
            </a:r>
            <a:endParaRPr lang="en-US" sz="1300" dirty="0"/>
          </a:p>
        </p:txBody>
      </p:sp>
      <p:sp>
        <p:nvSpPr>
          <p:cNvPr id="8" name="Text 6"/>
          <p:cNvSpPr/>
          <p:nvPr/>
        </p:nvSpPr>
        <p:spPr>
          <a:xfrm>
            <a:off x="932688" y="1865376"/>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Each bar is one country's share of new car sales that are fully electric. Longer is further ahead. Jamaica is highlighted.</a:t>
            </a:r>
            <a:endParaRPr lang="en-US" sz="1150" dirty="0"/>
          </a:p>
        </p:txBody>
      </p:sp>
      <p:sp>
        <p:nvSpPr>
          <p:cNvPr id="9" name="Shape 7"/>
          <p:cNvSpPr/>
          <p:nvPr/>
        </p:nvSpPr>
        <p:spPr>
          <a:xfrm>
            <a:off x="502920" y="2441448"/>
            <a:ext cx="292608" cy="292608"/>
          </a:xfrm>
          <a:prstGeom prst="ellipse">
            <a:avLst/>
          </a:prstGeom>
          <a:solidFill>
            <a:srgbClr val="1A7A6E"/>
          </a:solidFill>
          <a:ln w="12700">
            <a:solidFill>
              <a:srgbClr val="1A7A6E"/>
            </a:solidFill>
            <a:prstDash val="solid"/>
          </a:ln>
        </p:spPr>
        <p:txBody>
          <a:bodyPr/>
          <a:p/>
        </p:txBody>
      </p:sp>
      <p:sp>
        <p:nvSpPr>
          <p:cNvPr id="10" name="Text 8"/>
          <p:cNvSpPr/>
          <p:nvPr/>
        </p:nvSpPr>
        <p:spPr>
          <a:xfrm>
            <a:off x="502920" y="24414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1" name="Text 9"/>
          <p:cNvSpPr/>
          <p:nvPr/>
        </p:nvSpPr>
        <p:spPr>
          <a:xfrm>
            <a:off x="932688" y="241401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The dashed target line</a:t>
            </a:r>
            <a:endParaRPr lang="en-US" sz="1300" dirty="0"/>
          </a:p>
        </p:txBody>
      </p:sp>
      <p:sp>
        <p:nvSpPr>
          <p:cNvPr id="12" name="Text 10"/>
          <p:cNvSpPr/>
          <p:nvPr/>
        </p:nvSpPr>
        <p:spPr>
          <a:xfrm>
            <a:off x="932688" y="2642616"/>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Marks Jamaica's own 12% goal, so you can see the distance still to travel.</a:t>
            </a:r>
            <a:endParaRPr lang="en-US" sz="1150" dirty="0"/>
          </a:p>
        </p:txBody>
      </p:sp>
      <p:sp>
        <p:nvSpPr>
          <p:cNvPr id="13" name="Shape 11"/>
          <p:cNvSpPr/>
          <p:nvPr/>
        </p:nvSpPr>
        <p:spPr>
          <a:xfrm>
            <a:off x="502920" y="3218688"/>
            <a:ext cx="292608" cy="292608"/>
          </a:xfrm>
          <a:prstGeom prst="ellipse">
            <a:avLst/>
          </a:prstGeom>
          <a:solidFill>
            <a:srgbClr val="1A7A6E"/>
          </a:solidFill>
          <a:ln w="12700">
            <a:solidFill>
              <a:srgbClr val="1A7A6E"/>
            </a:solidFill>
            <a:prstDash val="solid"/>
          </a:ln>
        </p:spPr>
        <p:txBody>
          <a:bodyPr/>
          <a:p/>
        </p:txBody>
      </p:sp>
      <p:sp>
        <p:nvSpPr>
          <p:cNvPr id="14" name="Text 12"/>
          <p:cNvSpPr/>
          <p:nvPr/>
        </p:nvSpPr>
        <p:spPr>
          <a:xfrm>
            <a:off x="502920" y="321868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5" name="Text 13"/>
          <p:cNvSpPr/>
          <p:nvPr/>
        </p:nvSpPr>
        <p:spPr>
          <a:xfrm>
            <a:off x="932688" y="319125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The scatter chart</a:t>
            </a:r>
            <a:endParaRPr lang="en-US" sz="1300" dirty="0"/>
          </a:p>
        </p:txBody>
      </p:sp>
      <p:sp>
        <p:nvSpPr>
          <p:cNvPr id="16" name="Text 14"/>
          <p:cNvSpPr/>
          <p:nvPr/>
        </p:nvSpPr>
        <p:spPr>
          <a:xfrm>
            <a:off x="932688" y="3419856"/>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Fuel price runs left to right, EV uptake runs bottom to top. Each dot is a country, labelled with its name.</a:t>
            </a:r>
            <a:endParaRPr lang="en-US" sz="1150" dirty="0"/>
          </a:p>
        </p:txBody>
      </p:sp>
      <p:sp>
        <p:nvSpPr>
          <p:cNvPr id="17" name="Shape 15"/>
          <p:cNvSpPr/>
          <p:nvPr/>
        </p:nvSpPr>
        <p:spPr>
          <a:xfrm>
            <a:off x="502920" y="3995928"/>
            <a:ext cx="292608" cy="292608"/>
          </a:xfrm>
          <a:prstGeom prst="ellipse">
            <a:avLst/>
          </a:prstGeom>
          <a:solidFill>
            <a:srgbClr val="1A7A6E"/>
          </a:solidFill>
          <a:ln w="12700">
            <a:solidFill>
              <a:srgbClr val="1A7A6E"/>
            </a:solidFill>
            <a:prstDash val="solid"/>
          </a:ln>
        </p:spPr>
        <p:txBody>
          <a:bodyPr/>
          <a:p/>
        </p:txBody>
      </p:sp>
      <p:sp>
        <p:nvSpPr>
          <p:cNvPr id="18" name="Text 16"/>
          <p:cNvSpPr/>
          <p:nvPr/>
        </p:nvSpPr>
        <p:spPr>
          <a:xfrm>
            <a:off x="502920" y="399592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932688" y="396849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The dotted trend line</a:t>
            </a:r>
            <a:endParaRPr lang="en-US" sz="1300" dirty="0"/>
          </a:p>
        </p:txBody>
      </p:sp>
      <p:sp>
        <p:nvSpPr>
          <p:cNvPr id="20" name="Text 18"/>
          <p:cNvSpPr/>
          <p:nvPr/>
        </p:nvSpPr>
        <p:spPr>
          <a:xfrm>
            <a:off x="932688" y="4197096"/>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Shows the general pattern: countries with dearer fuel tend to have more electric cars.</a:t>
            </a:r>
            <a:endParaRPr lang="en-US" sz="1150" dirty="0"/>
          </a:p>
        </p:txBody>
      </p:sp>
      <p:sp>
        <p:nvSpPr>
          <p:cNvPr id="21" name="Shape 19"/>
          <p:cNvSpPr/>
          <p:nvPr/>
        </p:nvSpPr>
        <p:spPr>
          <a:xfrm>
            <a:off x="502920" y="4773168"/>
            <a:ext cx="292608" cy="292608"/>
          </a:xfrm>
          <a:prstGeom prst="ellipse">
            <a:avLst/>
          </a:prstGeom>
          <a:solidFill>
            <a:srgbClr val="1A7A6E"/>
          </a:solidFill>
          <a:ln w="12700">
            <a:solidFill>
              <a:srgbClr val="1A7A6E"/>
            </a:solidFill>
            <a:prstDash val="solid"/>
          </a:ln>
        </p:spPr>
        <p:txBody>
          <a:bodyPr/>
          <a:p/>
        </p:txBody>
      </p:sp>
      <p:sp>
        <p:nvSpPr>
          <p:cNvPr id="22" name="Text 20"/>
          <p:cNvSpPr/>
          <p:nvPr/>
        </p:nvSpPr>
        <p:spPr>
          <a:xfrm>
            <a:off x="502920" y="477316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3" name="Text 21"/>
          <p:cNvSpPr/>
          <p:nvPr/>
        </p:nvSpPr>
        <p:spPr>
          <a:xfrm>
            <a:off x="932688" y="474573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The summary table</a:t>
            </a:r>
            <a:endParaRPr lang="en-US" sz="1300" dirty="0"/>
          </a:p>
        </p:txBody>
      </p:sp>
      <p:sp>
        <p:nvSpPr>
          <p:cNvPr id="24" name="Text 22"/>
          <p:cNvSpPr/>
          <p:nvPr/>
        </p:nvSpPr>
        <p:spPr>
          <a:xfrm>
            <a:off x="932688" y="4974336"/>
            <a:ext cx="5056632" cy="690372"/>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Scroll to the bottom for the full detail on all 19 countries, 14 of them Caribbean, including import duty and a source link on every row.</a:t>
            </a:r>
            <a:endParaRPr lang="en-US" sz="1150" dirty="0"/>
          </a:p>
        </p:txBody>
      </p:sp>
      <p:sp>
        <p:nvSpPr>
          <p:cNvPr id="25" name="Shape 23"/>
          <p:cNvSpPr/>
          <p:nvPr/>
        </p:nvSpPr>
        <p:spPr>
          <a:xfrm>
            <a:off x="6355080" y="1664208"/>
            <a:ext cx="5330952" cy="3566160"/>
          </a:xfrm>
          <a:prstGeom prst="roundRect">
            <a:avLst>
              <a:gd name="adj" fmla="val 1538"/>
            </a:avLst>
          </a:prstGeom>
          <a:solidFill>
            <a:srgbClr val="FBFDFC"/>
          </a:solidFill>
          <a:ln w="19050">
            <a:solidFill>
              <a:srgbClr val="1A9E75"/>
            </a:solidFill>
            <a:prstDash val="dash"/>
          </a:ln>
        </p:spPr>
        <p:txBody>
          <a:bodyPr/>
          <a:p/>
        </p:txBody>
      </p:sp>
      <p:sp>
        <p:nvSpPr>
          <p:cNvPr id="26" name="Shape 24"/>
          <p:cNvSpPr/>
          <p:nvPr/>
        </p:nvSpPr>
        <p:spPr>
          <a:xfrm>
            <a:off x="6556248" y="1847088"/>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7" name="Text 25"/>
          <p:cNvSpPr/>
          <p:nvPr/>
        </p:nvSpPr>
        <p:spPr>
          <a:xfrm>
            <a:off x="6556248" y="1847088"/>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8" name="Text 26"/>
          <p:cNvSpPr/>
          <p:nvPr/>
        </p:nvSpPr>
        <p:spPr>
          <a:xfrm>
            <a:off x="6556248" y="2231136"/>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bar chart and scatter chart together</a:t>
            </a:r>
            <a:endParaRPr lang="en-US" sz="1250" dirty="0"/>
          </a:p>
        </p:txBody>
      </p:sp>
      <p:sp>
        <p:nvSpPr>
          <p:cNvPr id="29" name="Text 27"/>
          <p:cNvSpPr/>
          <p:nvPr/>
        </p:nvSpPr>
        <p:spPr>
          <a:xfrm>
            <a:off x="6556248" y="2852928"/>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30" name="Text 28"/>
          <p:cNvSpPr/>
          <p:nvPr/>
        </p:nvSpPr>
        <p:spPr>
          <a:xfrm>
            <a:off x="6629400" y="3090672"/>
            <a:ext cx="4782312" cy="19659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Jamaica's bar, highlighted differently from the rest</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dashed 12% target line</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Jamaica's dot on the scatter chart</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dotted trend line</a:t>
            </a:r>
            <a:endParaRPr lang="en-US" sz="1050" dirty="0"/>
          </a:p>
        </p:txBody>
      </p:sp>
      <p:sp>
        <p:nvSpPr>
          <p:cNvPr id="31" name="Text 29"/>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2 - Caribbean Regional Comparison</a:t>
            </a:r>
            <a:endParaRPr lang="en-US" sz="900" dirty="0"/>
          </a:p>
        </p:txBody>
      </p:sp>
      <p:sp>
        <p:nvSpPr>
          <p:cNvPr id="32" name="Text 30"/>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2</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Getting the most out of the comparison</a:t>
            </a:r>
            <a:endParaRPr lang="en-US" sz="3200" dirty="0"/>
          </a:p>
        </p:txBody>
      </p:sp>
      <p:sp>
        <p:nvSpPr>
          <p:cNvPr id="4" name="Text 2"/>
          <p:cNvSpPr/>
          <p:nvPr/>
        </p:nvSpPr>
        <p:spPr>
          <a:xfrm>
            <a:off x="502920" y="1207008"/>
            <a:ext cx="11155680" cy="32004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Two things are worth pointing out to anyone reading this page for the first time.</a:t>
            </a:r>
            <a:endParaRPr lang="en-US" sz="1300" dirty="0"/>
          </a:p>
        </p:txBody>
      </p:sp>
      <p:sp>
        <p:nvSpPr>
          <p:cNvPr id="5" name="Shape 3"/>
          <p:cNvSpPr/>
          <p:nvPr/>
        </p:nvSpPr>
        <p:spPr>
          <a:xfrm>
            <a:off x="502920" y="1691640"/>
            <a:ext cx="5509260" cy="1691640"/>
          </a:xfrm>
          <a:prstGeom prst="roundRect">
            <a:avLst>
              <a:gd name="adj" fmla="val 3243"/>
            </a:avLst>
          </a:prstGeom>
          <a:solidFill>
            <a:srgbClr val="F1F6F4"/>
          </a:solidFill>
          <a:ln w="12700">
            <a:solidFill>
              <a:srgbClr val="D8E3E0"/>
            </a:solidFill>
            <a:prstDash val="solid"/>
          </a:ln>
        </p:spPr>
        <p:txBody>
          <a:bodyPr/>
          <a:p/>
        </p:txBody>
      </p:sp>
      <p:sp>
        <p:nvSpPr>
          <p:cNvPr id="6" name="Text 4"/>
          <p:cNvSpPr/>
          <p:nvPr/>
        </p:nvSpPr>
        <p:spPr>
          <a:xfrm>
            <a:off x="649224" y="1819656"/>
            <a:ext cx="5216652"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Prices are in US dollars</a:t>
            </a:r>
            <a:endParaRPr lang="en-US" sz="1100" dirty="0"/>
          </a:p>
        </p:txBody>
      </p:sp>
      <p:sp>
        <p:nvSpPr>
          <p:cNvPr id="7" name="Text 5"/>
          <p:cNvSpPr/>
          <p:nvPr/>
        </p:nvSpPr>
        <p:spPr>
          <a:xfrm>
            <a:off x="649224" y="2093976"/>
            <a:ext cx="5216652" cy="116128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Fuel prices on this page are shown in US$ per litre, not Jamaican dollars. That is deliberate. Comparing countries in JMD would mean converting everyone's prices through Jamaica's exchange rate, which changes the picture every time the rate moves.</a:t>
            </a:r>
            <a:endParaRPr lang="en-US" sz="1050" dirty="0"/>
          </a:p>
        </p:txBody>
      </p:sp>
      <p:sp>
        <p:nvSpPr>
          <p:cNvPr id="8" name="Shape 6"/>
          <p:cNvSpPr/>
          <p:nvPr/>
        </p:nvSpPr>
        <p:spPr>
          <a:xfrm>
            <a:off x="6176772" y="1691640"/>
            <a:ext cx="5509260" cy="1691640"/>
          </a:xfrm>
          <a:prstGeom prst="roundRect">
            <a:avLst>
              <a:gd name="adj" fmla="val 3243"/>
            </a:avLst>
          </a:prstGeom>
          <a:solidFill>
            <a:srgbClr val="F1F6F4"/>
          </a:solidFill>
          <a:ln w="12700">
            <a:solidFill>
              <a:srgbClr val="D8E3E0"/>
            </a:solidFill>
            <a:prstDash val="solid"/>
          </a:ln>
        </p:spPr>
        <p:txBody>
          <a:bodyPr/>
          <a:p/>
        </p:txBody>
      </p:sp>
      <p:sp>
        <p:nvSpPr>
          <p:cNvPr id="9" name="Text 7"/>
          <p:cNvSpPr/>
          <p:nvPr/>
        </p:nvSpPr>
        <p:spPr>
          <a:xfrm>
            <a:off x="6323076" y="1819656"/>
            <a:ext cx="5216652" cy="256032"/>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Not every country is on every chart</a:t>
            </a:r>
            <a:endParaRPr lang="en-US" sz="1100" dirty="0"/>
          </a:p>
        </p:txBody>
      </p:sp>
      <p:sp>
        <p:nvSpPr>
          <p:cNvPr id="10" name="Text 8"/>
          <p:cNvSpPr/>
          <p:nvPr/>
        </p:nvSpPr>
        <p:spPr>
          <a:xfrm>
            <a:off x="6323076" y="2093976"/>
            <a:ext cx="5216652" cy="116128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Some countries appear in the table but not on the charts, because they do not publish the figure that chart needs. A country missing from the scatter has no published EV sales share, not zero electric cars. Below the table, a data availability section lists every country by how complete its data is: 5 complete, 12 partial with the missing fields named, and 2 with nothing usable.</a:t>
            </a:r>
            <a:endParaRPr lang="en-US" sz="1050" dirty="0"/>
          </a:p>
        </p:txBody>
      </p:sp>
      <p:sp>
        <p:nvSpPr>
          <p:cNvPr id="11" name="Shape 9"/>
          <p:cNvSpPr/>
          <p:nvPr/>
        </p:nvSpPr>
        <p:spPr>
          <a:xfrm>
            <a:off x="502920" y="3611880"/>
            <a:ext cx="11183112" cy="2103120"/>
          </a:xfrm>
          <a:prstGeom prst="roundRect">
            <a:avLst>
              <a:gd name="adj" fmla="val 2609"/>
            </a:avLst>
          </a:prstGeom>
          <a:solidFill>
            <a:srgbClr val="FBFDFC"/>
          </a:solidFill>
          <a:ln w="19050">
            <a:solidFill>
              <a:srgbClr val="1A9E75"/>
            </a:solidFill>
            <a:prstDash val="dash"/>
          </a:ln>
        </p:spPr>
        <p:txBody>
          <a:bodyPr/>
          <a:p/>
        </p:txBody>
      </p:sp>
      <p:sp>
        <p:nvSpPr>
          <p:cNvPr id="12" name="Shape 10"/>
          <p:cNvSpPr/>
          <p:nvPr/>
        </p:nvSpPr>
        <p:spPr>
          <a:xfrm>
            <a:off x="704088" y="379476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13" name="Text 11"/>
          <p:cNvSpPr/>
          <p:nvPr/>
        </p:nvSpPr>
        <p:spPr>
          <a:xfrm>
            <a:off x="704088" y="379476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14" name="Text 12"/>
          <p:cNvSpPr/>
          <p:nvPr/>
        </p:nvSpPr>
        <p:spPr>
          <a:xfrm>
            <a:off x="704088" y="4178808"/>
            <a:ext cx="1078077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summary table at the bottom of the page</a:t>
            </a:r>
            <a:endParaRPr lang="en-US" sz="1250" dirty="0"/>
          </a:p>
        </p:txBody>
      </p:sp>
      <p:sp>
        <p:nvSpPr>
          <p:cNvPr id="15" name="Text 13"/>
          <p:cNvSpPr/>
          <p:nvPr/>
        </p:nvSpPr>
        <p:spPr>
          <a:xfrm>
            <a:off x="704088" y="4800600"/>
            <a:ext cx="1078077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16" name="Text 14"/>
          <p:cNvSpPr/>
          <p:nvPr/>
        </p:nvSpPr>
        <p:spPr>
          <a:xfrm>
            <a:off x="777240" y="5038344"/>
            <a:ext cx="10634472" cy="5029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country column</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import duty column</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A blank cell, showing where a country does not publish that figure</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source link at the end of a row</a:t>
            </a:r>
            <a:endParaRPr lang="en-US" sz="1050" dirty="0"/>
          </a:p>
        </p:txBody>
      </p:sp>
      <p:sp>
        <p:nvSpPr>
          <p:cNvPr id="17" name="Text 15"/>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2 - Caribbean Regional Comparison</a:t>
            </a:r>
            <a:endParaRPr lang="en-US" sz="900" dirty="0"/>
          </a:p>
        </p:txBody>
      </p:sp>
      <p:sp>
        <p:nvSpPr>
          <p:cNvPr id="18" name="Text 16"/>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roundRect">
            <a:avLst>
              <a:gd name="adj" fmla="val 6667"/>
            </a:avLst>
          </a:prstGeom>
          <a:solidFill>
            <a:srgbClr val="1A9E75"/>
          </a:solidFill>
          <a:ln w="12700">
            <a:solidFill>
              <a:srgbClr val="1A9E75"/>
            </a:solidFill>
            <a:prstDash val="solid"/>
          </a:ln>
        </p:spPr>
        <p:txBody>
          <a:bodyPr/>
          <a:p/>
        </p:txBody>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6200" b="1" dirty="0">
                <a:solidFill>
                  <a:srgbClr val="0E2A24"/>
                </a:solidFill>
                <a:latin typeface="Cambria" pitchFamily="34" charset="0"/>
                <a:ea typeface="Cambria" pitchFamily="34" charset="-122"/>
                <a:cs typeface="Cambria" pitchFamily="34" charset="-120"/>
              </a:rPr>
              <a:t>3</a:t>
            </a:r>
            <a:endParaRPr lang="en-US" sz="6200" dirty="0"/>
          </a:p>
        </p:txBody>
      </p:sp>
      <p:sp>
        <p:nvSpPr>
          <p:cNvPr id="4" name="Text 2"/>
          <p:cNvSpPr/>
          <p:nvPr/>
        </p:nvSpPr>
        <p:spPr>
          <a:xfrm>
            <a:off x="2514600" y="2194560"/>
            <a:ext cx="8686800" cy="292608"/>
          </a:xfrm>
          <a:prstGeom prst="rect">
            <a:avLst/>
          </a:prstGeom>
          <a:noFill/>
          <a:ln/>
        </p:spPr>
        <p:txBody>
          <a:bodyPr wrap="square" lIns="0" tIns="0" rIns="0" bIns="0" rtlCol="0" anchor="ctr"/>
          <a:lstStyle/>
          <a:p>
            <a:pPr indent="0" marL="0">
              <a:buNone/>
            </a:pPr>
            <a:r>
              <a:rPr lang="en-US" sz="1200" b="1" spc="200" kern="0" dirty="0">
                <a:solidFill>
                  <a:srgbClr val="1A9E75"/>
                </a:solidFill>
                <a:latin typeface="Calibri" pitchFamily="34" charset="0"/>
                <a:ea typeface="Calibri" pitchFamily="34" charset="-122"/>
                <a:cs typeface="Calibri" pitchFamily="34" charset="-120"/>
              </a:rPr>
              <a:t>MODULE 3</a:t>
            </a:r>
            <a:endParaRPr lang="en-US" sz="1200" dirty="0"/>
          </a:p>
        </p:txBody>
      </p:sp>
      <p:sp>
        <p:nvSpPr>
          <p:cNvPr id="5" name="Text 3"/>
          <p:cNvSpPr/>
          <p:nvPr/>
        </p:nvSpPr>
        <p:spPr>
          <a:xfrm>
            <a:off x="2514600" y="2487168"/>
            <a:ext cx="90525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EV vs. ICE Calculator</a:t>
            </a:r>
            <a:endParaRPr lang="en-US" sz="3400" dirty="0"/>
          </a:p>
        </p:txBody>
      </p:sp>
      <p:sp>
        <p:nvSpPr>
          <p:cNvPr id="6" name="Text 4"/>
          <p:cNvSpPr/>
          <p:nvPr/>
        </p:nvSpPr>
        <p:spPr>
          <a:xfrm>
            <a:off x="2514600" y="3154680"/>
            <a:ext cx="8778240" cy="457200"/>
          </a:xfrm>
          <a:prstGeom prst="rect">
            <a:avLst/>
          </a:prstGeom>
          <a:noFill/>
          <a:ln/>
        </p:spPr>
        <p:txBody>
          <a:bodyPr wrap="square" lIns="0" tIns="0" rIns="0" bIns="0" rtlCol="0" anchor="ctr"/>
          <a:lstStyle/>
          <a:p>
            <a:pPr indent="0" marL="0">
              <a:buNone/>
            </a:pPr>
            <a:r>
              <a:rPr lang="en-US" sz="1400" dirty="0">
                <a:solidFill>
                  <a:srgbClr val="B9CFC9"/>
                </a:solidFill>
                <a:latin typeface="Calibri" pitchFamily="34" charset="0"/>
                <a:ea typeface="Calibri" pitchFamily="34" charset="-122"/>
                <a:cs typeface="Calibri" pitchFamily="34" charset="-120"/>
              </a:rPr>
              <a:t>Compare one petrol car against one electric car over the years you plan to own it.</a:t>
            </a:r>
            <a:endParaRPr lang="en-US" sz="1400" dirty="0"/>
          </a:p>
        </p:txBody>
      </p:sp>
      <p:sp>
        <p:nvSpPr>
          <p:cNvPr id="7" name="Text 5"/>
          <p:cNvSpPr/>
          <p:nvPr/>
        </p:nvSpPr>
        <p:spPr>
          <a:xfrm>
            <a:off x="2542032" y="3794760"/>
            <a:ext cx="8686800" cy="365760"/>
          </a:xfrm>
          <a:prstGeom prst="rect">
            <a:avLst/>
          </a:prstGeom>
          <a:noFill/>
          <a:ln/>
        </p:spPr>
        <p:txBody>
          <a:bodyPr wrap="square" lIns="0" tIns="0" rIns="0" bIns="0" rtlCol="0" anchor="ctr"/>
          <a:lstStyle/>
          <a:p>
            <a:pPr indent="0" marL="0">
              <a:buNone/>
            </a:pPr>
            <a:r>
              <a:rPr lang="en-US" sz="1200" i="1" dirty="0">
                <a:solidFill>
                  <a:srgbClr val="8FB3AB"/>
                </a:solidFill>
                <a:latin typeface="Calibri" pitchFamily="34" charset="0"/>
                <a:ea typeface="Calibri" pitchFamily="34" charset="-122"/>
                <a:cs typeface="Calibri" pitchFamily="34" charset="-120"/>
              </a:rPr>
              <a:t>What it answers:  Which is cheaper for me, and when does the electric car catch up?</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3</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1 of 3: choose the two vehicles</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'Vehicle selection and costs'</a:t>
            </a:r>
            <a:endParaRPr lang="en-US" sz="1300" dirty="0"/>
          </a:p>
        </p:txBody>
      </p:sp>
      <p:sp>
        <p:nvSpPr>
          <p:cNvPr id="7" name="Text 5"/>
          <p:cNvSpPr/>
          <p:nvPr/>
        </p:nvSpPr>
        <p:spPr>
          <a:xfrm>
            <a:off x="932688" y="1572768"/>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Click the heading if the section is not already open.</a:t>
            </a:r>
            <a:endParaRPr lang="en-US" sz="1150" dirty="0"/>
          </a:p>
        </p:txBody>
      </p:sp>
      <p:sp>
        <p:nvSpPr>
          <p:cNvPr id="8" name="Shape 6"/>
          <p:cNvSpPr/>
          <p:nvPr/>
        </p:nvSpPr>
        <p:spPr>
          <a:xfrm>
            <a:off x="502920" y="1979676"/>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197967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195224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Pick the petrol car</a:t>
            </a:r>
            <a:endParaRPr lang="en-US" sz="1300" dirty="0"/>
          </a:p>
        </p:txBody>
      </p:sp>
      <p:sp>
        <p:nvSpPr>
          <p:cNvPr id="11" name="Text 9"/>
          <p:cNvSpPr/>
          <p:nvPr/>
        </p:nvSpPr>
        <p:spPr>
          <a:xfrm>
            <a:off x="932688" y="2180844"/>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Use the first 'Select model' dropdown. The list covers the models most commonly sold and imported in Jamaica, and ends with 'My Car' if yours is not there.</a:t>
            </a:r>
            <a:endParaRPr lang="en-US" sz="1150" dirty="0"/>
          </a:p>
        </p:txBody>
      </p:sp>
      <p:sp>
        <p:nvSpPr>
          <p:cNvPr id="12" name="Shape 10"/>
          <p:cNvSpPr/>
          <p:nvPr/>
        </p:nvSpPr>
        <p:spPr>
          <a:xfrm>
            <a:off x="502920" y="2756916"/>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275691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272948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Check the price it fills in</a:t>
            </a:r>
            <a:endParaRPr lang="en-US" sz="1300" dirty="0"/>
          </a:p>
        </p:txBody>
      </p:sp>
      <p:sp>
        <p:nvSpPr>
          <p:cNvPr id="15" name="Text 13"/>
          <p:cNvSpPr/>
          <p:nvPr/>
        </p:nvSpPr>
        <p:spPr>
          <a:xfrm>
            <a:off x="932688" y="2958084"/>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Choosing a model fills in a purchase price automatically. Type over it if you have a real quote. If you picked 'My Car', a panel opens where you enter price, consumption, maintenance, model year and depreciation yourself.</a:t>
            </a:r>
            <a:endParaRPr lang="en-US" sz="1150" dirty="0"/>
          </a:p>
        </p:txBody>
      </p:sp>
      <p:sp>
        <p:nvSpPr>
          <p:cNvPr id="16" name="Shape 14"/>
          <p:cNvSpPr/>
          <p:nvPr/>
        </p:nvSpPr>
        <p:spPr>
          <a:xfrm>
            <a:off x="502920" y="3534156"/>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353415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350672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Check the fuel consumption</a:t>
            </a:r>
            <a:endParaRPr lang="en-US" sz="1300" dirty="0"/>
          </a:p>
        </p:txBody>
      </p:sp>
      <p:sp>
        <p:nvSpPr>
          <p:cNvPr id="19" name="Text 17"/>
          <p:cNvSpPr/>
          <p:nvPr/>
        </p:nvSpPr>
        <p:spPr>
          <a:xfrm>
            <a:off x="932688" y="3735324"/>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Given in litres per 100 km. Type over it, or drag the slider, if you know what your car really uses.</a:t>
            </a:r>
            <a:endParaRPr lang="en-US" sz="1150" dirty="0"/>
          </a:p>
        </p:txBody>
      </p:sp>
      <p:sp>
        <p:nvSpPr>
          <p:cNvPr id="20" name="Shape 18"/>
          <p:cNvSpPr/>
          <p:nvPr/>
        </p:nvSpPr>
        <p:spPr>
          <a:xfrm>
            <a:off x="502920" y="4311396"/>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31139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28396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Pick the electric car</a:t>
            </a:r>
            <a:endParaRPr lang="en-US" sz="1300" dirty="0"/>
          </a:p>
        </p:txBody>
      </p:sp>
      <p:sp>
        <p:nvSpPr>
          <p:cNvPr id="23" name="Text 21"/>
          <p:cNvSpPr/>
          <p:nvPr/>
        </p:nvSpPr>
        <p:spPr>
          <a:xfrm>
            <a:off x="932688" y="4512564"/>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Use the second 'Select model' dropdown, below the petrol one. 'My Car' is available here too, with a box for battery size and where the battery was made.</a:t>
            </a:r>
            <a:endParaRPr lang="en-US" sz="1150" dirty="0"/>
          </a:p>
        </p:txBody>
      </p:sp>
      <p:sp>
        <p:nvSpPr>
          <p:cNvPr id="24" name="Shape 22"/>
          <p:cNvSpPr/>
          <p:nvPr/>
        </p:nvSpPr>
        <p:spPr>
          <a:xfrm>
            <a:off x="502920" y="4919472"/>
            <a:ext cx="292608" cy="292608"/>
          </a:xfrm>
          <a:prstGeom prst="ellipse">
            <a:avLst/>
          </a:prstGeom>
          <a:solidFill>
            <a:srgbClr val="1A7A6E"/>
          </a:solidFill>
          <a:ln w="12700">
            <a:solidFill>
              <a:srgbClr val="1A7A6E"/>
            </a:solidFill>
            <a:prstDash val="solid"/>
          </a:ln>
        </p:spPr>
        <p:txBody>
          <a:bodyPr/>
          <a:p/>
        </p:txBody>
      </p:sp>
      <p:sp>
        <p:nvSpPr>
          <p:cNvPr id="25" name="Text 23"/>
          <p:cNvSpPr/>
          <p:nvPr/>
        </p:nvSpPr>
        <p:spPr>
          <a:xfrm>
            <a:off x="502920" y="491947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26" name="Text 24"/>
          <p:cNvSpPr/>
          <p:nvPr/>
        </p:nvSpPr>
        <p:spPr>
          <a:xfrm>
            <a:off x="932688" y="489204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Check its price and consumption</a:t>
            </a:r>
            <a:endParaRPr lang="en-US" sz="1300" dirty="0"/>
          </a:p>
        </p:txBody>
      </p:sp>
      <p:sp>
        <p:nvSpPr>
          <p:cNvPr id="27" name="Text 25"/>
          <p:cNvSpPr/>
          <p:nvPr/>
        </p:nvSpPr>
        <p:spPr>
          <a:xfrm>
            <a:off x="932688" y="5120640"/>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Electric consumption is in kWh per 100 km instead of litres.</a:t>
            </a:r>
            <a:endParaRPr lang="en-US" sz="1150" dirty="0"/>
          </a:p>
        </p:txBody>
      </p:sp>
      <p:sp>
        <p:nvSpPr>
          <p:cNvPr id="28" name="Shape 26"/>
          <p:cNvSpPr/>
          <p:nvPr/>
        </p:nvSpPr>
        <p:spPr>
          <a:xfrm>
            <a:off x="6355080" y="1371600"/>
            <a:ext cx="5330952" cy="3931920"/>
          </a:xfrm>
          <a:prstGeom prst="roundRect">
            <a:avLst>
              <a:gd name="adj" fmla="val 1395"/>
            </a:avLst>
          </a:prstGeom>
          <a:solidFill>
            <a:srgbClr val="FBFDFC"/>
          </a:solidFill>
          <a:ln w="19050">
            <a:solidFill>
              <a:srgbClr val="1A9E75"/>
            </a:solidFill>
            <a:prstDash val="dash"/>
          </a:ln>
        </p:spPr>
        <p:txBody>
          <a:bodyPr/>
          <a:p/>
        </p:txBody>
      </p:sp>
      <p:sp>
        <p:nvSpPr>
          <p:cNvPr id="29" name="Shape 27"/>
          <p:cNvSpPr/>
          <p:nvPr/>
        </p:nvSpPr>
        <p:spPr>
          <a:xfrm>
            <a:off x="655624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30" name="Text 28"/>
          <p:cNvSpPr/>
          <p:nvPr/>
        </p:nvSpPr>
        <p:spPr>
          <a:xfrm>
            <a:off x="655624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31" name="Text 29"/>
          <p:cNvSpPr/>
          <p:nvPr/>
        </p:nvSpPr>
        <p:spPr>
          <a:xfrm>
            <a:off x="6556248" y="193852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'Vehicle selection and costs' panel with both cars chosen</a:t>
            </a:r>
            <a:endParaRPr lang="en-US" sz="1250" dirty="0"/>
          </a:p>
        </p:txBody>
      </p:sp>
      <p:sp>
        <p:nvSpPr>
          <p:cNvPr id="32" name="Text 30"/>
          <p:cNvSpPr/>
          <p:nvPr/>
        </p:nvSpPr>
        <p:spPr>
          <a:xfrm>
            <a:off x="6556248" y="256032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33" name="Text 31"/>
          <p:cNvSpPr/>
          <p:nvPr/>
        </p:nvSpPr>
        <p:spPr>
          <a:xfrm>
            <a:off x="6629400" y="2798064"/>
            <a:ext cx="4782312" cy="2331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petrol model dropdown</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purchase price box that fills in automatically</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consumption box and its slider</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electric model dropdown below | The 'My Car' panel, if you chose that option</a:t>
            </a:r>
            <a:endParaRPr lang="en-US" sz="1050" dirty="0"/>
          </a:p>
        </p:txBody>
      </p:sp>
      <p:sp>
        <p:nvSpPr>
          <p:cNvPr id="34" name="Text 32"/>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3 - EV vs. ICE Calculator</a:t>
            </a:r>
            <a:endParaRPr lang="en-US" sz="900" dirty="0"/>
          </a:p>
        </p:txBody>
      </p:sp>
      <p:sp>
        <p:nvSpPr>
          <p:cNvPr id="35" name="Text 33"/>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3</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2 of 3: your driving and charging</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'Driving and ownership'</a:t>
            </a:r>
            <a:endParaRPr lang="en-US" sz="1300" dirty="0"/>
          </a:p>
        </p:txBody>
      </p:sp>
      <p:sp>
        <p:nvSpPr>
          <p:cNvPr id="7" name="Text 5"/>
          <p:cNvSpPr/>
          <p:nvPr/>
        </p:nvSpPr>
        <p:spPr>
          <a:xfrm>
            <a:off x="932688" y="1572768"/>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 section below the vehicle choices.</a:t>
            </a:r>
            <a:endParaRPr lang="en-US" sz="1150" dirty="0"/>
          </a:p>
        </p:txBody>
      </p:sp>
      <p:sp>
        <p:nvSpPr>
          <p:cNvPr id="8" name="Shape 6"/>
          <p:cNvSpPr/>
          <p:nvPr/>
        </p:nvSpPr>
        <p:spPr>
          <a:xfrm>
            <a:off x="502920" y="1979676"/>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197967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195224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Enter your daily distance</a:t>
            </a:r>
            <a:endParaRPr lang="en-US" sz="1300" dirty="0"/>
          </a:p>
        </p:txBody>
      </p:sp>
      <p:sp>
        <p:nvSpPr>
          <p:cNvPr id="11" name="Text 9"/>
          <p:cNvSpPr/>
          <p:nvPr/>
        </p:nvSpPr>
        <p:spPr>
          <a:xfrm>
            <a:off x="932688" y="2180844"/>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How far you drive on a typical day, in kilometres. Type a number or drag the slider.</a:t>
            </a:r>
            <a:endParaRPr lang="en-US" sz="1150" dirty="0"/>
          </a:p>
        </p:txBody>
      </p:sp>
      <p:sp>
        <p:nvSpPr>
          <p:cNvPr id="12" name="Shape 10"/>
          <p:cNvSpPr/>
          <p:nvPr/>
        </p:nvSpPr>
        <p:spPr>
          <a:xfrm>
            <a:off x="502920" y="2756916"/>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275691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272948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Set how long you will keep the car</a:t>
            </a:r>
            <a:endParaRPr lang="en-US" sz="1300" dirty="0"/>
          </a:p>
        </p:txBody>
      </p:sp>
      <p:sp>
        <p:nvSpPr>
          <p:cNvPr id="15" name="Text 13"/>
          <p:cNvSpPr/>
          <p:nvPr/>
        </p:nvSpPr>
        <p:spPr>
          <a:xfrm>
            <a:off x="932688" y="2958084"/>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In years. This decides how far the chart runs.</a:t>
            </a:r>
            <a:endParaRPr lang="en-US" sz="1150" dirty="0"/>
          </a:p>
        </p:txBody>
      </p:sp>
      <p:sp>
        <p:nvSpPr>
          <p:cNvPr id="16" name="Shape 14"/>
          <p:cNvSpPr/>
          <p:nvPr/>
        </p:nvSpPr>
        <p:spPr>
          <a:xfrm>
            <a:off x="502920" y="3364992"/>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336499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333756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'Charging location'</a:t>
            </a:r>
            <a:endParaRPr lang="en-US" sz="1300" dirty="0"/>
          </a:p>
        </p:txBody>
      </p:sp>
      <p:sp>
        <p:nvSpPr>
          <p:cNvPr id="19" name="Text 17"/>
          <p:cNvSpPr/>
          <p:nvPr/>
        </p:nvSpPr>
        <p:spPr>
          <a:xfrm>
            <a:off x="932688" y="356616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 part most people miss, and it changes the answer a lot. Choose home only, public only, or a mixture.</a:t>
            </a:r>
            <a:endParaRPr lang="en-US" sz="1150" dirty="0"/>
          </a:p>
        </p:txBody>
      </p:sp>
      <p:sp>
        <p:nvSpPr>
          <p:cNvPr id="20" name="Shape 18"/>
          <p:cNvSpPr/>
          <p:nvPr/>
        </p:nvSpPr>
        <p:spPr>
          <a:xfrm>
            <a:off x="502920" y="4142232"/>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14223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11480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If you chose a mixture</a:t>
            </a:r>
            <a:endParaRPr lang="en-US" sz="1300" dirty="0"/>
          </a:p>
        </p:txBody>
      </p:sp>
      <p:sp>
        <p:nvSpPr>
          <p:cNvPr id="23" name="Text 21"/>
          <p:cNvSpPr/>
          <p:nvPr/>
        </p:nvSpPr>
        <p:spPr>
          <a:xfrm>
            <a:off x="932688" y="434340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A box appears asking what percentage you charge at home. Enter your best estimate.</a:t>
            </a:r>
            <a:endParaRPr lang="en-US" sz="1150" dirty="0"/>
          </a:p>
        </p:txBody>
      </p:sp>
      <p:sp>
        <p:nvSpPr>
          <p:cNvPr id="24" name="Shape 22"/>
          <p:cNvSpPr/>
          <p:nvPr/>
        </p:nvSpPr>
        <p:spPr>
          <a:xfrm>
            <a:off x="6355080" y="1371600"/>
            <a:ext cx="5330952" cy="3520440"/>
          </a:xfrm>
          <a:prstGeom prst="roundRect">
            <a:avLst>
              <a:gd name="adj" fmla="val 1558"/>
            </a:avLst>
          </a:prstGeom>
          <a:solidFill>
            <a:srgbClr val="FBFDFC"/>
          </a:solidFill>
          <a:ln w="19050">
            <a:solidFill>
              <a:srgbClr val="1A9E75"/>
            </a:solidFill>
            <a:prstDash val="dash"/>
          </a:ln>
        </p:spPr>
        <p:txBody>
          <a:bodyPr/>
          <a:p/>
        </p:txBody>
      </p:sp>
      <p:sp>
        <p:nvSpPr>
          <p:cNvPr id="25" name="Shape 23"/>
          <p:cNvSpPr/>
          <p:nvPr/>
        </p:nvSpPr>
        <p:spPr>
          <a:xfrm>
            <a:off x="655624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6" name="Text 24"/>
          <p:cNvSpPr/>
          <p:nvPr/>
        </p:nvSpPr>
        <p:spPr>
          <a:xfrm>
            <a:off x="655624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7" name="Text 25"/>
          <p:cNvSpPr/>
          <p:nvPr/>
        </p:nvSpPr>
        <p:spPr>
          <a:xfrm>
            <a:off x="6556248" y="193852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driving inputs and the charging location options</a:t>
            </a:r>
            <a:endParaRPr lang="en-US" sz="1250" dirty="0"/>
          </a:p>
        </p:txBody>
      </p:sp>
      <p:sp>
        <p:nvSpPr>
          <p:cNvPr id="28" name="Text 26"/>
          <p:cNvSpPr/>
          <p:nvPr/>
        </p:nvSpPr>
        <p:spPr>
          <a:xfrm>
            <a:off x="6556248" y="256032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9" name="Text 27"/>
          <p:cNvSpPr/>
          <p:nvPr/>
        </p:nvSpPr>
        <p:spPr>
          <a:xfrm>
            <a:off x="6629400" y="2798064"/>
            <a:ext cx="4782312" cy="19202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daily distance box and slider</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ownership period box and slider</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three charging location options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 charged at home' box that appears for a mixture</a:t>
            </a:r>
            <a:endParaRPr lang="en-US" sz="1050" dirty="0"/>
          </a:p>
        </p:txBody>
      </p:sp>
      <p:sp>
        <p:nvSpPr>
          <p:cNvPr id="30" name="Shape 28"/>
          <p:cNvSpPr/>
          <p:nvPr/>
        </p:nvSpPr>
        <p:spPr>
          <a:xfrm>
            <a:off x="502920" y="5074920"/>
            <a:ext cx="11183112" cy="658368"/>
          </a:xfrm>
          <a:prstGeom prst="roundRect">
            <a:avLst>
              <a:gd name="adj" fmla="val 8333"/>
            </a:avLst>
          </a:prstGeom>
          <a:solidFill>
            <a:srgbClr val="F1F6F4"/>
          </a:solidFill>
          <a:ln w="12700">
            <a:solidFill>
              <a:srgbClr val="D8E3E0"/>
            </a:solidFill>
            <a:prstDash val="solid"/>
          </a:ln>
        </p:spPr>
        <p:txBody>
          <a:bodyPr/>
          <a:p/>
        </p:txBody>
      </p:sp>
      <p:sp>
        <p:nvSpPr>
          <p:cNvPr id="31" name="Shape 29"/>
          <p:cNvSpPr/>
          <p:nvPr/>
        </p:nvSpPr>
        <p:spPr>
          <a:xfrm>
            <a:off x="685800" y="5248656"/>
            <a:ext cx="310896" cy="310896"/>
          </a:xfrm>
          <a:prstGeom prst="ellipse">
            <a:avLst/>
          </a:prstGeom>
          <a:solidFill>
            <a:srgbClr val="1A9E75"/>
          </a:solidFill>
          <a:ln w="12700">
            <a:solidFill>
              <a:srgbClr val="1A9E75"/>
            </a:solidFill>
            <a:prstDash val="solid"/>
          </a:ln>
        </p:spPr>
        <p:txBody>
          <a:bodyPr/>
          <a:p/>
        </p:txBody>
      </p:sp>
      <p:sp>
        <p:nvSpPr>
          <p:cNvPr id="32" name="Text 30"/>
          <p:cNvSpPr/>
          <p:nvPr/>
        </p:nvSpPr>
        <p:spPr>
          <a:xfrm>
            <a:off x="685800" y="524865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33" name="Text 31"/>
          <p:cNvSpPr/>
          <p:nvPr/>
        </p:nvSpPr>
        <p:spPr>
          <a:xfrm>
            <a:off x="1133856" y="5184648"/>
            <a:ext cx="10424160" cy="457200"/>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This matters:  </a:t>
            </a:r>
            <a:pPr indent="0" marL="0">
              <a:buNone/>
            </a:pPr>
            <a:r>
              <a:rPr lang="en-US" sz="1100" dirty="0">
                <a:solidFill>
                  <a:srgbClr val="6B7A77"/>
                </a:solidFill>
                <a:latin typeface="Calibri" pitchFamily="34" charset="0"/>
                <a:ea typeface="Calibri" pitchFamily="34" charset="-122"/>
                <a:cs typeface="Calibri" pitchFamily="34" charset="-120"/>
              </a:rPr>
              <a:t>home charging is far cheaper than public charging, so an honest split here makes the result far more realistic.</a:t>
            </a:r>
            <a:endParaRPr lang="en-US" sz="1100" dirty="0"/>
          </a:p>
        </p:txBody>
      </p:sp>
      <p:sp>
        <p:nvSpPr>
          <p:cNvPr id="34" name="Text 32"/>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3 - EV vs. ICE Calculator</a:t>
            </a:r>
            <a:endParaRPr lang="en-US" sz="900" dirty="0"/>
          </a:p>
        </p:txBody>
      </p:sp>
      <p:sp>
        <p:nvSpPr>
          <p:cNvPr id="35" name="Text 33"/>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3</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3 of 3: reading your answer</a:t>
            </a:r>
            <a:endParaRPr lang="en-US" sz="3200" dirty="0"/>
          </a:p>
        </p:txBody>
      </p:sp>
      <p:sp>
        <p:nvSpPr>
          <p:cNvPr id="4" name="Text 2"/>
          <p:cNvSpPr/>
          <p:nvPr/>
        </p:nvSpPr>
        <p:spPr>
          <a:xfrm>
            <a:off x="502920" y="1207008"/>
            <a:ext cx="11155680" cy="32004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Nothing needs to be submitted. The results on the right update as soon as you change any input.</a:t>
            </a:r>
            <a:endParaRPr lang="en-US" sz="1300" dirty="0"/>
          </a:p>
        </p:txBody>
      </p:sp>
      <p:sp>
        <p:nvSpPr>
          <p:cNvPr id="5" name="Shape 3"/>
          <p:cNvSpPr/>
          <p:nvPr/>
        </p:nvSpPr>
        <p:spPr>
          <a:xfrm>
            <a:off x="502920" y="1691640"/>
            <a:ext cx="3617976" cy="1371600"/>
          </a:xfrm>
          <a:prstGeom prst="roundRect">
            <a:avLst>
              <a:gd name="adj" fmla="val 4000"/>
            </a:avLst>
          </a:prstGeom>
          <a:solidFill>
            <a:srgbClr val="F1F6F4"/>
          </a:solidFill>
          <a:ln w="12700">
            <a:solidFill>
              <a:srgbClr val="D8E3E0"/>
            </a:solidFill>
            <a:prstDash val="solid"/>
          </a:ln>
        </p:spPr>
        <p:txBody>
          <a:bodyPr/>
          <a:p/>
        </p:txBody>
      </p:sp>
      <p:sp>
        <p:nvSpPr>
          <p:cNvPr id="6" name="Text 4"/>
          <p:cNvSpPr/>
          <p:nvPr/>
        </p:nvSpPr>
        <p:spPr>
          <a:xfrm>
            <a:off x="649224" y="1819656"/>
            <a:ext cx="3325368" cy="256032"/>
          </a:xfrm>
          <a:prstGeom prst="rect">
            <a:avLst/>
          </a:prstGeom>
          <a:noFill/>
          <a:ln/>
        </p:spPr>
        <p:txBody>
          <a:bodyPr wrap="square" lIns="0" tIns="0" rIns="0" bIns="0" rtlCol="0" anchor="ctr"/>
          <a:lstStyle/>
          <a:p>
            <a:pPr indent="0" marL="0">
              <a:buNone/>
            </a:pPr>
            <a:r>
              <a:rPr lang="en-US" sz="1100" b="1" dirty="0">
                <a:solidFill>
                  <a:srgbClr val="1A7A6E"/>
                </a:solidFill>
                <a:latin typeface="Calibri" pitchFamily="34" charset="0"/>
                <a:ea typeface="Calibri" pitchFamily="34" charset="-122"/>
                <a:cs typeface="Calibri" pitchFamily="34" charset="-120"/>
              </a:rPr>
              <a:t>The summary cards</a:t>
            </a:r>
            <a:endParaRPr lang="en-US" sz="1100" dirty="0"/>
          </a:p>
        </p:txBody>
      </p:sp>
      <p:sp>
        <p:nvSpPr>
          <p:cNvPr id="7" name="Text 5"/>
          <p:cNvSpPr/>
          <p:nvPr/>
        </p:nvSpPr>
        <p:spPr>
          <a:xfrm>
            <a:off x="649224" y="2093976"/>
            <a:ext cx="3325368" cy="8412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Quick totals across the top. Note that 'Annual running-cost saving' is fuel against electricity only. It does not include maintenance, depreciation or financing, which is why it differs from the chart below.</a:t>
            </a:r>
            <a:endParaRPr lang="en-US" sz="1050" dirty="0"/>
          </a:p>
        </p:txBody>
      </p:sp>
      <p:sp>
        <p:nvSpPr>
          <p:cNvPr id="8" name="Shape 6"/>
          <p:cNvSpPr/>
          <p:nvPr/>
        </p:nvSpPr>
        <p:spPr>
          <a:xfrm>
            <a:off x="4285488" y="1691640"/>
            <a:ext cx="3617976" cy="1371600"/>
          </a:xfrm>
          <a:prstGeom prst="roundRect">
            <a:avLst>
              <a:gd name="adj" fmla="val 4000"/>
            </a:avLst>
          </a:prstGeom>
          <a:solidFill>
            <a:srgbClr val="F1F6F4"/>
          </a:solidFill>
          <a:ln w="12700">
            <a:solidFill>
              <a:srgbClr val="D8E3E0"/>
            </a:solidFill>
            <a:prstDash val="solid"/>
          </a:ln>
        </p:spPr>
        <p:txBody>
          <a:bodyPr/>
          <a:p/>
        </p:txBody>
      </p:sp>
      <p:sp>
        <p:nvSpPr>
          <p:cNvPr id="9" name="Text 7"/>
          <p:cNvSpPr/>
          <p:nvPr/>
        </p:nvSpPr>
        <p:spPr>
          <a:xfrm>
            <a:off x="4431792" y="1819656"/>
            <a:ext cx="3325368"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The verdict box</a:t>
            </a:r>
            <a:endParaRPr lang="en-US" sz="1100" dirty="0"/>
          </a:p>
        </p:txBody>
      </p:sp>
      <p:sp>
        <p:nvSpPr>
          <p:cNvPr id="10" name="Text 8"/>
          <p:cNvSpPr/>
          <p:nvPr/>
        </p:nvSpPr>
        <p:spPr>
          <a:xfrm>
            <a:off x="4431792" y="2093976"/>
            <a:ext cx="3325368" cy="8412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Under the cards, in plain words: 'The EV becomes the cheaper vehicle after 3 years, 4 months', or a red warning that it never does.</a:t>
            </a:r>
            <a:endParaRPr lang="en-US" sz="1050" dirty="0"/>
          </a:p>
        </p:txBody>
      </p:sp>
      <p:sp>
        <p:nvSpPr>
          <p:cNvPr id="11" name="Shape 9"/>
          <p:cNvSpPr/>
          <p:nvPr/>
        </p:nvSpPr>
        <p:spPr>
          <a:xfrm>
            <a:off x="8068056" y="1691640"/>
            <a:ext cx="3617976" cy="1371600"/>
          </a:xfrm>
          <a:prstGeom prst="roundRect">
            <a:avLst>
              <a:gd name="adj" fmla="val 4000"/>
            </a:avLst>
          </a:prstGeom>
          <a:solidFill>
            <a:srgbClr val="F1F6F4"/>
          </a:solidFill>
          <a:ln w="12700">
            <a:solidFill>
              <a:srgbClr val="D8E3E0"/>
            </a:solidFill>
            <a:prstDash val="solid"/>
          </a:ln>
        </p:spPr>
        <p:txBody>
          <a:bodyPr/>
          <a:p/>
        </p:txBody>
      </p:sp>
      <p:sp>
        <p:nvSpPr>
          <p:cNvPr id="12" name="Text 10"/>
          <p:cNvSpPr/>
          <p:nvPr/>
        </p:nvSpPr>
        <p:spPr>
          <a:xfrm>
            <a:off x="8214360" y="1819656"/>
            <a:ext cx="3325368"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The two lines on the chart</a:t>
            </a:r>
            <a:endParaRPr lang="en-US" sz="1100" dirty="0"/>
          </a:p>
        </p:txBody>
      </p:sp>
      <p:sp>
        <p:nvSpPr>
          <p:cNvPr id="13" name="Text 11"/>
          <p:cNvSpPr/>
          <p:nvPr/>
        </p:nvSpPr>
        <p:spPr>
          <a:xfrm>
            <a:off x="8214360" y="2093976"/>
            <a:ext cx="3325368" cy="84124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Total money spent so far, year by year. Orange is petrol, green is electric. Where they cross is the payback point.</a:t>
            </a:r>
            <a:endParaRPr lang="en-US" sz="1050" dirty="0"/>
          </a:p>
        </p:txBody>
      </p:sp>
      <p:sp>
        <p:nvSpPr>
          <p:cNvPr id="14" name="Text 12"/>
          <p:cNvSpPr/>
          <p:nvPr/>
        </p:nvSpPr>
        <p:spPr>
          <a:xfrm>
            <a:off x="502920" y="3291840"/>
            <a:ext cx="7315200" cy="365760"/>
          </a:xfrm>
          <a:prstGeom prst="rect">
            <a:avLst/>
          </a:prstGeom>
          <a:noFill/>
          <a:ln/>
        </p:spPr>
        <p:txBody>
          <a:bodyPr wrap="square" lIns="0" tIns="0" rIns="0" bIns="0" rtlCol="0" anchor="ctr"/>
          <a:lstStyle/>
          <a:p>
            <a:pPr indent="0" marL="0">
              <a:buNone/>
            </a:pPr>
            <a:r>
              <a:rPr lang="en-US" sz="1900" b="1" dirty="0">
                <a:solidFill>
                  <a:srgbClr val="0E2A24"/>
                </a:solidFill>
                <a:latin typeface="Cambria" pitchFamily="34" charset="0"/>
                <a:ea typeface="Cambria" pitchFamily="34" charset="-122"/>
                <a:cs typeface="Cambria" pitchFamily="34" charset="-120"/>
              </a:rPr>
              <a:t>Things worth trying</a:t>
            </a:r>
            <a:endParaRPr lang="en-US" sz="1900" dirty="0"/>
          </a:p>
        </p:txBody>
      </p:sp>
      <p:sp>
        <p:nvSpPr>
          <p:cNvPr id="15" name="Text 13"/>
          <p:cNvSpPr/>
          <p:nvPr/>
        </p:nvSpPr>
        <p:spPr>
          <a:xfrm>
            <a:off x="502920" y="3703320"/>
            <a:ext cx="5577840" cy="155448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Push the daily distance up and watch the crossing point move earlier. The more you drive, the sooner an EV pays back.</a:t>
            </a:r>
            <a:endParaRPr lang="en-US" sz="1250" dirty="0"/>
          </a:p>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Switch charging from home to public only, and see how much of the saving disappears.</a:t>
            </a:r>
            <a:endParaRPr lang="en-US" sz="1250" dirty="0"/>
          </a:p>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Try a used electric car against a new petrol one, which is the choice many Jamaican buyers actually face.</a:t>
            </a:r>
            <a:endParaRPr lang="en-US" sz="1250" dirty="0"/>
          </a:p>
        </p:txBody>
      </p:sp>
      <p:sp>
        <p:nvSpPr>
          <p:cNvPr id="16" name="Shape 14"/>
          <p:cNvSpPr/>
          <p:nvPr/>
        </p:nvSpPr>
        <p:spPr>
          <a:xfrm>
            <a:off x="6355080" y="3273552"/>
            <a:ext cx="5330952" cy="2423160"/>
          </a:xfrm>
          <a:prstGeom prst="roundRect">
            <a:avLst>
              <a:gd name="adj" fmla="val 2264"/>
            </a:avLst>
          </a:prstGeom>
          <a:solidFill>
            <a:srgbClr val="FBFDFC"/>
          </a:solidFill>
          <a:ln w="19050">
            <a:solidFill>
              <a:srgbClr val="1A9E75"/>
            </a:solidFill>
            <a:prstDash val="dash"/>
          </a:ln>
        </p:spPr>
        <p:txBody>
          <a:bodyPr/>
          <a:p/>
        </p:txBody>
      </p:sp>
      <p:sp>
        <p:nvSpPr>
          <p:cNvPr id="17" name="Shape 15"/>
          <p:cNvSpPr/>
          <p:nvPr/>
        </p:nvSpPr>
        <p:spPr>
          <a:xfrm>
            <a:off x="6556248" y="3456432"/>
            <a:ext cx="1417320" cy="274320"/>
          </a:xfrm>
          <a:prstGeom prst="roundRect">
            <a:avLst>
              <a:gd name="adj" fmla="val 16667"/>
            </a:avLst>
          </a:prstGeom>
          <a:solidFill>
            <a:srgbClr val="1A9E75"/>
          </a:solidFill>
          <a:ln w="12700">
            <a:solidFill>
              <a:srgbClr val="1A9E75"/>
            </a:solidFill>
            <a:prstDash val="solid"/>
          </a:ln>
        </p:spPr>
        <p:txBody>
          <a:bodyPr/>
          <a:p/>
        </p:txBody>
      </p:sp>
      <p:sp>
        <p:nvSpPr>
          <p:cNvPr id="18" name="Text 16"/>
          <p:cNvSpPr/>
          <p:nvPr/>
        </p:nvSpPr>
        <p:spPr>
          <a:xfrm>
            <a:off x="6556248" y="3456432"/>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19" name="Text 17"/>
          <p:cNvSpPr/>
          <p:nvPr/>
        </p:nvSpPr>
        <p:spPr>
          <a:xfrm>
            <a:off x="6556248" y="3840480"/>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result cards, the verdict box and the cost chart</a:t>
            </a:r>
            <a:endParaRPr lang="en-US" sz="1250" dirty="0"/>
          </a:p>
        </p:txBody>
      </p:sp>
      <p:sp>
        <p:nvSpPr>
          <p:cNvPr id="20" name="Text 18"/>
          <p:cNvSpPr/>
          <p:nvPr/>
        </p:nvSpPr>
        <p:spPr>
          <a:xfrm>
            <a:off x="6556248" y="4462272"/>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1" name="Text 19"/>
          <p:cNvSpPr/>
          <p:nvPr/>
        </p:nvSpPr>
        <p:spPr>
          <a:xfrm>
            <a:off x="6629400" y="4700016"/>
            <a:ext cx="4782312" cy="8229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summary cards along the top</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'When does the EV overtake?' verdict box</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point where the two lines cross</a:t>
            </a:r>
            <a:endParaRPr lang="en-US" sz="1050" dirty="0"/>
          </a:p>
        </p:txBody>
      </p:sp>
      <p:sp>
        <p:nvSpPr>
          <p:cNvPr id="22" name="Text 20"/>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3 - EV vs. ICE Calculator</a:t>
            </a:r>
            <a:endParaRPr lang="en-US" sz="900" dirty="0"/>
          </a:p>
        </p:txBody>
      </p:sp>
      <p:sp>
        <p:nvSpPr>
          <p:cNvPr id="23" name="Text 21"/>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roundRect">
            <a:avLst>
              <a:gd name="adj" fmla="val 6667"/>
            </a:avLst>
          </a:prstGeom>
          <a:solidFill>
            <a:srgbClr val="1A9E75"/>
          </a:solidFill>
          <a:ln w="12700">
            <a:solidFill>
              <a:srgbClr val="1A9E75"/>
            </a:solidFill>
            <a:prstDash val="solid"/>
          </a:ln>
        </p:spPr>
        <p:txBody>
          <a:bodyPr/>
          <a:p/>
        </p:txBody>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6200" b="1" dirty="0">
                <a:solidFill>
                  <a:srgbClr val="0E2A24"/>
                </a:solidFill>
                <a:latin typeface="Cambria" pitchFamily="34" charset="0"/>
                <a:ea typeface="Cambria" pitchFamily="34" charset="-122"/>
                <a:cs typeface="Cambria" pitchFamily="34" charset="-120"/>
              </a:rPr>
              <a:t>4</a:t>
            </a:r>
            <a:endParaRPr lang="en-US" sz="6200" dirty="0"/>
          </a:p>
        </p:txBody>
      </p:sp>
      <p:sp>
        <p:nvSpPr>
          <p:cNvPr id="4" name="Text 2"/>
          <p:cNvSpPr/>
          <p:nvPr/>
        </p:nvSpPr>
        <p:spPr>
          <a:xfrm>
            <a:off x="2514600" y="2194560"/>
            <a:ext cx="8686800" cy="292608"/>
          </a:xfrm>
          <a:prstGeom prst="rect">
            <a:avLst/>
          </a:prstGeom>
          <a:noFill/>
          <a:ln/>
        </p:spPr>
        <p:txBody>
          <a:bodyPr wrap="square" lIns="0" tIns="0" rIns="0" bIns="0" rtlCol="0" anchor="ctr"/>
          <a:lstStyle/>
          <a:p>
            <a:pPr indent="0" marL="0">
              <a:buNone/>
            </a:pPr>
            <a:r>
              <a:rPr lang="en-US" sz="1200" b="1" spc="200" kern="0" dirty="0">
                <a:solidFill>
                  <a:srgbClr val="1A9E75"/>
                </a:solidFill>
                <a:latin typeface="Calibri" pitchFamily="34" charset="0"/>
                <a:ea typeface="Calibri" pitchFamily="34" charset="-122"/>
                <a:cs typeface="Calibri" pitchFamily="34" charset="-120"/>
              </a:rPr>
              <a:t>MODULE 4</a:t>
            </a:r>
            <a:endParaRPr lang="en-US" sz="1200" dirty="0"/>
          </a:p>
        </p:txBody>
      </p:sp>
      <p:sp>
        <p:nvSpPr>
          <p:cNvPr id="5" name="Text 3"/>
          <p:cNvSpPr/>
          <p:nvPr/>
        </p:nvSpPr>
        <p:spPr>
          <a:xfrm>
            <a:off x="2514600" y="2487168"/>
            <a:ext cx="90525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Taxi Feasibility Tool</a:t>
            </a:r>
            <a:endParaRPr lang="en-US" sz="3400" dirty="0"/>
          </a:p>
        </p:txBody>
      </p:sp>
      <p:sp>
        <p:nvSpPr>
          <p:cNvPr id="6" name="Text 4"/>
          <p:cNvSpPr/>
          <p:nvPr/>
        </p:nvSpPr>
        <p:spPr>
          <a:xfrm>
            <a:off x="2514600" y="3154680"/>
            <a:ext cx="8778240" cy="457200"/>
          </a:xfrm>
          <a:prstGeom prst="rect">
            <a:avLst/>
          </a:prstGeom>
          <a:noFill/>
          <a:ln/>
        </p:spPr>
        <p:txBody>
          <a:bodyPr wrap="square" lIns="0" tIns="0" rIns="0" bIns="0" rtlCol="0" anchor="ctr"/>
          <a:lstStyle/>
          <a:p>
            <a:pPr indent="0" marL="0">
              <a:buNone/>
            </a:pPr>
            <a:r>
              <a:rPr lang="en-US" sz="1400" dirty="0">
                <a:solidFill>
                  <a:srgbClr val="B9CFC9"/>
                </a:solidFill>
                <a:latin typeface="Calibri" pitchFamily="34" charset="0"/>
                <a:ea typeface="Calibri" pitchFamily="34" charset="-122"/>
                <a:cs typeface="Calibri" pitchFamily="34" charset="-120"/>
              </a:rPr>
              <a:t>Work out what a taxi operator actually takes home, after fuel or charging, servicing and loan repayments.</a:t>
            </a:r>
            <a:endParaRPr lang="en-US" sz="1400" dirty="0"/>
          </a:p>
        </p:txBody>
      </p:sp>
      <p:sp>
        <p:nvSpPr>
          <p:cNvPr id="7" name="Text 5"/>
          <p:cNvSpPr/>
          <p:nvPr/>
        </p:nvSpPr>
        <p:spPr>
          <a:xfrm>
            <a:off x="2542032" y="3794760"/>
            <a:ext cx="8686800" cy="365760"/>
          </a:xfrm>
          <a:prstGeom prst="rect">
            <a:avLst/>
          </a:prstGeom>
          <a:noFill/>
          <a:ln/>
        </p:spPr>
        <p:txBody>
          <a:bodyPr wrap="square" lIns="0" tIns="0" rIns="0" bIns="0" rtlCol="0" anchor="ctr"/>
          <a:lstStyle/>
          <a:p>
            <a:pPr indent="0" marL="0">
              <a:buNone/>
            </a:pPr>
            <a:r>
              <a:rPr lang="en-US" sz="1200" i="1" dirty="0">
                <a:solidFill>
                  <a:srgbClr val="8FB3AB"/>
                </a:solidFill>
                <a:latin typeface="Calibri" pitchFamily="34" charset="0"/>
                <a:ea typeface="Calibri" pitchFamily="34" charset="-122"/>
                <a:cs typeface="Calibri" pitchFamily="34" charset="-120"/>
              </a:rPr>
              <a:t>What it answers:  Can an electric taxi pay for itself, and how long does it take?</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4</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1 of 3: choose which vehicles to compare</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'Vehicles to compare'</a:t>
            </a:r>
            <a:endParaRPr lang="en-US" sz="1300" dirty="0"/>
          </a:p>
        </p:txBody>
      </p:sp>
      <p:sp>
        <p:nvSpPr>
          <p:cNvPr id="7" name="Text 5"/>
          <p:cNvSpPr/>
          <p:nvPr/>
        </p:nvSpPr>
        <p:spPr>
          <a:xfrm>
            <a:off x="932688" y="1572768"/>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 first section on the left.</a:t>
            </a:r>
            <a:endParaRPr lang="en-US" sz="1150" dirty="0"/>
          </a:p>
        </p:txBody>
      </p:sp>
      <p:sp>
        <p:nvSpPr>
          <p:cNvPr id="8" name="Shape 6"/>
          <p:cNvSpPr/>
          <p:nvPr/>
        </p:nvSpPr>
        <p:spPr>
          <a:xfrm>
            <a:off x="502920" y="1979676"/>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197967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195224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Look at the list</a:t>
            </a:r>
            <a:endParaRPr lang="en-US" sz="1300" dirty="0"/>
          </a:p>
        </p:txBody>
      </p:sp>
      <p:sp>
        <p:nvSpPr>
          <p:cNvPr id="11" name="Text 9"/>
          <p:cNvSpPr/>
          <p:nvPr/>
        </p:nvSpPr>
        <p:spPr>
          <a:xfrm>
            <a:off x="932688" y="2180844"/>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There are twelve vehicles: three petrol taxis, including an older and a late-model Probox, and nine electric ones.</a:t>
            </a:r>
            <a:endParaRPr lang="en-US" sz="1150" dirty="0"/>
          </a:p>
        </p:txBody>
      </p:sp>
      <p:sp>
        <p:nvSpPr>
          <p:cNvPr id="12" name="Shape 10"/>
          <p:cNvSpPr/>
          <p:nvPr/>
        </p:nvSpPr>
        <p:spPr>
          <a:xfrm>
            <a:off x="502920" y="2756916"/>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275691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272948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Add or remove vehicles</a:t>
            </a:r>
            <a:endParaRPr lang="en-US" sz="1300" dirty="0"/>
          </a:p>
        </p:txBody>
      </p:sp>
      <p:sp>
        <p:nvSpPr>
          <p:cNvPr id="15" name="Text 13"/>
          <p:cNvSpPr/>
          <p:nvPr/>
        </p:nvSpPr>
        <p:spPr>
          <a:xfrm>
            <a:off x="932688" y="2958084"/>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Click the box to add a vehicle. Click the small x on a name to remove it.</a:t>
            </a:r>
            <a:endParaRPr lang="en-US" sz="1150" dirty="0"/>
          </a:p>
        </p:txBody>
      </p:sp>
      <p:sp>
        <p:nvSpPr>
          <p:cNvPr id="16" name="Shape 14"/>
          <p:cNvSpPr/>
          <p:nvPr/>
        </p:nvSpPr>
        <p:spPr>
          <a:xfrm>
            <a:off x="502920" y="3534156"/>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353415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350672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Keep at least one petrol vehicle</a:t>
            </a:r>
            <a:endParaRPr lang="en-US" sz="1300" dirty="0"/>
          </a:p>
        </p:txBody>
      </p:sp>
      <p:sp>
        <p:nvSpPr>
          <p:cNvPr id="19" name="Text 17"/>
          <p:cNvSpPr/>
          <p:nvPr/>
        </p:nvSpPr>
        <p:spPr>
          <a:xfrm>
            <a:off x="932688" y="3735324"/>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 tool measures the electric vehicles against a petrol baseline, so it needs one to compare to.</a:t>
            </a:r>
            <a:endParaRPr lang="en-US" sz="1150" dirty="0"/>
          </a:p>
        </p:txBody>
      </p:sp>
      <p:sp>
        <p:nvSpPr>
          <p:cNvPr id="20" name="Shape 18"/>
          <p:cNvSpPr/>
          <p:nvPr/>
        </p:nvSpPr>
        <p:spPr>
          <a:xfrm>
            <a:off x="502920" y="4311396"/>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31139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28396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Notice the labels</a:t>
            </a:r>
            <a:endParaRPr lang="en-US" sz="1300" dirty="0"/>
          </a:p>
        </p:txBody>
      </p:sp>
      <p:sp>
        <p:nvSpPr>
          <p:cNvPr id="23" name="Text 21"/>
          <p:cNvSpPr/>
          <p:nvPr/>
        </p:nvSpPr>
        <p:spPr>
          <a:xfrm>
            <a:off x="932688" y="4512564"/>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Some names are tagged 'consumption derived'. Those are estimates rather than measured figures, so treat them as a guide.</a:t>
            </a:r>
            <a:endParaRPr lang="en-US" sz="1150" dirty="0"/>
          </a:p>
        </p:txBody>
      </p:sp>
      <p:sp>
        <p:nvSpPr>
          <p:cNvPr id="24" name="Shape 22"/>
          <p:cNvSpPr/>
          <p:nvPr/>
        </p:nvSpPr>
        <p:spPr>
          <a:xfrm>
            <a:off x="6355080" y="1371600"/>
            <a:ext cx="5330952" cy="3566160"/>
          </a:xfrm>
          <a:prstGeom prst="roundRect">
            <a:avLst>
              <a:gd name="adj" fmla="val 1538"/>
            </a:avLst>
          </a:prstGeom>
          <a:solidFill>
            <a:srgbClr val="FBFDFC"/>
          </a:solidFill>
          <a:ln w="19050">
            <a:solidFill>
              <a:srgbClr val="1A9E75"/>
            </a:solidFill>
            <a:prstDash val="dash"/>
          </a:ln>
        </p:spPr>
        <p:txBody>
          <a:bodyPr/>
          <a:p/>
        </p:txBody>
      </p:sp>
      <p:sp>
        <p:nvSpPr>
          <p:cNvPr id="25" name="Shape 23"/>
          <p:cNvSpPr/>
          <p:nvPr/>
        </p:nvSpPr>
        <p:spPr>
          <a:xfrm>
            <a:off x="655624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6" name="Text 24"/>
          <p:cNvSpPr/>
          <p:nvPr/>
        </p:nvSpPr>
        <p:spPr>
          <a:xfrm>
            <a:off x="655624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7" name="Text 25"/>
          <p:cNvSpPr/>
          <p:nvPr/>
        </p:nvSpPr>
        <p:spPr>
          <a:xfrm>
            <a:off x="6556248" y="193852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vehicle selection dropdown, open</a:t>
            </a:r>
            <a:endParaRPr lang="en-US" sz="1250" dirty="0"/>
          </a:p>
        </p:txBody>
      </p:sp>
      <p:sp>
        <p:nvSpPr>
          <p:cNvPr id="28" name="Text 26"/>
          <p:cNvSpPr/>
          <p:nvPr/>
        </p:nvSpPr>
        <p:spPr>
          <a:xfrm>
            <a:off x="6556248" y="256032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9" name="Text 27"/>
          <p:cNvSpPr/>
          <p:nvPr/>
        </p:nvSpPr>
        <p:spPr>
          <a:xfrm>
            <a:off x="6629400" y="2798064"/>
            <a:ext cx="4782312" cy="19659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list of available vehicles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A vehicle tagged 'consumption derived'</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small x used to remove a chosen vehicle</a:t>
            </a:r>
            <a:endParaRPr lang="en-US" sz="1050" dirty="0"/>
          </a:p>
        </p:txBody>
      </p:sp>
      <p:sp>
        <p:nvSpPr>
          <p:cNvPr id="30" name="Shape 28"/>
          <p:cNvSpPr/>
          <p:nvPr/>
        </p:nvSpPr>
        <p:spPr>
          <a:xfrm>
            <a:off x="502920" y="5120640"/>
            <a:ext cx="11183112" cy="658368"/>
          </a:xfrm>
          <a:prstGeom prst="roundRect">
            <a:avLst>
              <a:gd name="adj" fmla="val 8333"/>
            </a:avLst>
          </a:prstGeom>
          <a:solidFill>
            <a:srgbClr val="F1F6F4"/>
          </a:solidFill>
          <a:ln w="12700">
            <a:solidFill>
              <a:srgbClr val="D8E3E0"/>
            </a:solidFill>
            <a:prstDash val="solid"/>
          </a:ln>
        </p:spPr>
        <p:txBody>
          <a:bodyPr/>
          <a:p/>
        </p:txBody>
      </p:sp>
      <p:sp>
        <p:nvSpPr>
          <p:cNvPr id="31" name="Shape 29"/>
          <p:cNvSpPr/>
          <p:nvPr/>
        </p:nvSpPr>
        <p:spPr>
          <a:xfrm>
            <a:off x="685800" y="5294376"/>
            <a:ext cx="310896" cy="310896"/>
          </a:xfrm>
          <a:prstGeom prst="ellipse">
            <a:avLst/>
          </a:prstGeom>
          <a:solidFill>
            <a:srgbClr val="1F3864"/>
          </a:solidFill>
          <a:ln w="12700">
            <a:solidFill>
              <a:srgbClr val="1F3864"/>
            </a:solidFill>
            <a:prstDash val="solid"/>
          </a:ln>
        </p:spPr>
        <p:txBody>
          <a:bodyPr/>
          <a:p/>
        </p:txBody>
      </p:sp>
      <p:sp>
        <p:nvSpPr>
          <p:cNvPr id="32" name="Text 30"/>
          <p:cNvSpPr/>
          <p:nvPr/>
        </p:nvSpPr>
        <p:spPr>
          <a:xfrm>
            <a:off x="685800" y="52943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33" name="Text 31"/>
          <p:cNvSpPr/>
          <p:nvPr/>
        </p:nvSpPr>
        <p:spPr>
          <a:xfrm>
            <a:off x="1133856" y="5230368"/>
            <a:ext cx="10424160" cy="457200"/>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Start small:  </a:t>
            </a:r>
            <a:pPr indent="0" marL="0">
              <a:buNone/>
            </a:pPr>
            <a:r>
              <a:rPr lang="en-US" sz="1100" dirty="0">
                <a:solidFill>
                  <a:srgbClr val="6B7A77"/>
                </a:solidFill>
                <a:latin typeface="Calibri" pitchFamily="34" charset="0"/>
                <a:ea typeface="Calibri" pitchFamily="34" charset="-122"/>
                <a:cs typeface="Calibri" pitchFamily="34" charset="-120"/>
              </a:rPr>
              <a:t>four vehicles is comfortable to read. Selecting all twelve works, and each gets its own marker shape, but the chart gets busy.</a:t>
            </a:r>
            <a:endParaRPr lang="en-US" sz="1100" dirty="0"/>
          </a:p>
        </p:txBody>
      </p:sp>
      <p:sp>
        <p:nvSpPr>
          <p:cNvPr id="34" name="Text 32"/>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4 - Taxi Feasibility Tool</a:t>
            </a:r>
            <a:endParaRPr lang="en-US" sz="900" dirty="0"/>
          </a:p>
        </p:txBody>
      </p:sp>
      <p:sp>
        <p:nvSpPr>
          <p:cNvPr id="35" name="Text 33"/>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4</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2 of 3: your working day and financing</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10235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'Trip volume and revenue'</a:t>
            </a:r>
            <a:endParaRPr lang="en-US" sz="1300" dirty="0"/>
          </a:p>
        </p:txBody>
      </p:sp>
      <p:sp>
        <p:nvSpPr>
          <p:cNvPr id="7" name="Text 5"/>
          <p:cNvSpPr/>
          <p:nvPr/>
        </p:nvSpPr>
        <p:spPr>
          <a:xfrm>
            <a:off x="932688" y="1572768"/>
            <a:ext cx="510235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Enter how many trips you do a day, what you charge per trip, the average trip length in km, and how many days a week you work.</a:t>
            </a:r>
            <a:endParaRPr lang="en-US" sz="1150" dirty="0"/>
          </a:p>
        </p:txBody>
      </p:sp>
      <p:sp>
        <p:nvSpPr>
          <p:cNvPr id="8" name="Shape 6"/>
          <p:cNvSpPr/>
          <p:nvPr/>
        </p:nvSpPr>
        <p:spPr>
          <a:xfrm>
            <a:off x="502920" y="2148840"/>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2148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2121408"/>
            <a:ext cx="510235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Set your ownership horizon</a:t>
            </a:r>
            <a:endParaRPr lang="en-US" sz="1300" dirty="0"/>
          </a:p>
        </p:txBody>
      </p:sp>
      <p:sp>
        <p:nvSpPr>
          <p:cNvPr id="11" name="Text 9"/>
          <p:cNvSpPr/>
          <p:nvPr/>
        </p:nvSpPr>
        <p:spPr>
          <a:xfrm>
            <a:off x="932688" y="2350008"/>
            <a:ext cx="510235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How many years ahead to look. Longer horizons show what happens once the loan is paid off.</a:t>
            </a:r>
            <a:endParaRPr lang="en-US" sz="1150" dirty="0"/>
          </a:p>
        </p:txBody>
      </p:sp>
      <p:sp>
        <p:nvSpPr>
          <p:cNvPr id="12" name="Shape 10"/>
          <p:cNvSpPr/>
          <p:nvPr/>
        </p:nvSpPr>
        <p:spPr>
          <a:xfrm>
            <a:off x="502920" y="2926080"/>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292608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2898648"/>
            <a:ext cx="510235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'EV charging scenario'</a:t>
            </a:r>
            <a:endParaRPr lang="en-US" sz="1300" dirty="0"/>
          </a:p>
        </p:txBody>
      </p:sp>
      <p:sp>
        <p:nvSpPr>
          <p:cNvPr id="15" name="Text 13"/>
          <p:cNvSpPr/>
          <p:nvPr/>
        </p:nvSpPr>
        <p:spPr>
          <a:xfrm>
            <a:off x="932688" y="3127248"/>
            <a:ext cx="5102352" cy="859536"/>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Charging at home, the public network you picked in Global settings, JPS overnight, daytime or evening peak, or your own custom rate. This choice moves the result more than any other: the gap between best and worst is about J$4.5 million over five years.</a:t>
            </a:r>
            <a:endParaRPr lang="en-US" sz="1150" dirty="0"/>
          </a:p>
        </p:txBody>
      </p:sp>
      <p:sp>
        <p:nvSpPr>
          <p:cNvPr id="16" name="Shape 14"/>
          <p:cNvSpPr/>
          <p:nvPr/>
        </p:nvSpPr>
        <p:spPr>
          <a:xfrm>
            <a:off x="502920" y="4041648"/>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404164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4014216"/>
            <a:ext cx="510235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'Loan financing'</a:t>
            </a:r>
            <a:endParaRPr lang="en-US" sz="1300" dirty="0"/>
          </a:p>
        </p:txBody>
      </p:sp>
      <p:sp>
        <p:nvSpPr>
          <p:cNvPr id="19" name="Text 17"/>
          <p:cNvSpPr/>
          <p:nvPr/>
        </p:nvSpPr>
        <p:spPr>
          <a:xfrm>
            <a:off x="932688" y="4242816"/>
            <a:ext cx="510235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Each selected vehicle gets its own deposit, interest rate and loan term. Defaults reflect typical Jamaican lending.</a:t>
            </a:r>
            <a:endParaRPr lang="en-US" sz="1150" dirty="0"/>
          </a:p>
        </p:txBody>
      </p:sp>
      <p:sp>
        <p:nvSpPr>
          <p:cNvPr id="20" name="Shape 18"/>
          <p:cNvSpPr/>
          <p:nvPr/>
        </p:nvSpPr>
        <p:spPr>
          <a:xfrm>
            <a:off x="502920" y="4818888"/>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81888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791456"/>
            <a:ext cx="510235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Adjust per vehicle if needed</a:t>
            </a:r>
            <a:endParaRPr lang="en-US" sz="1300" dirty="0"/>
          </a:p>
        </p:txBody>
      </p:sp>
      <p:sp>
        <p:nvSpPr>
          <p:cNvPr id="23" name="Text 21"/>
          <p:cNvSpPr/>
          <p:nvPr/>
        </p:nvSpPr>
        <p:spPr>
          <a:xfrm>
            <a:off x="932688" y="5020056"/>
            <a:ext cx="510235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Used vehicles and electric vehicles are often financed on different terms, which is why each has its own settings.</a:t>
            </a:r>
            <a:endParaRPr lang="en-US" sz="1150" dirty="0"/>
          </a:p>
        </p:txBody>
      </p:sp>
      <p:sp>
        <p:nvSpPr>
          <p:cNvPr id="24" name="Shape 22"/>
          <p:cNvSpPr/>
          <p:nvPr/>
        </p:nvSpPr>
        <p:spPr>
          <a:xfrm>
            <a:off x="6400800" y="1371600"/>
            <a:ext cx="5285232" cy="3977640"/>
          </a:xfrm>
          <a:prstGeom prst="roundRect">
            <a:avLst>
              <a:gd name="adj" fmla="val 1379"/>
            </a:avLst>
          </a:prstGeom>
          <a:solidFill>
            <a:srgbClr val="FBFDFC"/>
          </a:solidFill>
          <a:ln w="19050">
            <a:solidFill>
              <a:srgbClr val="1A9E75"/>
            </a:solidFill>
            <a:prstDash val="dash"/>
          </a:ln>
        </p:spPr>
        <p:txBody>
          <a:bodyPr/>
          <a:p/>
        </p:txBody>
      </p:sp>
      <p:sp>
        <p:nvSpPr>
          <p:cNvPr id="25" name="Shape 23"/>
          <p:cNvSpPr/>
          <p:nvPr/>
        </p:nvSpPr>
        <p:spPr>
          <a:xfrm>
            <a:off x="660196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6" name="Text 24"/>
          <p:cNvSpPr/>
          <p:nvPr/>
        </p:nvSpPr>
        <p:spPr>
          <a:xfrm>
            <a:off x="660196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7" name="Text 25"/>
          <p:cNvSpPr/>
          <p:nvPr/>
        </p:nvSpPr>
        <p:spPr>
          <a:xfrm>
            <a:off x="6601968" y="1938528"/>
            <a:ext cx="488289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trip volume, charging and loan sections</a:t>
            </a:r>
            <a:endParaRPr lang="en-US" sz="1250" dirty="0"/>
          </a:p>
        </p:txBody>
      </p:sp>
      <p:sp>
        <p:nvSpPr>
          <p:cNvPr id="28" name="Text 26"/>
          <p:cNvSpPr/>
          <p:nvPr/>
        </p:nvSpPr>
        <p:spPr>
          <a:xfrm>
            <a:off x="6601968" y="2560320"/>
            <a:ext cx="488289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9" name="Text 27"/>
          <p:cNvSpPr/>
          <p:nvPr/>
        </p:nvSpPr>
        <p:spPr>
          <a:xfrm>
            <a:off x="6675120" y="2798064"/>
            <a:ext cx="4736592" cy="23774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Trips per day, fare, trip distance and days per week</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charging options, and the custom rate box</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One vehicle's loan settings, expanded</a:t>
            </a:r>
            <a:endParaRPr lang="en-US" sz="1050" dirty="0"/>
          </a:p>
        </p:txBody>
      </p:sp>
      <p:sp>
        <p:nvSpPr>
          <p:cNvPr id="30" name="Text 28"/>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4 - Taxi Feasibility Tool</a:t>
            </a:r>
            <a:endParaRPr lang="en-US" sz="900" dirty="0"/>
          </a:p>
        </p:txBody>
      </p:sp>
      <p:sp>
        <p:nvSpPr>
          <p:cNvPr id="31" name="Text 29"/>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4</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3 of 3: reading the result</a:t>
            </a:r>
            <a:endParaRPr lang="en-US" sz="3200" dirty="0"/>
          </a:p>
        </p:txBody>
      </p:sp>
      <p:sp>
        <p:nvSpPr>
          <p:cNvPr id="4" name="Shape 2"/>
          <p:cNvSpPr/>
          <p:nvPr/>
        </p:nvSpPr>
        <p:spPr>
          <a:xfrm>
            <a:off x="502920" y="1371600"/>
            <a:ext cx="3617976" cy="1463040"/>
          </a:xfrm>
          <a:prstGeom prst="roundRect">
            <a:avLst>
              <a:gd name="adj" fmla="val 3750"/>
            </a:avLst>
          </a:prstGeom>
          <a:solidFill>
            <a:srgbClr val="F1F6F4"/>
          </a:solidFill>
          <a:ln w="12700">
            <a:solidFill>
              <a:srgbClr val="D8E3E0"/>
            </a:solidFill>
            <a:prstDash val="solid"/>
          </a:ln>
        </p:spPr>
        <p:txBody>
          <a:bodyPr/>
          <a:p/>
        </p:txBody>
      </p:sp>
      <p:sp>
        <p:nvSpPr>
          <p:cNvPr id="5" name="Text 3"/>
          <p:cNvSpPr/>
          <p:nvPr/>
        </p:nvSpPr>
        <p:spPr>
          <a:xfrm>
            <a:off x="649224" y="1499616"/>
            <a:ext cx="3325368" cy="256032"/>
          </a:xfrm>
          <a:prstGeom prst="rect">
            <a:avLst/>
          </a:prstGeom>
          <a:noFill/>
          <a:ln/>
        </p:spPr>
        <p:txBody>
          <a:bodyPr wrap="square" lIns="0" tIns="0" rIns="0" bIns="0" rtlCol="0" anchor="ctr"/>
          <a:lstStyle/>
          <a:p>
            <a:pPr indent="0" marL="0">
              <a:buNone/>
            </a:pPr>
            <a:r>
              <a:rPr lang="en-US" sz="1100" b="1" dirty="0">
                <a:solidFill>
                  <a:srgbClr val="1A7A6E"/>
                </a:solidFill>
                <a:latin typeface="Calibri" pitchFamily="34" charset="0"/>
                <a:ea typeface="Calibri" pitchFamily="34" charset="-122"/>
                <a:cs typeface="Calibri" pitchFamily="34" charset="-120"/>
              </a:rPr>
              <a:t>Vehicle cards</a:t>
            </a:r>
            <a:endParaRPr lang="en-US" sz="1100" dirty="0"/>
          </a:p>
        </p:txBody>
      </p:sp>
      <p:sp>
        <p:nvSpPr>
          <p:cNvPr id="6" name="Text 4"/>
          <p:cNvSpPr/>
          <p:nvPr/>
        </p:nvSpPr>
        <p:spPr>
          <a:xfrm>
            <a:off x="649224" y="1773936"/>
            <a:ext cx="3325368" cy="93268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One block per vehicle: purchase price, monthly loan payment, energy cost per kilometre, what is left over each year, and the resale value at the end of your horizon less any loan still owed.</a:t>
            </a:r>
            <a:endParaRPr lang="en-US" sz="1050" dirty="0"/>
          </a:p>
        </p:txBody>
      </p:sp>
      <p:sp>
        <p:nvSpPr>
          <p:cNvPr id="7" name="Shape 5"/>
          <p:cNvSpPr/>
          <p:nvPr/>
        </p:nvSpPr>
        <p:spPr>
          <a:xfrm>
            <a:off x="4285488" y="1371600"/>
            <a:ext cx="3617976" cy="1463040"/>
          </a:xfrm>
          <a:prstGeom prst="roundRect">
            <a:avLst>
              <a:gd name="adj" fmla="val 3750"/>
            </a:avLst>
          </a:prstGeom>
          <a:solidFill>
            <a:srgbClr val="F1F6F4"/>
          </a:solidFill>
          <a:ln w="12700">
            <a:solidFill>
              <a:srgbClr val="D8E3E0"/>
            </a:solidFill>
            <a:prstDash val="solid"/>
          </a:ln>
        </p:spPr>
        <p:txBody>
          <a:bodyPr/>
          <a:p/>
        </p:txBody>
      </p:sp>
      <p:sp>
        <p:nvSpPr>
          <p:cNvPr id="8" name="Text 6"/>
          <p:cNvSpPr/>
          <p:nvPr/>
        </p:nvSpPr>
        <p:spPr>
          <a:xfrm>
            <a:off x="4431792" y="1499616"/>
            <a:ext cx="3325368"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The income chart</a:t>
            </a:r>
            <a:endParaRPr lang="en-US" sz="1100" dirty="0"/>
          </a:p>
        </p:txBody>
      </p:sp>
      <p:sp>
        <p:nvSpPr>
          <p:cNvPr id="9" name="Text 7"/>
          <p:cNvSpPr/>
          <p:nvPr/>
        </p:nvSpPr>
        <p:spPr>
          <a:xfrm>
            <a:off x="4431792" y="1773936"/>
            <a:ext cx="3325368" cy="93268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Money accumulated over time for each vehicle. Lines start below zero because of the deposit, and the final year includes selling the vehicle. Counting resale matters: the more expensive the vehicle, the more value was previously being ignored, which worked against the electric options.</a:t>
            </a:r>
            <a:endParaRPr lang="en-US" sz="1050" dirty="0"/>
          </a:p>
        </p:txBody>
      </p:sp>
      <p:sp>
        <p:nvSpPr>
          <p:cNvPr id="10" name="Shape 8"/>
          <p:cNvSpPr/>
          <p:nvPr/>
        </p:nvSpPr>
        <p:spPr>
          <a:xfrm>
            <a:off x="8068056" y="1371600"/>
            <a:ext cx="3617976" cy="1463040"/>
          </a:xfrm>
          <a:prstGeom prst="roundRect">
            <a:avLst>
              <a:gd name="adj" fmla="val 3750"/>
            </a:avLst>
          </a:prstGeom>
          <a:solidFill>
            <a:srgbClr val="F1F6F4"/>
          </a:solidFill>
          <a:ln w="12700">
            <a:solidFill>
              <a:srgbClr val="D8E3E0"/>
            </a:solidFill>
            <a:prstDash val="solid"/>
          </a:ln>
        </p:spPr>
        <p:txBody>
          <a:bodyPr/>
          <a:p/>
        </p:txBody>
      </p:sp>
      <p:sp>
        <p:nvSpPr>
          <p:cNvPr id="11" name="Text 9"/>
          <p:cNvSpPr/>
          <p:nvPr/>
        </p:nvSpPr>
        <p:spPr>
          <a:xfrm>
            <a:off x="8214360" y="1499616"/>
            <a:ext cx="3325368"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Crossover cards</a:t>
            </a:r>
            <a:endParaRPr lang="en-US" sz="1100" dirty="0"/>
          </a:p>
        </p:txBody>
      </p:sp>
      <p:sp>
        <p:nvSpPr>
          <p:cNvPr id="12" name="Text 10"/>
          <p:cNvSpPr/>
          <p:nvPr/>
        </p:nvSpPr>
        <p:spPr>
          <a:xfrm>
            <a:off x="8214360" y="1773936"/>
            <a:ext cx="3325368" cy="93268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For each electric vehicle, how long until it overtakes the petrol baseline. 'Does not overtake' means not within your horizon.</a:t>
            </a:r>
            <a:endParaRPr lang="en-US" sz="1050" dirty="0"/>
          </a:p>
        </p:txBody>
      </p:sp>
      <p:sp>
        <p:nvSpPr>
          <p:cNvPr id="13" name="Text 11"/>
          <p:cNvSpPr/>
          <p:nvPr/>
        </p:nvSpPr>
        <p:spPr>
          <a:xfrm>
            <a:off x="502920" y="3063240"/>
            <a:ext cx="7315200" cy="365760"/>
          </a:xfrm>
          <a:prstGeom prst="rect">
            <a:avLst/>
          </a:prstGeom>
          <a:noFill/>
          <a:ln/>
        </p:spPr>
        <p:txBody>
          <a:bodyPr wrap="square" lIns="0" tIns="0" rIns="0" bIns="0" rtlCol="0" anchor="ctr"/>
          <a:lstStyle/>
          <a:p>
            <a:pPr indent="0" marL="0">
              <a:buNone/>
            </a:pPr>
            <a:r>
              <a:rPr lang="en-US" sz="1900" b="1" dirty="0">
                <a:solidFill>
                  <a:srgbClr val="0E2A24"/>
                </a:solidFill>
                <a:latin typeface="Cambria" pitchFamily="34" charset="0"/>
                <a:ea typeface="Cambria" pitchFamily="34" charset="-122"/>
                <a:cs typeface="Cambria" pitchFamily="34" charset="-120"/>
              </a:rPr>
              <a:t>Two details on the chart</a:t>
            </a:r>
            <a:endParaRPr lang="en-US" sz="1900" dirty="0"/>
          </a:p>
        </p:txBody>
      </p:sp>
      <p:sp>
        <p:nvSpPr>
          <p:cNvPr id="14" name="Text 12"/>
          <p:cNvSpPr/>
          <p:nvPr/>
        </p:nvSpPr>
        <p:spPr>
          <a:xfrm>
            <a:off x="502920" y="3474720"/>
            <a:ext cx="5577840" cy="17373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Every vehicle has its own marker shape, a circle, square, diamond, triangle and so on, so you can tell the lines apart even in black and white or on a printed poster.</a:t>
            </a:r>
            <a:endParaRPr lang="en-US" sz="1250" dirty="0"/>
          </a:p>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A dotted line instead of a solid one means that vehicle's fuel or energy figure is an estimate rather than a measurement.</a:t>
            </a:r>
            <a:endParaRPr lang="en-US" sz="1250" dirty="0"/>
          </a:p>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The horizontal break-even line marks the point where the vehicle has repaid everything spent on it.</a:t>
            </a:r>
            <a:endParaRPr lang="en-US" sz="1250" dirty="0"/>
          </a:p>
        </p:txBody>
      </p:sp>
      <p:sp>
        <p:nvSpPr>
          <p:cNvPr id="15" name="Shape 13"/>
          <p:cNvSpPr/>
          <p:nvPr/>
        </p:nvSpPr>
        <p:spPr>
          <a:xfrm>
            <a:off x="6355080" y="3044952"/>
            <a:ext cx="5330952" cy="2651760"/>
          </a:xfrm>
          <a:prstGeom prst="roundRect">
            <a:avLst>
              <a:gd name="adj" fmla="val 2069"/>
            </a:avLst>
          </a:prstGeom>
          <a:solidFill>
            <a:srgbClr val="FBFDFC"/>
          </a:solidFill>
          <a:ln w="19050">
            <a:solidFill>
              <a:srgbClr val="1A9E75"/>
            </a:solidFill>
            <a:prstDash val="dash"/>
          </a:ln>
        </p:spPr>
        <p:txBody>
          <a:bodyPr/>
          <a:p/>
        </p:txBody>
      </p:sp>
      <p:sp>
        <p:nvSpPr>
          <p:cNvPr id="16" name="Shape 14"/>
          <p:cNvSpPr/>
          <p:nvPr/>
        </p:nvSpPr>
        <p:spPr>
          <a:xfrm>
            <a:off x="6556248" y="3227832"/>
            <a:ext cx="1417320" cy="274320"/>
          </a:xfrm>
          <a:prstGeom prst="roundRect">
            <a:avLst>
              <a:gd name="adj" fmla="val 16667"/>
            </a:avLst>
          </a:prstGeom>
          <a:solidFill>
            <a:srgbClr val="1A9E75"/>
          </a:solidFill>
          <a:ln w="12700">
            <a:solidFill>
              <a:srgbClr val="1A9E75"/>
            </a:solidFill>
            <a:prstDash val="solid"/>
          </a:ln>
        </p:spPr>
        <p:txBody>
          <a:bodyPr/>
          <a:p/>
        </p:txBody>
      </p:sp>
      <p:sp>
        <p:nvSpPr>
          <p:cNvPr id="17" name="Text 15"/>
          <p:cNvSpPr/>
          <p:nvPr/>
        </p:nvSpPr>
        <p:spPr>
          <a:xfrm>
            <a:off x="6556248" y="3227832"/>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18" name="Text 16"/>
          <p:cNvSpPr/>
          <p:nvPr/>
        </p:nvSpPr>
        <p:spPr>
          <a:xfrm>
            <a:off x="6556248" y="3611880"/>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income chart with the crossover cards below it</a:t>
            </a:r>
            <a:endParaRPr lang="en-US" sz="1250" dirty="0"/>
          </a:p>
        </p:txBody>
      </p:sp>
      <p:sp>
        <p:nvSpPr>
          <p:cNvPr id="19" name="Text 17"/>
          <p:cNvSpPr/>
          <p:nvPr/>
        </p:nvSpPr>
        <p:spPr>
          <a:xfrm>
            <a:off x="6556248" y="4233672"/>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0" name="Text 18"/>
          <p:cNvSpPr/>
          <p:nvPr/>
        </p:nvSpPr>
        <p:spPr>
          <a:xfrm>
            <a:off x="6629400" y="4471416"/>
            <a:ext cx="4782312" cy="10515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Two different marker shapes on neighbouring lines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A solid line and a dotted line, side by side</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One crossover card showing a time in years and months</a:t>
            </a:r>
            <a:endParaRPr lang="en-US" sz="1050" dirty="0"/>
          </a:p>
        </p:txBody>
      </p:sp>
      <p:sp>
        <p:nvSpPr>
          <p:cNvPr id="21" name="Text 19"/>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4 - Taxi Feasibility Tool</a:t>
            </a:r>
            <a:endParaRPr lang="en-US" sz="900" dirty="0"/>
          </a:p>
        </p:txBody>
      </p:sp>
      <p:sp>
        <p:nvSpPr>
          <p:cNvPr id="22" name="Text 20"/>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roundRect">
            <a:avLst>
              <a:gd name="adj" fmla="val 6667"/>
            </a:avLst>
          </a:prstGeom>
          <a:solidFill>
            <a:srgbClr val="1A9E75"/>
          </a:solidFill>
          <a:ln w="12700">
            <a:solidFill>
              <a:srgbClr val="1A9E75"/>
            </a:solidFill>
            <a:prstDash val="solid"/>
          </a:ln>
        </p:spPr>
        <p:txBody>
          <a:bodyPr/>
          <a:p/>
        </p:txBody>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6200" b="1" dirty="0">
                <a:solidFill>
                  <a:srgbClr val="0E2A24"/>
                </a:solidFill>
                <a:latin typeface="Cambria" pitchFamily="34" charset="0"/>
                <a:ea typeface="Cambria" pitchFamily="34" charset="-122"/>
                <a:cs typeface="Cambria" pitchFamily="34" charset="-120"/>
              </a:rPr>
              <a:t>5</a:t>
            </a:r>
            <a:endParaRPr lang="en-US" sz="6200" dirty="0"/>
          </a:p>
        </p:txBody>
      </p:sp>
      <p:sp>
        <p:nvSpPr>
          <p:cNvPr id="4" name="Text 2"/>
          <p:cNvSpPr/>
          <p:nvPr/>
        </p:nvSpPr>
        <p:spPr>
          <a:xfrm>
            <a:off x="2514600" y="2194560"/>
            <a:ext cx="8686800" cy="292608"/>
          </a:xfrm>
          <a:prstGeom prst="rect">
            <a:avLst/>
          </a:prstGeom>
          <a:noFill/>
          <a:ln/>
        </p:spPr>
        <p:txBody>
          <a:bodyPr wrap="square" lIns="0" tIns="0" rIns="0" bIns="0" rtlCol="0" anchor="ctr"/>
          <a:lstStyle/>
          <a:p>
            <a:pPr indent="0" marL="0">
              <a:buNone/>
            </a:pPr>
            <a:r>
              <a:rPr lang="en-US" sz="1200" b="1" spc="200" kern="0" dirty="0">
                <a:solidFill>
                  <a:srgbClr val="1A9E75"/>
                </a:solidFill>
                <a:latin typeface="Calibri" pitchFamily="34" charset="0"/>
                <a:ea typeface="Calibri" pitchFamily="34" charset="-122"/>
                <a:cs typeface="Calibri" pitchFamily="34" charset="-120"/>
              </a:rPr>
              <a:t>MODULE 5</a:t>
            </a:r>
            <a:endParaRPr lang="en-US" sz="1200" dirty="0"/>
          </a:p>
        </p:txBody>
      </p:sp>
      <p:sp>
        <p:nvSpPr>
          <p:cNvPr id="5" name="Text 3"/>
          <p:cNvSpPr/>
          <p:nvPr/>
        </p:nvSpPr>
        <p:spPr>
          <a:xfrm>
            <a:off x="2514600" y="2487168"/>
            <a:ext cx="90525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Fleet Penetration Simulator</a:t>
            </a:r>
            <a:endParaRPr lang="en-US" sz="3400" dirty="0"/>
          </a:p>
        </p:txBody>
      </p:sp>
      <p:sp>
        <p:nvSpPr>
          <p:cNvPr id="6" name="Text 4"/>
          <p:cNvSpPr/>
          <p:nvPr/>
        </p:nvSpPr>
        <p:spPr>
          <a:xfrm>
            <a:off x="2514600" y="3154680"/>
            <a:ext cx="8778240" cy="457200"/>
          </a:xfrm>
          <a:prstGeom prst="rect">
            <a:avLst/>
          </a:prstGeom>
          <a:noFill/>
          <a:ln/>
        </p:spPr>
        <p:txBody>
          <a:bodyPr wrap="square" lIns="0" tIns="0" rIns="0" bIns="0" rtlCol="0" anchor="ctr"/>
          <a:lstStyle/>
          <a:p>
            <a:pPr indent="0" marL="0">
              <a:buNone/>
            </a:pPr>
            <a:r>
              <a:rPr lang="en-US" sz="1400" dirty="0">
                <a:solidFill>
                  <a:srgbClr val="B9CFC9"/>
                </a:solidFill>
                <a:latin typeface="Calibri" pitchFamily="34" charset="0"/>
                <a:ea typeface="Calibri" pitchFamily="34" charset="-122"/>
                <a:cs typeface="Calibri" pitchFamily="34" charset="-120"/>
              </a:rPr>
              <a:t>Project how quickly electric vehicles could spread across Jamaica's national fleet.</a:t>
            </a:r>
            <a:endParaRPr lang="en-US" sz="1400" dirty="0"/>
          </a:p>
        </p:txBody>
      </p:sp>
      <p:sp>
        <p:nvSpPr>
          <p:cNvPr id="7" name="Text 5"/>
          <p:cNvSpPr/>
          <p:nvPr/>
        </p:nvSpPr>
        <p:spPr>
          <a:xfrm>
            <a:off x="2542032" y="3794760"/>
            <a:ext cx="8686800" cy="365760"/>
          </a:xfrm>
          <a:prstGeom prst="rect">
            <a:avLst/>
          </a:prstGeom>
          <a:noFill/>
          <a:ln/>
        </p:spPr>
        <p:txBody>
          <a:bodyPr wrap="square" lIns="0" tIns="0" rIns="0" bIns="0" rtlCol="0" anchor="ctr"/>
          <a:lstStyle/>
          <a:p>
            <a:pPr indent="0" marL="0">
              <a:buNone/>
            </a:pPr>
            <a:r>
              <a:rPr lang="en-US" sz="1200" i="1" dirty="0">
                <a:solidFill>
                  <a:srgbClr val="8FB3AB"/>
                </a:solidFill>
                <a:latin typeface="Calibri" pitchFamily="34" charset="0"/>
                <a:ea typeface="Calibri" pitchFamily="34" charset="-122"/>
                <a:cs typeface="Calibri" pitchFamily="34" charset="-120"/>
              </a:rPr>
              <a:t>What it answers:  What would it take to hit the 2030 targets, and what would it save?</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5</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1 of 3: the three fleets</a:t>
            </a:r>
            <a:endParaRPr lang="en-US" sz="3200" dirty="0"/>
          </a:p>
        </p:txBody>
      </p:sp>
      <p:sp>
        <p:nvSpPr>
          <p:cNvPr id="4" name="Text 2"/>
          <p:cNvSpPr/>
          <p:nvPr/>
        </p:nvSpPr>
        <p:spPr>
          <a:xfrm>
            <a:off x="502920" y="1207008"/>
            <a:ext cx="11155680" cy="36576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This page models three separate groups of vehicles at the same time. Each has its own settings block, and each works identically.</a:t>
            </a:r>
            <a:endParaRPr lang="en-US" sz="1300" dirty="0"/>
          </a:p>
        </p:txBody>
      </p:sp>
      <p:sp>
        <p:nvSpPr>
          <p:cNvPr id="5" name="Shape 3"/>
          <p:cNvSpPr/>
          <p:nvPr/>
        </p:nvSpPr>
        <p:spPr>
          <a:xfrm>
            <a:off x="502920" y="1719072"/>
            <a:ext cx="3617976" cy="1188720"/>
          </a:xfrm>
          <a:prstGeom prst="roundRect">
            <a:avLst>
              <a:gd name="adj" fmla="val 4615"/>
            </a:avLst>
          </a:prstGeom>
          <a:solidFill>
            <a:srgbClr val="F1F6F4"/>
          </a:solidFill>
          <a:ln w="12700">
            <a:solidFill>
              <a:srgbClr val="D8E3E0"/>
            </a:solidFill>
            <a:prstDash val="solid"/>
          </a:ln>
        </p:spPr>
        <p:txBody>
          <a:bodyPr/>
          <a:p/>
        </p:txBody>
      </p:sp>
      <p:sp>
        <p:nvSpPr>
          <p:cNvPr id="6" name="Text 4"/>
          <p:cNvSpPr/>
          <p:nvPr/>
        </p:nvSpPr>
        <p:spPr>
          <a:xfrm>
            <a:off x="649224" y="1847088"/>
            <a:ext cx="3325368" cy="256032"/>
          </a:xfrm>
          <a:prstGeom prst="rect">
            <a:avLst/>
          </a:prstGeom>
          <a:noFill/>
          <a:ln/>
        </p:spPr>
        <p:txBody>
          <a:bodyPr wrap="square" lIns="0" tIns="0" rIns="0" bIns="0" rtlCol="0" anchor="ctr"/>
          <a:lstStyle/>
          <a:p>
            <a:pPr indent="0" marL="0">
              <a:buNone/>
            </a:pPr>
            <a:r>
              <a:rPr lang="en-US" sz="1100" b="1" dirty="0">
                <a:solidFill>
                  <a:srgbClr val="1A7A6E"/>
                </a:solidFill>
                <a:latin typeface="Calibri" pitchFamily="34" charset="0"/>
                <a:ea typeface="Calibri" pitchFamily="34" charset="-122"/>
                <a:cs typeface="Calibri" pitchFamily="34" charset="-120"/>
              </a:rPr>
              <a:t>Private Vehicle Fleet</a:t>
            </a:r>
            <a:endParaRPr lang="en-US" sz="1100" dirty="0"/>
          </a:p>
        </p:txBody>
      </p:sp>
      <p:sp>
        <p:nvSpPr>
          <p:cNvPr id="7" name="Text 5"/>
          <p:cNvSpPr/>
          <p:nvPr/>
        </p:nvSpPr>
        <p:spPr>
          <a:xfrm>
            <a:off x="649224" y="2121408"/>
            <a:ext cx="3325368" cy="65836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Privately owned cars. The largest group by far. Target 12% by 2030.</a:t>
            </a:r>
            <a:endParaRPr lang="en-US" sz="1050" dirty="0"/>
          </a:p>
        </p:txBody>
      </p:sp>
      <p:sp>
        <p:nvSpPr>
          <p:cNvPr id="8" name="Shape 6"/>
          <p:cNvSpPr/>
          <p:nvPr/>
        </p:nvSpPr>
        <p:spPr>
          <a:xfrm>
            <a:off x="4285488" y="1719072"/>
            <a:ext cx="3617976" cy="1188720"/>
          </a:xfrm>
          <a:prstGeom prst="roundRect">
            <a:avLst>
              <a:gd name="adj" fmla="val 4615"/>
            </a:avLst>
          </a:prstGeom>
          <a:solidFill>
            <a:srgbClr val="F1F6F4"/>
          </a:solidFill>
          <a:ln w="12700">
            <a:solidFill>
              <a:srgbClr val="D8E3E0"/>
            </a:solidFill>
            <a:prstDash val="solid"/>
          </a:ln>
        </p:spPr>
        <p:txBody>
          <a:bodyPr/>
          <a:p/>
        </p:txBody>
      </p:sp>
      <p:sp>
        <p:nvSpPr>
          <p:cNvPr id="9" name="Text 7"/>
          <p:cNvSpPr/>
          <p:nvPr/>
        </p:nvSpPr>
        <p:spPr>
          <a:xfrm>
            <a:off x="4431792" y="1847088"/>
            <a:ext cx="3325368"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Public Transport Fleet</a:t>
            </a:r>
            <a:endParaRPr lang="en-US" sz="1100" dirty="0"/>
          </a:p>
        </p:txBody>
      </p:sp>
      <p:sp>
        <p:nvSpPr>
          <p:cNvPr id="10" name="Text 8"/>
          <p:cNvSpPr/>
          <p:nvPr/>
        </p:nvSpPr>
        <p:spPr>
          <a:xfrm>
            <a:off x="4431792" y="2121408"/>
            <a:ext cx="3325368" cy="65836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Buses and public passenger vehicles. Target 16% by 2030.</a:t>
            </a:r>
            <a:endParaRPr lang="en-US" sz="1050" dirty="0"/>
          </a:p>
        </p:txBody>
      </p:sp>
      <p:sp>
        <p:nvSpPr>
          <p:cNvPr id="11" name="Shape 9"/>
          <p:cNvSpPr/>
          <p:nvPr/>
        </p:nvSpPr>
        <p:spPr>
          <a:xfrm>
            <a:off x="8068056" y="1719072"/>
            <a:ext cx="3617976" cy="1188720"/>
          </a:xfrm>
          <a:prstGeom prst="roundRect">
            <a:avLst>
              <a:gd name="adj" fmla="val 4615"/>
            </a:avLst>
          </a:prstGeom>
          <a:solidFill>
            <a:srgbClr val="F1F6F4"/>
          </a:solidFill>
          <a:ln w="12700">
            <a:solidFill>
              <a:srgbClr val="D8E3E0"/>
            </a:solidFill>
            <a:prstDash val="solid"/>
          </a:ln>
        </p:spPr>
        <p:txBody>
          <a:bodyPr/>
          <a:p/>
        </p:txBody>
      </p:sp>
      <p:sp>
        <p:nvSpPr>
          <p:cNvPr id="12" name="Text 10"/>
          <p:cNvSpPr/>
          <p:nvPr/>
        </p:nvSpPr>
        <p:spPr>
          <a:xfrm>
            <a:off x="8214360" y="1847088"/>
            <a:ext cx="3325368" cy="256032"/>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Government Fleet</a:t>
            </a:r>
            <a:endParaRPr lang="en-US" sz="1100" dirty="0"/>
          </a:p>
        </p:txBody>
      </p:sp>
      <p:sp>
        <p:nvSpPr>
          <p:cNvPr id="13" name="Text 11"/>
          <p:cNvSpPr/>
          <p:nvPr/>
        </p:nvSpPr>
        <p:spPr>
          <a:xfrm>
            <a:off x="8214360" y="2121408"/>
            <a:ext cx="3325368" cy="65836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State-owned vehicles. Target 100% by 2030.</a:t>
            </a:r>
            <a:endParaRPr lang="en-US" sz="1050" dirty="0"/>
          </a:p>
        </p:txBody>
      </p:sp>
      <p:sp>
        <p:nvSpPr>
          <p:cNvPr id="14" name="Shape 12"/>
          <p:cNvSpPr/>
          <p:nvPr/>
        </p:nvSpPr>
        <p:spPr>
          <a:xfrm>
            <a:off x="502920" y="3154680"/>
            <a:ext cx="292608" cy="292608"/>
          </a:xfrm>
          <a:prstGeom prst="ellipse">
            <a:avLst/>
          </a:prstGeom>
          <a:solidFill>
            <a:srgbClr val="1A7A6E"/>
          </a:solidFill>
          <a:ln w="12700">
            <a:solidFill>
              <a:srgbClr val="1A7A6E"/>
            </a:solidFill>
            <a:prstDash val="solid"/>
          </a:ln>
        </p:spPr>
        <p:txBody>
          <a:bodyPr/>
          <a:p/>
        </p:txBody>
      </p:sp>
      <p:sp>
        <p:nvSpPr>
          <p:cNvPr id="15" name="Text 13"/>
          <p:cNvSpPr/>
          <p:nvPr/>
        </p:nvSpPr>
        <p:spPr>
          <a:xfrm>
            <a:off x="502920" y="315468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6" name="Text 14"/>
          <p:cNvSpPr/>
          <p:nvPr/>
        </p:nvSpPr>
        <p:spPr>
          <a:xfrm>
            <a:off x="932688" y="312724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Pick a scenario for each fleet</a:t>
            </a:r>
            <a:endParaRPr lang="en-US" sz="1300" dirty="0"/>
          </a:p>
        </p:txBody>
      </p:sp>
      <p:sp>
        <p:nvSpPr>
          <p:cNvPr id="17" name="Text 15"/>
          <p:cNvSpPr/>
          <p:nvPr/>
        </p:nvSpPr>
        <p:spPr>
          <a:xfrm>
            <a:off x="932688" y="335584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Click Conservative, Base or Optimistic. This is the quickest way to use the page.</a:t>
            </a:r>
            <a:endParaRPr lang="en-US" sz="1150" dirty="0"/>
          </a:p>
        </p:txBody>
      </p:sp>
      <p:sp>
        <p:nvSpPr>
          <p:cNvPr id="18" name="Shape 16"/>
          <p:cNvSpPr/>
          <p:nvPr/>
        </p:nvSpPr>
        <p:spPr>
          <a:xfrm>
            <a:off x="502920" y="3931920"/>
            <a:ext cx="292608" cy="292608"/>
          </a:xfrm>
          <a:prstGeom prst="ellipse">
            <a:avLst/>
          </a:prstGeom>
          <a:solidFill>
            <a:srgbClr val="1A7A6E"/>
          </a:solidFill>
          <a:ln w="12700">
            <a:solidFill>
              <a:srgbClr val="1A7A6E"/>
            </a:solidFill>
            <a:prstDash val="solid"/>
          </a:ln>
        </p:spPr>
        <p:txBody>
          <a:bodyPr/>
          <a:p/>
        </p:txBody>
      </p:sp>
      <p:sp>
        <p:nvSpPr>
          <p:cNvPr id="19" name="Text 17"/>
          <p:cNvSpPr/>
          <p:nvPr/>
        </p:nvSpPr>
        <p:spPr>
          <a:xfrm>
            <a:off x="502920" y="39319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20" name="Text 18"/>
          <p:cNvSpPr/>
          <p:nvPr/>
        </p:nvSpPr>
        <p:spPr>
          <a:xfrm>
            <a:off x="932688" y="390448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Adjust the fleet details if you want</a:t>
            </a:r>
            <a:endParaRPr lang="en-US" sz="1300" dirty="0"/>
          </a:p>
        </p:txBody>
      </p:sp>
      <p:sp>
        <p:nvSpPr>
          <p:cNvPr id="21" name="Text 19"/>
          <p:cNvSpPr/>
          <p:nvPr/>
        </p:nvSpPr>
        <p:spPr>
          <a:xfrm>
            <a:off x="932688" y="413308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Fleet size, yearly distance per vehicle, and the fuel or energy each vehicle uses.</a:t>
            </a:r>
            <a:endParaRPr lang="en-US" sz="1150" dirty="0"/>
          </a:p>
        </p:txBody>
      </p:sp>
      <p:sp>
        <p:nvSpPr>
          <p:cNvPr id="22" name="Shape 20"/>
          <p:cNvSpPr/>
          <p:nvPr/>
        </p:nvSpPr>
        <p:spPr>
          <a:xfrm>
            <a:off x="502920" y="4709160"/>
            <a:ext cx="292608" cy="292608"/>
          </a:xfrm>
          <a:prstGeom prst="ellipse">
            <a:avLst/>
          </a:prstGeom>
          <a:solidFill>
            <a:srgbClr val="1A7A6E"/>
          </a:solidFill>
          <a:ln w="12700">
            <a:solidFill>
              <a:srgbClr val="1A7A6E"/>
            </a:solidFill>
            <a:prstDash val="solid"/>
          </a:ln>
        </p:spPr>
        <p:txBody>
          <a:bodyPr/>
          <a:p/>
        </p:txBody>
      </p:sp>
      <p:sp>
        <p:nvSpPr>
          <p:cNvPr id="23" name="Text 21"/>
          <p:cNvSpPr/>
          <p:nvPr/>
        </p:nvSpPr>
        <p:spPr>
          <a:xfrm>
            <a:off x="502920" y="470916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4" name="Text 22"/>
          <p:cNvSpPr/>
          <p:nvPr/>
        </p:nvSpPr>
        <p:spPr>
          <a:xfrm>
            <a:off x="932688" y="468172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Fine-tune only if you need to</a:t>
            </a:r>
            <a:endParaRPr lang="en-US" sz="1300" dirty="0"/>
          </a:p>
        </p:txBody>
      </p:sp>
      <p:sp>
        <p:nvSpPr>
          <p:cNvPr id="25" name="Text 23"/>
          <p:cNvSpPr/>
          <p:nvPr/>
        </p:nvSpPr>
        <p:spPr>
          <a:xfrm>
            <a:off x="932688" y="491032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 advanced section lets you set how sharply uptake accelerates and the year it reaches halfway.</a:t>
            </a:r>
            <a:endParaRPr lang="en-US" sz="1150" dirty="0"/>
          </a:p>
        </p:txBody>
      </p:sp>
      <p:sp>
        <p:nvSpPr>
          <p:cNvPr id="26" name="Shape 24"/>
          <p:cNvSpPr/>
          <p:nvPr/>
        </p:nvSpPr>
        <p:spPr>
          <a:xfrm>
            <a:off x="6355080" y="3108960"/>
            <a:ext cx="5330952" cy="2560320"/>
          </a:xfrm>
          <a:prstGeom prst="roundRect">
            <a:avLst>
              <a:gd name="adj" fmla="val 2143"/>
            </a:avLst>
          </a:prstGeom>
          <a:solidFill>
            <a:srgbClr val="FBFDFC"/>
          </a:solidFill>
          <a:ln w="19050">
            <a:solidFill>
              <a:srgbClr val="1A9E75"/>
            </a:solidFill>
            <a:prstDash val="dash"/>
          </a:ln>
        </p:spPr>
        <p:txBody>
          <a:bodyPr/>
          <a:p/>
        </p:txBody>
      </p:sp>
      <p:sp>
        <p:nvSpPr>
          <p:cNvPr id="27" name="Shape 25"/>
          <p:cNvSpPr/>
          <p:nvPr/>
        </p:nvSpPr>
        <p:spPr>
          <a:xfrm>
            <a:off x="6556248" y="329184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8" name="Text 26"/>
          <p:cNvSpPr/>
          <p:nvPr/>
        </p:nvSpPr>
        <p:spPr>
          <a:xfrm>
            <a:off x="6556248" y="329184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9" name="Text 27"/>
          <p:cNvSpPr/>
          <p:nvPr/>
        </p:nvSpPr>
        <p:spPr>
          <a:xfrm>
            <a:off x="6556248" y="367588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One fleet's settings block, expanded</a:t>
            </a:r>
            <a:endParaRPr lang="en-US" sz="1250" dirty="0"/>
          </a:p>
        </p:txBody>
      </p:sp>
      <p:sp>
        <p:nvSpPr>
          <p:cNvPr id="30" name="Text 28"/>
          <p:cNvSpPr/>
          <p:nvPr/>
        </p:nvSpPr>
        <p:spPr>
          <a:xfrm>
            <a:off x="6556248" y="429768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31" name="Text 29"/>
          <p:cNvSpPr/>
          <p:nvPr/>
        </p:nvSpPr>
        <p:spPr>
          <a:xfrm>
            <a:off x="6629400" y="4535424"/>
            <a:ext cx="4782312" cy="9601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three scenario buttons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fleet size and distance boxes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advanced fine-tuning section</a:t>
            </a:r>
            <a:endParaRPr lang="en-US" sz="1050" dirty="0"/>
          </a:p>
        </p:txBody>
      </p:sp>
      <p:sp>
        <p:nvSpPr>
          <p:cNvPr id="32" name="Text 30"/>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5 - Fleet Penetration Simulator</a:t>
            </a:r>
            <a:endParaRPr lang="en-US" sz="900" dirty="0"/>
          </a:p>
        </p:txBody>
      </p:sp>
      <p:sp>
        <p:nvSpPr>
          <p:cNvPr id="33" name="Text 31"/>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5</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2 of 3: horizon, grid and results</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Set the projection horizon</a:t>
            </a:r>
            <a:endParaRPr lang="en-US" sz="1300" dirty="0"/>
          </a:p>
        </p:txBody>
      </p:sp>
      <p:sp>
        <p:nvSpPr>
          <p:cNvPr id="7" name="Text 5"/>
          <p:cNvSpPr/>
          <p:nvPr/>
        </p:nvSpPr>
        <p:spPr>
          <a:xfrm>
            <a:off x="932688" y="157276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How many years ahead to project. Keep it past 2030 so the target year stays visible.</a:t>
            </a:r>
            <a:endParaRPr lang="en-US" sz="1150" dirty="0"/>
          </a:p>
        </p:txBody>
      </p:sp>
      <p:sp>
        <p:nvSpPr>
          <p:cNvPr id="8" name="Shape 6"/>
          <p:cNvSpPr/>
          <p:nvPr/>
        </p:nvSpPr>
        <p:spPr>
          <a:xfrm>
            <a:off x="502920" y="2148840"/>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2148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212140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Set the renewable share</a:t>
            </a:r>
            <a:endParaRPr lang="en-US" sz="1300" dirty="0"/>
          </a:p>
        </p:txBody>
      </p:sp>
      <p:sp>
        <p:nvSpPr>
          <p:cNvPr id="11" name="Text 9"/>
          <p:cNvSpPr/>
          <p:nvPr/>
        </p:nvSpPr>
        <p:spPr>
          <a:xfrm>
            <a:off x="932688" y="2350008"/>
            <a:ext cx="5056632" cy="690372"/>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How clean the electricity supply is assumed to be. Cleaner electricity means bigger emissions savings from the same number of EVs.</a:t>
            </a:r>
            <a:endParaRPr lang="en-US" sz="1150" dirty="0"/>
          </a:p>
        </p:txBody>
      </p:sp>
      <p:sp>
        <p:nvSpPr>
          <p:cNvPr id="12" name="Shape 10"/>
          <p:cNvSpPr/>
          <p:nvPr/>
        </p:nvSpPr>
        <p:spPr>
          <a:xfrm>
            <a:off x="502920" y="3095244"/>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309524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3067812"/>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Read the target cards</a:t>
            </a:r>
            <a:endParaRPr lang="en-US" sz="1300" dirty="0"/>
          </a:p>
        </p:txBody>
      </p:sp>
      <p:sp>
        <p:nvSpPr>
          <p:cNvPr id="15" name="Text 13"/>
          <p:cNvSpPr/>
          <p:nvPr/>
        </p:nvSpPr>
        <p:spPr>
          <a:xfrm>
            <a:off x="932688" y="3296412"/>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For each fleet, the 2030 target, where your settings land, and the gap between them.</a:t>
            </a:r>
            <a:endParaRPr lang="en-US" sz="1150" dirty="0"/>
          </a:p>
        </p:txBody>
      </p:sp>
      <p:sp>
        <p:nvSpPr>
          <p:cNvPr id="16" name="Shape 14"/>
          <p:cNvSpPr/>
          <p:nvPr/>
        </p:nvSpPr>
        <p:spPr>
          <a:xfrm>
            <a:off x="502920" y="3872484"/>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387248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3845052"/>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Read the uptake chart</a:t>
            </a:r>
            <a:endParaRPr lang="en-US" sz="1300" dirty="0"/>
          </a:p>
        </p:txBody>
      </p:sp>
      <p:sp>
        <p:nvSpPr>
          <p:cNvPr id="19" name="Text 17"/>
          <p:cNvSpPr/>
          <p:nvPr/>
        </p:nvSpPr>
        <p:spPr>
          <a:xfrm>
            <a:off x="932688" y="4073652"/>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One curve per fleet, showing the share of vehicles that are electric over time, with 2030 marked.</a:t>
            </a:r>
            <a:endParaRPr lang="en-US" sz="1150" dirty="0"/>
          </a:p>
        </p:txBody>
      </p:sp>
      <p:sp>
        <p:nvSpPr>
          <p:cNvPr id="20" name="Shape 18"/>
          <p:cNvSpPr/>
          <p:nvPr/>
        </p:nvSpPr>
        <p:spPr>
          <a:xfrm>
            <a:off x="502920" y="4649724"/>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649724"/>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622292"/>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Read the two charts below</a:t>
            </a:r>
            <a:endParaRPr lang="en-US" sz="1300" dirty="0"/>
          </a:p>
        </p:txBody>
      </p:sp>
      <p:sp>
        <p:nvSpPr>
          <p:cNvPr id="23" name="Text 21"/>
          <p:cNvSpPr/>
          <p:nvPr/>
        </p:nvSpPr>
        <p:spPr>
          <a:xfrm>
            <a:off x="932688" y="4850892"/>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One shows carbon dioxide avoided, the other shows government revenue given up through reduced duty.</a:t>
            </a:r>
            <a:endParaRPr lang="en-US" sz="1150" dirty="0"/>
          </a:p>
        </p:txBody>
      </p:sp>
      <p:sp>
        <p:nvSpPr>
          <p:cNvPr id="24" name="Shape 22"/>
          <p:cNvSpPr/>
          <p:nvPr/>
        </p:nvSpPr>
        <p:spPr>
          <a:xfrm>
            <a:off x="6355080" y="1371600"/>
            <a:ext cx="5330952" cy="3931920"/>
          </a:xfrm>
          <a:prstGeom prst="roundRect">
            <a:avLst>
              <a:gd name="adj" fmla="val 1395"/>
            </a:avLst>
          </a:prstGeom>
          <a:solidFill>
            <a:srgbClr val="FBFDFC"/>
          </a:solidFill>
          <a:ln w="19050">
            <a:solidFill>
              <a:srgbClr val="1A9E75"/>
            </a:solidFill>
            <a:prstDash val="dash"/>
          </a:ln>
        </p:spPr>
        <p:txBody>
          <a:bodyPr/>
          <a:p/>
        </p:txBody>
      </p:sp>
      <p:sp>
        <p:nvSpPr>
          <p:cNvPr id="25" name="Shape 23"/>
          <p:cNvSpPr/>
          <p:nvPr/>
        </p:nvSpPr>
        <p:spPr>
          <a:xfrm>
            <a:off x="655624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6" name="Text 24"/>
          <p:cNvSpPr/>
          <p:nvPr/>
        </p:nvSpPr>
        <p:spPr>
          <a:xfrm>
            <a:off x="655624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7" name="Text 25"/>
          <p:cNvSpPr/>
          <p:nvPr/>
        </p:nvSpPr>
        <p:spPr>
          <a:xfrm>
            <a:off x="6556248" y="193852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horizon and grid controls with the uptake chart</a:t>
            </a:r>
            <a:endParaRPr lang="en-US" sz="1250" dirty="0"/>
          </a:p>
        </p:txBody>
      </p:sp>
      <p:sp>
        <p:nvSpPr>
          <p:cNvPr id="28" name="Text 26"/>
          <p:cNvSpPr/>
          <p:nvPr/>
        </p:nvSpPr>
        <p:spPr>
          <a:xfrm>
            <a:off x="6556248" y="256032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9" name="Text 27"/>
          <p:cNvSpPr/>
          <p:nvPr/>
        </p:nvSpPr>
        <p:spPr>
          <a:xfrm>
            <a:off x="6629400" y="2798064"/>
            <a:ext cx="4782312" cy="2331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projection horizon slider</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renewable share slider and the note underneath it</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three target cards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2030 marker on the uptake chart</a:t>
            </a:r>
            <a:endParaRPr lang="en-US" sz="1050" dirty="0"/>
          </a:p>
        </p:txBody>
      </p:sp>
      <p:sp>
        <p:nvSpPr>
          <p:cNvPr id="30" name="Text 28"/>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5 - Fleet Penetration Simulator</a:t>
            </a:r>
            <a:endParaRPr lang="en-US" sz="900" dirty="0"/>
          </a:p>
        </p:txBody>
      </p:sp>
      <p:sp>
        <p:nvSpPr>
          <p:cNvPr id="31" name="Text 29"/>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5</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3 of 3: the private fleet emissions comparison</a:t>
            </a:r>
            <a:endParaRPr lang="en-US" sz="3200" dirty="0"/>
          </a:p>
        </p:txBody>
      </p:sp>
      <p:sp>
        <p:nvSpPr>
          <p:cNvPr id="4" name="Text 2"/>
          <p:cNvSpPr/>
          <p:nvPr/>
        </p:nvSpPr>
        <p:spPr>
          <a:xfrm>
            <a:off x="502920" y="1207008"/>
            <a:ext cx="11155680" cy="384048"/>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Scroll down past the three fleets to find this section. It answers a different question: instead of projecting one likely path, it asks what would happen at any level of electrification you choose.</a:t>
            </a:r>
            <a:endParaRPr lang="en-US" sz="1300" dirty="0"/>
          </a:p>
        </p:txBody>
      </p:sp>
      <p:sp>
        <p:nvSpPr>
          <p:cNvPr id="5" name="Shape 3"/>
          <p:cNvSpPr/>
          <p:nvPr/>
        </p:nvSpPr>
        <p:spPr>
          <a:xfrm>
            <a:off x="502920" y="1737360"/>
            <a:ext cx="292608" cy="292608"/>
          </a:xfrm>
          <a:prstGeom prst="ellipse">
            <a:avLst/>
          </a:prstGeom>
          <a:solidFill>
            <a:srgbClr val="1A7A6E"/>
          </a:solidFill>
          <a:ln w="12700">
            <a:solidFill>
              <a:srgbClr val="1A7A6E"/>
            </a:solidFill>
            <a:prstDash val="solid"/>
          </a:ln>
        </p:spPr>
        <p:txBody>
          <a:bodyPr/>
          <a:p/>
        </p:txBody>
      </p:sp>
      <p:sp>
        <p:nvSpPr>
          <p:cNvPr id="6" name="Text 4"/>
          <p:cNvSpPr/>
          <p:nvPr/>
        </p:nvSpPr>
        <p:spPr>
          <a:xfrm>
            <a:off x="502920" y="173736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932688" y="170992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Choose a direction</a:t>
            </a:r>
            <a:endParaRPr lang="en-US" sz="1300" dirty="0"/>
          </a:p>
        </p:txBody>
      </p:sp>
      <p:sp>
        <p:nvSpPr>
          <p:cNvPr id="8" name="Text 6"/>
          <p:cNvSpPr/>
          <p:nvPr/>
        </p:nvSpPr>
        <p:spPr>
          <a:xfrm>
            <a:off x="932688" y="193852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Looking back asks what emissions would have been since 2015. Looking forward asks what they will be to 2035.</a:t>
            </a:r>
            <a:endParaRPr lang="en-US" sz="1150" dirty="0"/>
          </a:p>
        </p:txBody>
      </p:sp>
      <p:sp>
        <p:nvSpPr>
          <p:cNvPr id="9" name="Shape 7"/>
          <p:cNvSpPr/>
          <p:nvPr/>
        </p:nvSpPr>
        <p:spPr>
          <a:xfrm>
            <a:off x="502920" y="2514600"/>
            <a:ext cx="292608" cy="292608"/>
          </a:xfrm>
          <a:prstGeom prst="ellipse">
            <a:avLst/>
          </a:prstGeom>
          <a:solidFill>
            <a:srgbClr val="1A7A6E"/>
          </a:solidFill>
          <a:ln w="12700">
            <a:solidFill>
              <a:srgbClr val="1A7A6E"/>
            </a:solidFill>
            <a:prstDash val="solid"/>
          </a:ln>
        </p:spPr>
        <p:txBody>
          <a:bodyPr/>
          <a:p/>
        </p:txBody>
      </p:sp>
      <p:sp>
        <p:nvSpPr>
          <p:cNvPr id="10" name="Text 8"/>
          <p:cNvSpPr/>
          <p:nvPr/>
        </p:nvSpPr>
        <p:spPr>
          <a:xfrm>
            <a:off x="502920" y="2514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1" name="Text 9"/>
          <p:cNvSpPr/>
          <p:nvPr/>
        </p:nvSpPr>
        <p:spPr>
          <a:xfrm>
            <a:off x="932688" y="2487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Move the penetration slider</a:t>
            </a:r>
            <a:endParaRPr lang="en-US" sz="1300" dirty="0"/>
          </a:p>
        </p:txBody>
      </p:sp>
      <p:sp>
        <p:nvSpPr>
          <p:cNvPr id="12" name="Text 10"/>
          <p:cNvSpPr/>
          <p:nvPr/>
        </p:nvSpPr>
        <p:spPr>
          <a:xfrm>
            <a:off x="932688" y="271576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Anywhere from 0% to 100%. It starts at 12%, the national target.</a:t>
            </a:r>
            <a:endParaRPr lang="en-US" sz="1150" dirty="0"/>
          </a:p>
        </p:txBody>
      </p:sp>
      <p:sp>
        <p:nvSpPr>
          <p:cNvPr id="13" name="Shape 11"/>
          <p:cNvSpPr/>
          <p:nvPr/>
        </p:nvSpPr>
        <p:spPr>
          <a:xfrm>
            <a:off x="502920" y="3291840"/>
            <a:ext cx="292608" cy="292608"/>
          </a:xfrm>
          <a:prstGeom prst="ellipse">
            <a:avLst/>
          </a:prstGeom>
          <a:solidFill>
            <a:srgbClr val="1A7A6E"/>
          </a:solidFill>
          <a:ln w="12700">
            <a:solidFill>
              <a:srgbClr val="1A7A6E"/>
            </a:solidFill>
            <a:prstDash val="solid"/>
          </a:ln>
        </p:spPr>
        <p:txBody>
          <a:bodyPr/>
          <a:p/>
        </p:txBody>
      </p:sp>
      <p:sp>
        <p:nvSpPr>
          <p:cNvPr id="14" name="Text 12"/>
          <p:cNvSpPr/>
          <p:nvPr/>
        </p:nvSpPr>
        <p:spPr>
          <a:xfrm>
            <a:off x="502920" y="3291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5" name="Text 13"/>
          <p:cNvSpPr/>
          <p:nvPr/>
        </p:nvSpPr>
        <p:spPr>
          <a:xfrm>
            <a:off x="932688" y="326440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Decide on battery manufacturing</a:t>
            </a:r>
            <a:endParaRPr lang="en-US" sz="1300" dirty="0"/>
          </a:p>
        </p:txBody>
      </p:sp>
      <p:sp>
        <p:nvSpPr>
          <p:cNvPr id="16" name="Text 14"/>
          <p:cNvSpPr/>
          <p:nvPr/>
        </p:nvSpPr>
        <p:spPr>
          <a:xfrm>
            <a:off x="932688" y="349300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Leave this on to include the emissions cost of building the batteries. Turning it off flatters the electric case.</a:t>
            </a:r>
            <a:endParaRPr lang="en-US" sz="1150" dirty="0"/>
          </a:p>
        </p:txBody>
      </p:sp>
      <p:sp>
        <p:nvSpPr>
          <p:cNvPr id="17" name="Shape 15"/>
          <p:cNvSpPr/>
          <p:nvPr/>
        </p:nvSpPr>
        <p:spPr>
          <a:xfrm>
            <a:off x="502920" y="4069080"/>
            <a:ext cx="292608" cy="292608"/>
          </a:xfrm>
          <a:prstGeom prst="ellipse">
            <a:avLst/>
          </a:prstGeom>
          <a:solidFill>
            <a:srgbClr val="1A7A6E"/>
          </a:solidFill>
          <a:ln w="12700">
            <a:solidFill>
              <a:srgbClr val="1A7A6E"/>
            </a:solidFill>
            <a:prstDash val="solid"/>
          </a:ln>
        </p:spPr>
        <p:txBody>
          <a:bodyPr/>
          <a:p/>
        </p:txBody>
      </p:sp>
      <p:sp>
        <p:nvSpPr>
          <p:cNvPr id="18" name="Text 16"/>
          <p:cNvSpPr/>
          <p:nvPr/>
        </p:nvSpPr>
        <p:spPr>
          <a:xfrm>
            <a:off x="502920" y="406908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932688" y="404164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Read the six cards</a:t>
            </a:r>
            <a:endParaRPr lang="en-US" sz="1300" dirty="0"/>
          </a:p>
        </p:txBody>
      </p:sp>
      <p:sp>
        <p:nvSpPr>
          <p:cNvPr id="20" name="Text 18"/>
          <p:cNvSpPr/>
          <p:nvPr/>
        </p:nvSpPr>
        <p:spPr>
          <a:xfrm>
            <a:off x="932688" y="4270248"/>
            <a:ext cx="5056632" cy="690372"/>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Carbon dioxide avoided, the battery manufacturing cost, the net figure, litres of petrol not burned, money not spent on fuel, and the year the battery cost is repaid.</a:t>
            </a:r>
            <a:endParaRPr lang="en-US" sz="1150" dirty="0"/>
          </a:p>
        </p:txBody>
      </p:sp>
      <p:sp>
        <p:nvSpPr>
          <p:cNvPr id="21" name="Shape 19"/>
          <p:cNvSpPr/>
          <p:nvPr/>
        </p:nvSpPr>
        <p:spPr>
          <a:xfrm>
            <a:off x="6355080" y="1719072"/>
            <a:ext cx="5330952" cy="3246120"/>
          </a:xfrm>
          <a:prstGeom prst="roundRect">
            <a:avLst>
              <a:gd name="adj" fmla="val 1690"/>
            </a:avLst>
          </a:prstGeom>
          <a:solidFill>
            <a:srgbClr val="FBFDFC"/>
          </a:solidFill>
          <a:ln w="19050">
            <a:solidFill>
              <a:srgbClr val="1A9E75"/>
            </a:solidFill>
            <a:prstDash val="dash"/>
          </a:ln>
        </p:spPr>
        <p:txBody>
          <a:bodyPr/>
          <a:p/>
        </p:txBody>
      </p:sp>
      <p:sp>
        <p:nvSpPr>
          <p:cNvPr id="22" name="Shape 20"/>
          <p:cNvSpPr/>
          <p:nvPr/>
        </p:nvSpPr>
        <p:spPr>
          <a:xfrm>
            <a:off x="6556248" y="1901952"/>
            <a:ext cx="1417320" cy="274320"/>
          </a:xfrm>
          <a:prstGeom prst="roundRect">
            <a:avLst>
              <a:gd name="adj" fmla="val 16667"/>
            </a:avLst>
          </a:prstGeom>
          <a:solidFill>
            <a:srgbClr val="1A9E75"/>
          </a:solidFill>
          <a:ln w="12700">
            <a:solidFill>
              <a:srgbClr val="1A9E75"/>
            </a:solidFill>
            <a:prstDash val="solid"/>
          </a:ln>
        </p:spPr>
        <p:txBody>
          <a:bodyPr/>
          <a:p/>
        </p:txBody>
      </p:sp>
      <p:sp>
        <p:nvSpPr>
          <p:cNvPr id="23" name="Text 21"/>
          <p:cNvSpPr/>
          <p:nvPr/>
        </p:nvSpPr>
        <p:spPr>
          <a:xfrm>
            <a:off x="6556248" y="1901952"/>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24" name="Text 22"/>
          <p:cNvSpPr/>
          <p:nvPr/>
        </p:nvSpPr>
        <p:spPr>
          <a:xfrm>
            <a:off x="6556248" y="2286000"/>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emissions comparison controls and its chart</a:t>
            </a:r>
            <a:endParaRPr lang="en-US" sz="1250" dirty="0"/>
          </a:p>
        </p:txBody>
      </p:sp>
      <p:sp>
        <p:nvSpPr>
          <p:cNvPr id="25" name="Text 23"/>
          <p:cNvSpPr/>
          <p:nvPr/>
        </p:nvSpPr>
        <p:spPr>
          <a:xfrm>
            <a:off x="6556248" y="2907792"/>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6" name="Text 24"/>
          <p:cNvSpPr/>
          <p:nvPr/>
        </p:nvSpPr>
        <p:spPr>
          <a:xfrm>
            <a:off x="6629400" y="3145536"/>
            <a:ext cx="4782312" cy="16459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direction options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0 to 100% penetration slider</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orange 'all petrol' line and the green mixed-fleet line</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dashed cumulative line and the repayment marker</a:t>
            </a:r>
            <a:endParaRPr lang="en-US" sz="1050" dirty="0"/>
          </a:p>
        </p:txBody>
      </p:sp>
      <p:sp>
        <p:nvSpPr>
          <p:cNvPr id="27" name="Shape 25"/>
          <p:cNvSpPr/>
          <p:nvPr/>
        </p:nvSpPr>
        <p:spPr>
          <a:xfrm>
            <a:off x="502920" y="5138928"/>
            <a:ext cx="11183112" cy="658368"/>
          </a:xfrm>
          <a:prstGeom prst="roundRect">
            <a:avLst>
              <a:gd name="adj" fmla="val 8333"/>
            </a:avLst>
          </a:prstGeom>
          <a:solidFill>
            <a:srgbClr val="F1F6F4"/>
          </a:solidFill>
          <a:ln w="12700">
            <a:solidFill>
              <a:srgbClr val="D8E3E0"/>
            </a:solidFill>
            <a:prstDash val="solid"/>
          </a:ln>
        </p:spPr>
        <p:txBody>
          <a:bodyPr/>
          <a:p/>
        </p:txBody>
      </p:sp>
      <p:sp>
        <p:nvSpPr>
          <p:cNvPr id="28" name="Shape 26"/>
          <p:cNvSpPr/>
          <p:nvPr/>
        </p:nvSpPr>
        <p:spPr>
          <a:xfrm>
            <a:off x="685800" y="5312664"/>
            <a:ext cx="310896" cy="310896"/>
          </a:xfrm>
          <a:prstGeom prst="ellipse">
            <a:avLst/>
          </a:prstGeom>
          <a:solidFill>
            <a:srgbClr val="1A9E75"/>
          </a:solidFill>
          <a:ln w="12700">
            <a:solidFill>
              <a:srgbClr val="1A9E75"/>
            </a:solidFill>
            <a:prstDash val="solid"/>
          </a:ln>
        </p:spPr>
        <p:txBody>
          <a:bodyPr/>
          <a:p/>
        </p:txBody>
      </p:sp>
      <p:sp>
        <p:nvSpPr>
          <p:cNvPr id="29" name="Text 27"/>
          <p:cNvSpPr/>
          <p:nvPr/>
        </p:nvSpPr>
        <p:spPr>
          <a:xfrm>
            <a:off x="685800" y="531266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30" name="Text 28"/>
          <p:cNvSpPr/>
          <p:nvPr/>
        </p:nvSpPr>
        <p:spPr>
          <a:xfrm>
            <a:off x="1133856" y="5248656"/>
            <a:ext cx="10424160" cy="457200"/>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Reading the chart:  </a:t>
            </a:r>
            <a:pPr indent="0" marL="0">
              <a:buNone/>
            </a:pPr>
            <a:r>
              <a:rPr lang="en-US" sz="1100" dirty="0">
                <a:solidFill>
                  <a:srgbClr val="6B7A77"/>
                </a:solidFill>
                <a:latin typeface="Calibri" pitchFamily="34" charset="0"/>
                <a:ea typeface="Calibri" pitchFamily="34" charset="-122"/>
                <a:cs typeface="Calibri" pitchFamily="34" charset="-120"/>
              </a:rPr>
              <a:t>the gap between the orange and green lines is what electrification saves each year. The dashed line adds it up.</a:t>
            </a:r>
            <a:endParaRPr lang="en-US" sz="1100" dirty="0"/>
          </a:p>
        </p:txBody>
      </p:sp>
      <p:sp>
        <p:nvSpPr>
          <p:cNvPr id="31" name="Text 29"/>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5 - Fleet Penetration Simulator</a:t>
            </a:r>
            <a:endParaRPr lang="en-US" sz="900" dirty="0"/>
          </a:p>
        </p:txBody>
      </p:sp>
      <p:sp>
        <p:nvSpPr>
          <p:cNvPr id="32" name="Text 30"/>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roundRect">
            <a:avLst>
              <a:gd name="adj" fmla="val 6667"/>
            </a:avLst>
          </a:prstGeom>
          <a:solidFill>
            <a:srgbClr val="1A9E75"/>
          </a:solidFill>
          <a:ln w="12700">
            <a:solidFill>
              <a:srgbClr val="1A9E75"/>
            </a:solidFill>
            <a:prstDash val="solid"/>
          </a:ln>
        </p:spPr>
        <p:txBody>
          <a:bodyPr/>
          <a:p/>
        </p:txBody>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6200" b="1" dirty="0">
                <a:solidFill>
                  <a:srgbClr val="0E2A24"/>
                </a:solidFill>
                <a:latin typeface="Cambria" pitchFamily="34" charset="0"/>
                <a:ea typeface="Cambria" pitchFamily="34" charset="-122"/>
                <a:cs typeface="Cambria" pitchFamily="34" charset="-120"/>
              </a:rPr>
              <a:t>6</a:t>
            </a:r>
            <a:endParaRPr lang="en-US" sz="6200" dirty="0"/>
          </a:p>
        </p:txBody>
      </p:sp>
      <p:sp>
        <p:nvSpPr>
          <p:cNvPr id="4" name="Text 2"/>
          <p:cNvSpPr/>
          <p:nvPr/>
        </p:nvSpPr>
        <p:spPr>
          <a:xfrm>
            <a:off x="2514600" y="2194560"/>
            <a:ext cx="8686800" cy="292608"/>
          </a:xfrm>
          <a:prstGeom prst="rect">
            <a:avLst/>
          </a:prstGeom>
          <a:noFill/>
          <a:ln/>
        </p:spPr>
        <p:txBody>
          <a:bodyPr wrap="square" lIns="0" tIns="0" rIns="0" bIns="0" rtlCol="0" anchor="ctr"/>
          <a:lstStyle/>
          <a:p>
            <a:pPr indent="0" marL="0">
              <a:buNone/>
            </a:pPr>
            <a:r>
              <a:rPr lang="en-US" sz="1200" b="1" spc="200" kern="0" dirty="0">
                <a:solidFill>
                  <a:srgbClr val="1A9E75"/>
                </a:solidFill>
                <a:latin typeface="Calibri" pitchFamily="34" charset="0"/>
                <a:ea typeface="Calibri" pitchFamily="34" charset="-122"/>
                <a:cs typeface="Calibri" pitchFamily="34" charset="-120"/>
              </a:rPr>
              <a:t>MODULE 6</a:t>
            </a:r>
            <a:endParaRPr lang="en-US" sz="1200" dirty="0"/>
          </a:p>
        </p:txBody>
      </p:sp>
      <p:sp>
        <p:nvSpPr>
          <p:cNvPr id="5" name="Text 3"/>
          <p:cNvSpPr/>
          <p:nvPr/>
        </p:nvSpPr>
        <p:spPr>
          <a:xfrm>
            <a:off x="2514600" y="2487168"/>
            <a:ext cx="90525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Emissions Impact Calculator</a:t>
            </a:r>
            <a:endParaRPr lang="en-US" sz="3400" dirty="0"/>
          </a:p>
        </p:txBody>
      </p:sp>
      <p:sp>
        <p:nvSpPr>
          <p:cNvPr id="6" name="Text 4"/>
          <p:cNvSpPr/>
          <p:nvPr/>
        </p:nvSpPr>
        <p:spPr>
          <a:xfrm>
            <a:off x="2514600" y="3154680"/>
            <a:ext cx="8778240" cy="457200"/>
          </a:xfrm>
          <a:prstGeom prst="rect">
            <a:avLst/>
          </a:prstGeom>
          <a:noFill/>
          <a:ln/>
        </p:spPr>
        <p:txBody>
          <a:bodyPr wrap="square" lIns="0" tIns="0" rIns="0" bIns="0" rtlCol="0" anchor="ctr"/>
          <a:lstStyle/>
          <a:p>
            <a:pPr indent="0" marL="0">
              <a:buNone/>
            </a:pPr>
            <a:r>
              <a:rPr lang="en-US" sz="1400" dirty="0">
                <a:solidFill>
                  <a:srgbClr val="B9CFC9"/>
                </a:solidFill>
                <a:latin typeface="Calibri" pitchFamily="34" charset="0"/>
                <a:ea typeface="Calibri" pitchFamily="34" charset="-122"/>
                <a:cs typeface="Calibri" pitchFamily="34" charset="-120"/>
              </a:rPr>
              <a:t>The carbon dioxide side of the same comparison the calculator makes on cost.</a:t>
            </a:r>
            <a:endParaRPr lang="en-US" sz="1400" dirty="0"/>
          </a:p>
        </p:txBody>
      </p:sp>
      <p:sp>
        <p:nvSpPr>
          <p:cNvPr id="7" name="Text 5"/>
          <p:cNvSpPr/>
          <p:nvPr/>
        </p:nvSpPr>
        <p:spPr>
          <a:xfrm>
            <a:off x="2542032" y="3794760"/>
            <a:ext cx="8686800" cy="365760"/>
          </a:xfrm>
          <a:prstGeom prst="rect">
            <a:avLst/>
          </a:prstGeom>
          <a:noFill/>
          <a:ln/>
        </p:spPr>
        <p:txBody>
          <a:bodyPr wrap="square" lIns="0" tIns="0" rIns="0" bIns="0" rtlCol="0" anchor="ctr"/>
          <a:lstStyle/>
          <a:p>
            <a:pPr indent="0" marL="0">
              <a:buNone/>
            </a:pPr>
            <a:r>
              <a:rPr lang="en-US" sz="1200" i="1" dirty="0">
                <a:solidFill>
                  <a:srgbClr val="8FB3AB"/>
                </a:solidFill>
                <a:latin typeface="Calibri" pitchFamily="34" charset="0"/>
                <a:ea typeface="Calibri" pitchFamily="34" charset="-122"/>
                <a:cs typeface="Calibri" pitchFamily="34" charset="-120"/>
              </a:rPr>
              <a:t>What it answers:  Is an electric car actually cleaner here, and after how long?</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6</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1 of 2: filling it in</a:t>
            </a:r>
            <a:endParaRPr lang="en-US" sz="3200" dirty="0"/>
          </a:p>
        </p:txBody>
      </p:sp>
      <p:sp>
        <p:nvSpPr>
          <p:cNvPr id="4" name="Shape 2"/>
          <p:cNvSpPr/>
          <p:nvPr/>
        </p:nvSpPr>
        <p:spPr>
          <a:xfrm>
            <a:off x="502920" y="1371600"/>
            <a:ext cx="292608" cy="292608"/>
          </a:xfrm>
          <a:prstGeom prst="ellipse">
            <a:avLst/>
          </a:prstGeom>
          <a:solidFill>
            <a:srgbClr val="1A7A6E"/>
          </a:solidFill>
          <a:ln w="12700">
            <a:solidFill>
              <a:srgbClr val="1A7A6E"/>
            </a:solidFill>
            <a:prstDash val="solid"/>
          </a:ln>
        </p:spPr>
        <p:txBody>
          <a:bodyPr/>
          <a:p/>
        </p:txBody>
      </p:sp>
      <p:sp>
        <p:nvSpPr>
          <p:cNvPr id="5" name="Text 3"/>
          <p:cNvSpPr/>
          <p:nvPr/>
        </p:nvSpPr>
        <p:spPr>
          <a:xfrm>
            <a:off x="502920" y="137160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6" name="Text 4"/>
          <p:cNvSpPr/>
          <p:nvPr/>
        </p:nvSpPr>
        <p:spPr>
          <a:xfrm>
            <a:off x="932688" y="134416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Pick the petrol car</a:t>
            </a:r>
            <a:endParaRPr lang="en-US" sz="1300" dirty="0"/>
          </a:p>
        </p:txBody>
      </p:sp>
      <p:sp>
        <p:nvSpPr>
          <p:cNvPr id="7" name="Text 5"/>
          <p:cNvSpPr/>
          <p:nvPr/>
        </p:nvSpPr>
        <p:spPr>
          <a:xfrm>
            <a:off x="932688" y="157276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Use the first 'Select model' dropdown. Its fuel consumption fills in automatically.</a:t>
            </a:r>
            <a:endParaRPr lang="en-US" sz="1150" dirty="0"/>
          </a:p>
        </p:txBody>
      </p:sp>
      <p:sp>
        <p:nvSpPr>
          <p:cNvPr id="8" name="Shape 6"/>
          <p:cNvSpPr/>
          <p:nvPr/>
        </p:nvSpPr>
        <p:spPr>
          <a:xfrm>
            <a:off x="502920" y="2148840"/>
            <a:ext cx="292608" cy="292608"/>
          </a:xfrm>
          <a:prstGeom prst="ellipse">
            <a:avLst/>
          </a:prstGeom>
          <a:solidFill>
            <a:srgbClr val="1A7A6E"/>
          </a:solidFill>
          <a:ln w="12700">
            <a:solidFill>
              <a:srgbClr val="1A7A6E"/>
            </a:solidFill>
            <a:prstDash val="solid"/>
          </a:ln>
        </p:spPr>
        <p:txBody>
          <a:bodyPr/>
          <a:p/>
        </p:txBody>
      </p:sp>
      <p:sp>
        <p:nvSpPr>
          <p:cNvPr id="9" name="Text 7"/>
          <p:cNvSpPr/>
          <p:nvPr/>
        </p:nvSpPr>
        <p:spPr>
          <a:xfrm>
            <a:off x="502920" y="214884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0" name="Text 8"/>
          <p:cNvSpPr/>
          <p:nvPr/>
        </p:nvSpPr>
        <p:spPr>
          <a:xfrm>
            <a:off x="932688" y="212140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Pick the electric car</a:t>
            </a:r>
            <a:endParaRPr lang="en-US" sz="1300" dirty="0"/>
          </a:p>
        </p:txBody>
      </p:sp>
      <p:sp>
        <p:nvSpPr>
          <p:cNvPr id="11" name="Text 9"/>
          <p:cNvSpPr/>
          <p:nvPr/>
        </p:nvSpPr>
        <p:spPr>
          <a:xfrm>
            <a:off x="932688" y="235000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Use the second dropdown. Its energy consumption fills in the same way.</a:t>
            </a:r>
            <a:endParaRPr lang="en-US" sz="1150" dirty="0"/>
          </a:p>
        </p:txBody>
      </p:sp>
      <p:sp>
        <p:nvSpPr>
          <p:cNvPr id="12" name="Shape 10"/>
          <p:cNvSpPr/>
          <p:nvPr/>
        </p:nvSpPr>
        <p:spPr>
          <a:xfrm>
            <a:off x="502920" y="2926080"/>
            <a:ext cx="292608" cy="292608"/>
          </a:xfrm>
          <a:prstGeom prst="ellipse">
            <a:avLst/>
          </a:prstGeom>
          <a:solidFill>
            <a:srgbClr val="1A7A6E"/>
          </a:solidFill>
          <a:ln w="12700">
            <a:solidFill>
              <a:srgbClr val="1A7A6E"/>
            </a:solidFill>
            <a:prstDash val="solid"/>
          </a:ln>
        </p:spPr>
        <p:txBody>
          <a:bodyPr/>
          <a:p/>
        </p:txBody>
      </p:sp>
      <p:sp>
        <p:nvSpPr>
          <p:cNvPr id="13" name="Text 11"/>
          <p:cNvSpPr/>
          <p:nvPr/>
        </p:nvSpPr>
        <p:spPr>
          <a:xfrm>
            <a:off x="502920" y="292608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4" name="Text 12"/>
          <p:cNvSpPr/>
          <p:nvPr/>
        </p:nvSpPr>
        <p:spPr>
          <a:xfrm>
            <a:off x="932688" y="289864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Adjust consumption if you know better</a:t>
            </a:r>
            <a:endParaRPr lang="en-US" sz="1300" dirty="0"/>
          </a:p>
        </p:txBody>
      </p:sp>
      <p:sp>
        <p:nvSpPr>
          <p:cNvPr id="15" name="Text 13"/>
          <p:cNvSpPr/>
          <p:nvPr/>
        </p:nvSpPr>
        <p:spPr>
          <a:xfrm>
            <a:off x="932688" y="3127248"/>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Both boxes can be typed over with real figures from your own driving.</a:t>
            </a:r>
            <a:endParaRPr lang="en-US" sz="1150" dirty="0"/>
          </a:p>
        </p:txBody>
      </p:sp>
      <p:sp>
        <p:nvSpPr>
          <p:cNvPr id="16" name="Shape 14"/>
          <p:cNvSpPr/>
          <p:nvPr/>
        </p:nvSpPr>
        <p:spPr>
          <a:xfrm>
            <a:off x="502920" y="3703320"/>
            <a:ext cx="292608" cy="292608"/>
          </a:xfrm>
          <a:prstGeom prst="ellipse">
            <a:avLst/>
          </a:prstGeom>
          <a:solidFill>
            <a:srgbClr val="1A7A6E"/>
          </a:solidFill>
          <a:ln w="12700">
            <a:solidFill>
              <a:srgbClr val="1A7A6E"/>
            </a:solidFill>
            <a:prstDash val="solid"/>
          </a:ln>
        </p:spPr>
        <p:txBody>
          <a:bodyPr/>
          <a:p/>
        </p:txBody>
      </p:sp>
      <p:sp>
        <p:nvSpPr>
          <p:cNvPr id="17" name="Text 15"/>
          <p:cNvSpPr/>
          <p:nvPr/>
        </p:nvSpPr>
        <p:spPr>
          <a:xfrm>
            <a:off x="502920" y="3703320"/>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8" name="Text 16"/>
          <p:cNvSpPr/>
          <p:nvPr/>
        </p:nvSpPr>
        <p:spPr>
          <a:xfrm>
            <a:off x="932688" y="3675888"/>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Enter your daily distance</a:t>
            </a:r>
            <a:endParaRPr lang="en-US" sz="1300" dirty="0"/>
          </a:p>
        </p:txBody>
      </p:sp>
      <p:sp>
        <p:nvSpPr>
          <p:cNvPr id="19" name="Text 17"/>
          <p:cNvSpPr/>
          <p:nvPr/>
        </p:nvSpPr>
        <p:spPr>
          <a:xfrm>
            <a:off x="932688" y="3904488"/>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In kilometres, the same as on the cost calculator.</a:t>
            </a:r>
            <a:endParaRPr lang="en-US" sz="1150" dirty="0"/>
          </a:p>
        </p:txBody>
      </p:sp>
      <p:sp>
        <p:nvSpPr>
          <p:cNvPr id="20" name="Shape 18"/>
          <p:cNvSpPr/>
          <p:nvPr/>
        </p:nvSpPr>
        <p:spPr>
          <a:xfrm>
            <a:off x="502920" y="4311396"/>
            <a:ext cx="292608" cy="292608"/>
          </a:xfrm>
          <a:prstGeom prst="ellipse">
            <a:avLst/>
          </a:prstGeom>
          <a:solidFill>
            <a:srgbClr val="1A7A6E"/>
          </a:solidFill>
          <a:ln w="12700">
            <a:solidFill>
              <a:srgbClr val="1A7A6E"/>
            </a:solidFill>
            <a:prstDash val="solid"/>
          </a:ln>
        </p:spPr>
        <p:txBody>
          <a:bodyPr/>
          <a:p/>
        </p:txBody>
      </p:sp>
      <p:sp>
        <p:nvSpPr>
          <p:cNvPr id="21" name="Text 19"/>
          <p:cNvSpPr/>
          <p:nvPr/>
        </p:nvSpPr>
        <p:spPr>
          <a:xfrm>
            <a:off x="502920" y="4311396"/>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2" name="Text 20"/>
          <p:cNvSpPr/>
          <p:nvPr/>
        </p:nvSpPr>
        <p:spPr>
          <a:xfrm>
            <a:off x="932688" y="4283964"/>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Set the ownership period</a:t>
            </a:r>
            <a:endParaRPr lang="en-US" sz="1300" dirty="0"/>
          </a:p>
        </p:txBody>
      </p:sp>
      <p:sp>
        <p:nvSpPr>
          <p:cNvPr id="23" name="Text 21"/>
          <p:cNvSpPr/>
          <p:nvPr/>
        </p:nvSpPr>
        <p:spPr>
          <a:xfrm>
            <a:off x="932688" y="4512564"/>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In years. This sets how far the chart runs.</a:t>
            </a:r>
            <a:endParaRPr lang="en-US" sz="1150" dirty="0"/>
          </a:p>
        </p:txBody>
      </p:sp>
      <p:sp>
        <p:nvSpPr>
          <p:cNvPr id="24" name="Shape 22"/>
          <p:cNvSpPr/>
          <p:nvPr/>
        </p:nvSpPr>
        <p:spPr>
          <a:xfrm>
            <a:off x="502920" y="4919472"/>
            <a:ext cx="292608" cy="292608"/>
          </a:xfrm>
          <a:prstGeom prst="ellipse">
            <a:avLst/>
          </a:prstGeom>
          <a:solidFill>
            <a:srgbClr val="1A7A6E"/>
          </a:solidFill>
          <a:ln w="12700">
            <a:solidFill>
              <a:srgbClr val="1A7A6E"/>
            </a:solidFill>
            <a:prstDash val="solid"/>
          </a:ln>
        </p:spPr>
        <p:txBody>
          <a:bodyPr/>
          <a:p/>
        </p:txBody>
      </p:sp>
      <p:sp>
        <p:nvSpPr>
          <p:cNvPr id="25" name="Text 23"/>
          <p:cNvSpPr/>
          <p:nvPr/>
        </p:nvSpPr>
        <p:spPr>
          <a:xfrm>
            <a:off x="502920" y="491947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26" name="Text 24"/>
          <p:cNvSpPr/>
          <p:nvPr/>
        </p:nvSpPr>
        <p:spPr>
          <a:xfrm>
            <a:off x="932688" y="489204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Set the renewable share</a:t>
            </a:r>
            <a:endParaRPr lang="en-US" sz="1300" dirty="0"/>
          </a:p>
        </p:txBody>
      </p:sp>
      <p:sp>
        <p:nvSpPr>
          <p:cNvPr id="27" name="Text 25"/>
          <p:cNvSpPr/>
          <p:nvPr/>
        </p:nvSpPr>
        <p:spPr>
          <a:xfrm>
            <a:off x="932688" y="512064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Drag the slider between 0 and 100 per cent renewable. It is marked at Jamaica's 2022 mix and the 2026 and 2030 plan projections, and you can set any value between or beyond them. An EV gets cleaner as the grid does.</a:t>
            </a:r>
            <a:endParaRPr lang="en-US" sz="1150" dirty="0"/>
          </a:p>
        </p:txBody>
      </p:sp>
      <p:sp>
        <p:nvSpPr>
          <p:cNvPr id="28" name="Shape 26"/>
          <p:cNvSpPr/>
          <p:nvPr/>
        </p:nvSpPr>
        <p:spPr>
          <a:xfrm>
            <a:off x="6355080" y="1371600"/>
            <a:ext cx="5330952" cy="3931920"/>
          </a:xfrm>
          <a:prstGeom prst="roundRect">
            <a:avLst>
              <a:gd name="adj" fmla="val 1395"/>
            </a:avLst>
          </a:prstGeom>
          <a:solidFill>
            <a:srgbClr val="FBFDFC"/>
          </a:solidFill>
          <a:ln w="19050">
            <a:solidFill>
              <a:srgbClr val="1A9E75"/>
            </a:solidFill>
            <a:prstDash val="dash"/>
          </a:ln>
        </p:spPr>
        <p:txBody>
          <a:bodyPr/>
          <a:p/>
        </p:txBody>
      </p:sp>
      <p:sp>
        <p:nvSpPr>
          <p:cNvPr id="29" name="Shape 27"/>
          <p:cNvSpPr/>
          <p:nvPr/>
        </p:nvSpPr>
        <p:spPr>
          <a:xfrm>
            <a:off x="6556248" y="155448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30" name="Text 28"/>
          <p:cNvSpPr/>
          <p:nvPr/>
        </p:nvSpPr>
        <p:spPr>
          <a:xfrm>
            <a:off x="6556248" y="155448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31" name="Text 29"/>
          <p:cNvSpPr/>
          <p:nvPr/>
        </p:nvSpPr>
        <p:spPr>
          <a:xfrm>
            <a:off x="6556248" y="193852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full set of inputs on the emissions page</a:t>
            </a:r>
            <a:endParaRPr lang="en-US" sz="1250" dirty="0"/>
          </a:p>
        </p:txBody>
      </p:sp>
      <p:sp>
        <p:nvSpPr>
          <p:cNvPr id="32" name="Text 30"/>
          <p:cNvSpPr/>
          <p:nvPr/>
        </p:nvSpPr>
        <p:spPr>
          <a:xfrm>
            <a:off x="6556248" y="256032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33" name="Text 31"/>
          <p:cNvSpPr/>
          <p:nvPr/>
        </p:nvSpPr>
        <p:spPr>
          <a:xfrm>
            <a:off x="6629400" y="2798064"/>
            <a:ext cx="4782312" cy="233172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Both vehicle dropdowns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two consumption boxes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daily distance and ownership period boxes</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renewable share slider and the note underneath it</a:t>
            </a:r>
            <a:endParaRPr lang="en-US" sz="1050" dirty="0"/>
          </a:p>
        </p:txBody>
      </p:sp>
      <p:sp>
        <p:nvSpPr>
          <p:cNvPr id="34" name="Text 32"/>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6 - Emissions Impact Calculator</a:t>
            </a:r>
            <a:endParaRPr lang="en-US" sz="900" dirty="0"/>
          </a:p>
        </p:txBody>
      </p:sp>
      <p:sp>
        <p:nvSpPr>
          <p:cNvPr id="35" name="Text 33"/>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6</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Step 2 of 2: reading the result</a:t>
            </a:r>
            <a:endParaRPr lang="en-US" sz="3200" dirty="0"/>
          </a:p>
        </p:txBody>
      </p:sp>
      <p:sp>
        <p:nvSpPr>
          <p:cNvPr id="4" name="Text 2"/>
          <p:cNvSpPr/>
          <p:nvPr/>
        </p:nvSpPr>
        <p:spPr>
          <a:xfrm>
            <a:off x="502920" y="1207008"/>
            <a:ext cx="11155680" cy="32004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Six cards appear across the top, and one chart below them.</a:t>
            </a:r>
            <a:endParaRPr lang="en-US" sz="1300" dirty="0"/>
          </a:p>
        </p:txBody>
      </p:sp>
      <p:sp>
        <p:nvSpPr>
          <p:cNvPr id="5" name="Shape 3"/>
          <p:cNvSpPr/>
          <p:nvPr/>
        </p:nvSpPr>
        <p:spPr>
          <a:xfrm>
            <a:off x="502920" y="1664208"/>
            <a:ext cx="3617976" cy="1417320"/>
          </a:xfrm>
          <a:prstGeom prst="roundRect">
            <a:avLst>
              <a:gd name="adj" fmla="val 3871"/>
            </a:avLst>
          </a:prstGeom>
          <a:solidFill>
            <a:srgbClr val="F1F6F4"/>
          </a:solidFill>
          <a:ln w="12700">
            <a:solidFill>
              <a:srgbClr val="D8E3E0"/>
            </a:solidFill>
            <a:prstDash val="solid"/>
          </a:ln>
        </p:spPr>
        <p:txBody>
          <a:bodyPr/>
          <a:p/>
        </p:txBody>
      </p:sp>
      <p:sp>
        <p:nvSpPr>
          <p:cNvPr id="6" name="Text 4"/>
          <p:cNvSpPr/>
          <p:nvPr/>
        </p:nvSpPr>
        <p:spPr>
          <a:xfrm>
            <a:off x="649224" y="1792224"/>
            <a:ext cx="3325368" cy="256032"/>
          </a:xfrm>
          <a:prstGeom prst="rect">
            <a:avLst/>
          </a:prstGeom>
          <a:noFill/>
          <a:ln/>
        </p:spPr>
        <p:txBody>
          <a:bodyPr wrap="square" lIns="0" tIns="0" rIns="0" bIns="0" rtlCol="0" anchor="ctr"/>
          <a:lstStyle/>
          <a:p>
            <a:pPr indent="0" marL="0">
              <a:buNone/>
            </a:pPr>
            <a:r>
              <a:rPr lang="en-US" sz="1100" b="1" dirty="0">
                <a:solidFill>
                  <a:srgbClr val="1A7A6E"/>
                </a:solidFill>
                <a:latin typeface="Calibri" pitchFamily="34" charset="0"/>
                <a:ea typeface="Calibri" pitchFamily="34" charset="-122"/>
                <a:cs typeface="Calibri" pitchFamily="34" charset="-120"/>
              </a:rPr>
              <a:t>Yearly figures</a:t>
            </a:r>
            <a:endParaRPr lang="en-US" sz="1100" dirty="0"/>
          </a:p>
        </p:txBody>
      </p:sp>
      <p:sp>
        <p:nvSpPr>
          <p:cNvPr id="7" name="Text 5"/>
          <p:cNvSpPr/>
          <p:nvPr/>
        </p:nvSpPr>
        <p:spPr>
          <a:xfrm>
            <a:off x="649224" y="2066544"/>
            <a:ext cx="3325368" cy="88696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How much carbon dioxide each vehicle produces in a year, and the difference between them, in tonnes.</a:t>
            </a:r>
            <a:endParaRPr lang="en-US" sz="1050" dirty="0"/>
          </a:p>
        </p:txBody>
      </p:sp>
      <p:sp>
        <p:nvSpPr>
          <p:cNvPr id="8" name="Shape 6"/>
          <p:cNvSpPr/>
          <p:nvPr/>
        </p:nvSpPr>
        <p:spPr>
          <a:xfrm>
            <a:off x="4285488" y="1664208"/>
            <a:ext cx="3617976" cy="1417320"/>
          </a:xfrm>
          <a:prstGeom prst="roundRect">
            <a:avLst>
              <a:gd name="adj" fmla="val 3871"/>
            </a:avLst>
          </a:prstGeom>
          <a:solidFill>
            <a:srgbClr val="F1F6F4"/>
          </a:solidFill>
          <a:ln w="12700">
            <a:solidFill>
              <a:srgbClr val="D8E3E0"/>
            </a:solidFill>
            <a:prstDash val="solid"/>
          </a:ln>
        </p:spPr>
        <p:txBody>
          <a:bodyPr/>
          <a:p/>
        </p:txBody>
      </p:sp>
      <p:sp>
        <p:nvSpPr>
          <p:cNvPr id="9" name="Text 7"/>
          <p:cNvSpPr/>
          <p:nvPr/>
        </p:nvSpPr>
        <p:spPr>
          <a:xfrm>
            <a:off x="4431792" y="1792224"/>
            <a:ext cx="3325368" cy="256032"/>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Lifetime figures</a:t>
            </a:r>
            <a:endParaRPr lang="en-US" sz="1100" dirty="0"/>
          </a:p>
        </p:txBody>
      </p:sp>
      <p:sp>
        <p:nvSpPr>
          <p:cNvPr id="10" name="Text 8"/>
          <p:cNvSpPr/>
          <p:nvPr/>
        </p:nvSpPr>
        <p:spPr>
          <a:xfrm>
            <a:off x="4431792" y="2066544"/>
            <a:ext cx="3325368" cy="88696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The same over your whole ownership period. The electric figure also includes building its battery.</a:t>
            </a:r>
            <a:endParaRPr lang="en-US" sz="1050" dirty="0"/>
          </a:p>
        </p:txBody>
      </p:sp>
      <p:sp>
        <p:nvSpPr>
          <p:cNvPr id="11" name="Shape 9"/>
          <p:cNvSpPr/>
          <p:nvPr/>
        </p:nvSpPr>
        <p:spPr>
          <a:xfrm>
            <a:off x="8068056" y="1664208"/>
            <a:ext cx="3617976" cy="1417320"/>
          </a:xfrm>
          <a:prstGeom prst="roundRect">
            <a:avLst>
              <a:gd name="adj" fmla="val 3871"/>
            </a:avLst>
          </a:prstGeom>
          <a:solidFill>
            <a:srgbClr val="F1F6F4"/>
          </a:solidFill>
          <a:ln w="12700">
            <a:solidFill>
              <a:srgbClr val="D8E3E0"/>
            </a:solidFill>
            <a:prstDash val="solid"/>
          </a:ln>
        </p:spPr>
        <p:txBody>
          <a:bodyPr/>
          <a:p/>
        </p:txBody>
      </p:sp>
      <p:sp>
        <p:nvSpPr>
          <p:cNvPr id="12" name="Text 10"/>
          <p:cNvSpPr/>
          <p:nvPr/>
        </p:nvSpPr>
        <p:spPr>
          <a:xfrm>
            <a:off x="8214360" y="1792224"/>
            <a:ext cx="3325368"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Carbon payback</a:t>
            </a:r>
            <a:endParaRPr lang="en-US" sz="1100" dirty="0"/>
          </a:p>
        </p:txBody>
      </p:sp>
      <p:sp>
        <p:nvSpPr>
          <p:cNvPr id="13" name="Text 11"/>
          <p:cNvSpPr/>
          <p:nvPr/>
        </p:nvSpPr>
        <p:spPr>
          <a:xfrm>
            <a:off x="8214360" y="2066544"/>
            <a:ext cx="3325368" cy="88696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The single most useful number here. How long the electric car must be driven before it has made up for the emissions of building its battery.</a:t>
            </a:r>
            <a:endParaRPr lang="en-US" sz="1050" dirty="0"/>
          </a:p>
        </p:txBody>
      </p:sp>
      <p:sp>
        <p:nvSpPr>
          <p:cNvPr id="14" name="Text 12"/>
          <p:cNvSpPr/>
          <p:nvPr/>
        </p:nvSpPr>
        <p:spPr>
          <a:xfrm>
            <a:off x="502920" y="3310128"/>
            <a:ext cx="7315200" cy="365760"/>
          </a:xfrm>
          <a:prstGeom prst="rect">
            <a:avLst/>
          </a:prstGeom>
          <a:noFill/>
          <a:ln/>
        </p:spPr>
        <p:txBody>
          <a:bodyPr wrap="square" lIns="0" tIns="0" rIns="0" bIns="0" rtlCol="0" anchor="ctr"/>
          <a:lstStyle/>
          <a:p>
            <a:pPr indent="0" marL="0">
              <a:buNone/>
            </a:pPr>
            <a:r>
              <a:rPr lang="en-US" sz="1900" b="1" dirty="0">
                <a:solidFill>
                  <a:srgbClr val="0E2A24"/>
                </a:solidFill>
                <a:latin typeface="Cambria" pitchFamily="34" charset="0"/>
                <a:ea typeface="Cambria" pitchFamily="34" charset="-122"/>
                <a:cs typeface="Cambria" pitchFamily="34" charset="-120"/>
              </a:rPr>
              <a:t>Understanding the chart</a:t>
            </a:r>
            <a:endParaRPr lang="en-US" sz="1900" dirty="0"/>
          </a:p>
        </p:txBody>
      </p:sp>
      <p:sp>
        <p:nvSpPr>
          <p:cNvPr id="15" name="Text 13"/>
          <p:cNvSpPr/>
          <p:nvPr/>
        </p:nvSpPr>
        <p:spPr>
          <a:xfrm>
            <a:off x="502920" y="3730752"/>
            <a:ext cx="5577840" cy="1737360"/>
          </a:xfrm>
          <a:prstGeom prst="rect">
            <a:avLst/>
          </a:prstGeom>
          <a:noFill/>
          <a:ln/>
        </p:spPr>
        <p:txBody>
          <a:bodyPr wrap="square" lIns="0" tIns="0" rIns="0" bIns="0" rtlCol="0" anchor="t"/>
          <a:lstStyle/>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The green electric line does not start at zero. It starts partway up, because making the battery produced emissions before the car was ever driven.</a:t>
            </a:r>
            <a:endParaRPr lang="en-US" sz="1250" dirty="0"/>
          </a:p>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The orange petrol line starts at zero but climbs faster, because it emits every kilometre.</a:t>
            </a:r>
            <a:endParaRPr lang="en-US" sz="1250" dirty="0"/>
          </a:p>
          <a:p>
            <a:pPr marL="342900" indent="-342900">
              <a:spcAft>
                <a:spcPts val="700"/>
              </a:spcAft>
              <a:buSzPct val="100000"/>
              <a:buChar char="•"/>
            </a:pPr>
            <a:r>
              <a:rPr lang="en-US" sz="1250" dirty="0">
                <a:solidFill>
                  <a:srgbClr val="6B7A77"/>
                </a:solidFill>
                <a:latin typeface="Calibri" pitchFamily="34" charset="0"/>
                <a:ea typeface="Calibri" pitchFamily="34" charset="-122"/>
                <a:cs typeface="Calibri" pitchFamily="34" charset="-120"/>
              </a:rPr>
              <a:t>Where the lines cross is the carbon payback point. After it, the electric car is ahead on emissions.</a:t>
            </a:r>
            <a:endParaRPr lang="en-US" sz="1250" dirty="0"/>
          </a:p>
        </p:txBody>
      </p:sp>
      <p:sp>
        <p:nvSpPr>
          <p:cNvPr id="16" name="Shape 14"/>
          <p:cNvSpPr/>
          <p:nvPr/>
        </p:nvSpPr>
        <p:spPr>
          <a:xfrm>
            <a:off x="6355080" y="3291840"/>
            <a:ext cx="5330952" cy="2404872"/>
          </a:xfrm>
          <a:prstGeom prst="roundRect">
            <a:avLst>
              <a:gd name="adj" fmla="val 2281"/>
            </a:avLst>
          </a:prstGeom>
          <a:solidFill>
            <a:srgbClr val="FBFDFC"/>
          </a:solidFill>
          <a:ln w="19050">
            <a:solidFill>
              <a:srgbClr val="1A9E75"/>
            </a:solidFill>
            <a:prstDash val="dash"/>
          </a:ln>
        </p:spPr>
        <p:txBody>
          <a:bodyPr/>
          <a:p/>
        </p:txBody>
      </p:sp>
      <p:sp>
        <p:nvSpPr>
          <p:cNvPr id="17" name="Shape 15"/>
          <p:cNvSpPr/>
          <p:nvPr/>
        </p:nvSpPr>
        <p:spPr>
          <a:xfrm>
            <a:off x="6556248" y="347472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18" name="Text 16"/>
          <p:cNvSpPr/>
          <p:nvPr/>
        </p:nvSpPr>
        <p:spPr>
          <a:xfrm>
            <a:off x="6556248" y="347472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19" name="Text 17"/>
          <p:cNvSpPr/>
          <p:nvPr/>
        </p:nvSpPr>
        <p:spPr>
          <a:xfrm>
            <a:off x="6556248" y="385876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result cards and the cumulative emissions chart</a:t>
            </a:r>
            <a:endParaRPr lang="en-US" sz="1250" dirty="0"/>
          </a:p>
        </p:txBody>
      </p:sp>
      <p:sp>
        <p:nvSpPr>
          <p:cNvPr id="20" name="Text 18"/>
          <p:cNvSpPr/>
          <p:nvPr/>
        </p:nvSpPr>
        <p:spPr>
          <a:xfrm>
            <a:off x="6556248" y="448056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21" name="Text 19"/>
          <p:cNvSpPr/>
          <p:nvPr/>
        </p:nvSpPr>
        <p:spPr>
          <a:xfrm>
            <a:off x="6629400" y="4718304"/>
            <a:ext cx="4782312" cy="804672"/>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carbon payback card</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green line starting above zero</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point where the two lines cross</a:t>
            </a:r>
            <a:endParaRPr lang="en-US" sz="1050" dirty="0"/>
          </a:p>
        </p:txBody>
      </p:sp>
      <p:sp>
        <p:nvSpPr>
          <p:cNvPr id="22" name="Text 20"/>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6 - Emissions Impact Calculator</a:t>
            </a:r>
            <a:endParaRPr lang="en-US" sz="900" dirty="0"/>
          </a:p>
        </p:txBody>
      </p:sp>
      <p:sp>
        <p:nvSpPr>
          <p:cNvPr id="23" name="Text 21"/>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E2A24"/>
        </a:solidFill>
      </p:bgPr>
    </p:bg>
    <p:spTree>
      <p:nvGrpSpPr>
        <p:cNvPr id="1" name=""/>
        <p:cNvGrpSpPr/>
        <p:nvPr/>
      </p:nvGrpSpPr>
      <p:grpSpPr>
        <a:xfrm>
          <a:off x="0" y="0"/>
          <a:ext cx="0" cy="0"/>
          <a:chOff x="0" y="0"/>
          <a:chExt cx="0" cy="0"/>
        </a:xfrm>
      </p:grpSpPr>
      <p:sp>
        <p:nvSpPr>
          <p:cNvPr id="2" name="Shape 0"/>
          <p:cNvSpPr/>
          <p:nvPr/>
        </p:nvSpPr>
        <p:spPr>
          <a:xfrm>
            <a:off x="822960" y="2148840"/>
            <a:ext cx="1371600" cy="1371600"/>
          </a:xfrm>
          <a:prstGeom prst="roundRect">
            <a:avLst>
              <a:gd name="adj" fmla="val 6667"/>
            </a:avLst>
          </a:prstGeom>
          <a:solidFill>
            <a:srgbClr val="1A9E75"/>
          </a:solidFill>
          <a:ln w="12700">
            <a:solidFill>
              <a:srgbClr val="1A9E75"/>
            </a:solidFill>
            <a:prstDash val="solid"/>
          </a:ln>
        </p:spPr>
        <p:txBody>
          <a:bodyPr/>
          <a:p/>
        </p:txBody>
      </p:sp>
      <p:sp>
        <p:nvSpPr>
          <p:cNvPr id="3" name="Text 1"/>
          <p:cNvSpPr/>
          <p:nvPr/>
        </p:nvSpPr>
        <p:spPr>
          <a:xfrm>
            <a:off x="822960" y="2148840"/>
            <a:ext cx="1371600" cy="1371600"/>
          </a:xfrm>
          <a:prstGeom prst="rect">
            <a:avLst/>
          </a:prstGeom>
          <a:noFill/>
          <a:ln/>
        </p:spPr>
        <p:txBody>
          <a:bodyPr wrap="square" lIns="0" tIns="0" rIns="0" bIns="0" rtlCol="0" anchor="ctr"/>
          <a:lstStyle/>
          <a:p>
            <a:pPr algn="ctr" indent="0" marL="0">
              <a:buNone/>
            </a:pPr>
            <a:r>
              <a:rPr lang="en-US" sz="6200" b="1" dirty="0">
                <a:solidFill>
                  <a:srgbClr val="0E2A24"/>
                </a:solidFill>
                <a:latin typeface="Cambria" pitchFamily="34" charset="0"/>
                <a:ea typeface="Cambria" pitchFamily="34" charset="-122"/>
                <a:cs typeface="Cambria" pitchFamily="34" charset="-120"/>
              </a:rPr>
              <a:t>7</a:t>
            </a:r>
            <a:endParaRPr lang="en-US" sz="6200" dirty="0"/>
          </a:p>
        </p:txBody>
      </p:sp>
      <p:sp>
        <p:nvSpPr>
          <p:cNvPr id="4" name="Text 2"/>
          <p:cNvSpPr/>
          <p:nvPr/>
        </p:nvSpPr>
        <p:spPr>
          <a:xfrm>
            <a:off x="2514600" y="2194560"/>
            <a:ext cx="8686800" cy="292608"/>
          </a:xfrm>
          <a:prstGeom prst="rect">
            <a:avLst/>
          </a:prstGeom>
          <a:noFill/>
          <a:ln/>
        </p:spPr>
        <p:txBody>
          <a:bodyPr wrap="square" lIns="0" tIns="0" rIns="0" bIns="0" rtlCol="0" anchor="ctr"/>
          <a:lstStyle/>
          <a:p>
            <a:pPr indent="0" marL="0">
              <a:buNone/>
            </a:pPr>
            <a:r>
              <a:rPr lang="en-US" sz="1200" b="1" spc="200" kern="0" dirty="0">
                <a:solidFill>
                  <a:srgbClr val="1A9E75"/>
                </a:solidFill>
                <a:latin typeface="Calibri" pitchFamily="34" charset="0"/>
                <a:ea typeface="Calibri" pitchFamily="34" charset="-122"/>
                <a:cs typeface="Calibri" pitchFamily="34" charset="-120"/>
              </a:rPr>
              <a:t>MODULE 7</a:t>
            </a:r>
            <a:endParaRPr lang="en-US" sz="1200" dirty="0"/>
          </a:p>
        </p:txBody>
      </p:sp>
      <p:sp>
        <p:nvSpPr>
          <p:cNvPr id="5" name="Text 3"/>
          <p:cNvSpPr/>
          <p:nvPr/>
        </p:nvSpPr>
        <p:spPr>
          <a:xfrm>
            <a:off x="2514600" y="2487168"/>
            <a:ext cx="905256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Gas &amp; Energy Price Tracker</a:t>
            </a:r>
            <a:endParaRPr lang="en-US" sz="3400" dirty="0"/>
          </a:p>
        </p:txBody>
      </p:sp>
      <p:sp>
        <p:nvSpPr>
          <p:cNvPr id="6" name="Text 4"/>
          <p:cNvSpPr/>
          <p:nvPr/>
        </p:nvSpPr>
        <p:spPr>
          <a:xfrm>
            <a:off x="2514600" y="3154680"/>
            <a:ext cx="8778240" cy="457200"/>
          </a:xfrm>
          <a:prstGeom prst="rect">
            <a:avLst/>
          </a:prstGeom>
          <a:noFill/>
          <a:ln/>
        </p:spPr>
        <p:txBody>
          <a:bodyPr wrap="square" lIns="0" tIns="0" rIns="0" bIns="0" rtlCol="0" anchor="ctr"/>
          <a:lstStyle/>
          <a:p>
            <a:pPr indent="0" marL="0">
              <a:buNone/>
            </a:pPr>
            <a:r>
              <a:rPr lang="en-US" sz="1400" dirty="0">
                <a:solidFill>
                  <a:srgbClr val="B9CFC9"/>
                </a:solidFill>
                <a:latin typeface="Calibri" pitchFamily="34" charset="0"/>
                <a:ea typeface="Calibri" pitchFamily="34" charset="-122"/>
                <a:cs typeface="Calibri" pitchFamily="34" charset="-120"/>
              </a:rPr>
              <a:t>Jamaican fuel prices from 2015 to today, with your own price marked on the same scale.</a:t>
            </a:r>
            <a:endParaRPr lang="en-US" sz="1400" dirty="0"/>
          </a:p>
        </p:txBody>
      </p:sp>
      <p:sp>
        <p:nvSpPr>
          <p:cNvPr id="7" name="Text 5"/>
          <p:cNvSpPr/>
          <p:nvPr/>
        </p:nvSpPr>
        <p:spPr>
          <a:xfrm>
            <a:off x="2542032" y="3794760"/>
            <a:ext cx="8686800" cy="365760"/>
          </a:xfrm>
          <a:prstGeom prst="rect">
            <a:avLst/>
          </a:prstGeom>
          <a:noFill/>
          <a:ln/>
        </p:spPr>
        <p:txBody>
          <a:bodyPr wrap="square" lIns="0" tIns="0" rIns="0" bIns="0" rtlCol="0" anchor="ctr"/>
          <a:lstStyle/>
          <a:p>
            <a:pPr indent="0" marL="0">
              <a:buNone/>
            </a:pPr>
            <a:r>
              <a:rPr lang="en-US" sz="1200" i="1" dirty="0">
                <a:solidFill>
                  <a:srgbClr val="8FB3AB"/>
                </a:solidFill>
                <a:latin typeface="Calibri" pitchFamily="34" charset="0"/>
                <a:ea typeface="Calibri" pitchFamily="34" charset="-122"/>
                <a:cs typeface="Calibri" pitchFamily="34" charset="-120"/>
              </a:rPr>
              <a:t>What it answers:  How unusual is what I am paying now, historically?</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MODULE 7</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Reading the price tracker</a:t>
            </a:r>
            <a:endParaRPr lang="en-US" sz="3200" dirty="0"/>
          </a:p>
        </p:txBody>
      </p:sp>
      <p:sp>
        <p:nvSpPr>
          <p:cNvPr id="4" name="Text 2"/>
          <p:cNvSpPr/>
          <p:nvPr/>
        </p:nvSpPr>
        <p:spPr>
          <a:xfrm>
            <a:off x="502920" y="1207008"/>
            <a:ext cx="11155680" cy="365760"/>
          </a:xfrm>
          <a:prstGeom prst="rect">
            <a:avLst/>
          </a:prstGeom>
          <a:noFill/>
          <a:ln/>
        </p:spPr>
        <p:txBody>
          <a:bodyPr wrap="square" lIns="0" tIns="0" rIns="0" bIns="0" rtlCol="0" anchor="ctr"/>
          <a:lstStyle/>
          <a:p>
            <a:pPr indent="0" marL="0">
              <a:buNone/>
            </a:pPr>
            <a:r>
              <a:rPr lang="en-US" sz="1300" dirty="0">
                <a:solidFill>
                  <a:srgbClr val="6B7A77"/>
                </a:solidFill>
                <a:latin typeface="Calibri" pitchFamily="34" charset="0"/>
                <a:ea typeface="Calibri" pitchFamily="34" charset="-122"/>
                <a:cs typeface="Calibri" pitchFamily="34" charset="-120"/>
              </a:rPr>
              <a:t>There are no controls on this page. It draws itself from whatever you entered in Global settings, so set that first.</a:t>
            </a:r>
            <a:endParaRPr lang="en-US" sz="1300" dirty="0"/>
          </a:p>
        </p:txBody>
      </p:sp>
      <p:sp>
        <p:nvSpPr>
          <p:cNvPr id="5" name="Shape 3"/>
          <p:cNvSpPr/>
          <p:nvPr/>
        </p:nvSpPr>
        <p:spPr>
          <a:xfrm>
            <a:off x="502920" y="1719072"/>
            <a:ext cx="292608" cy="292608"/>
          </a:xfrm>
          <a:prstGeom prst="ellipse">
            <a:avLst/>
          </a:prstGeom>
          <a:solidFill>
            <a:srgbClr val="1A7A6E"/>
          </a:solidFill>
          <a:ln w="12700">
            <a:solidFill>
              <a:srgbClr val="1A7A6E"/>
            </a:solidFill>
            <a:prstDash val="solid"/>
          </a:ln>
        </p:spPr>
        <p:txBody>
          <a:bodyPr/>
          <a:p/>
        </p:txBody>
      </p:sp>
      <p:sp>
        <p:nvSpPr>
          <p:cNvPr id="6" name="Text 4"/>
          <p:cNvSpPr/>
          <p:nvPr/>
        </p:nvSpPr>
        <p:spPr>
          <a:xfrm>
            <a:off x="502920" y="171907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Text 5"/>
          <p:cNvSpPr/>
          <p:nvPr/>
        </p:nvSpPr>
        <p:spPr>
          <a:xfrm>
            <a:off x="932688" y="169164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Set Global settings first</a:t>
            </a:r>
            <a:endParaRPr lang="en-US" sz="1300" dirty="0"/>
          </a:p>
        </p:txBody>
      </p:sp>
      <p:sp>
        <p:nvSpPr>
          <p:cNvPr id="8" name="Text 6"/>
          <p:cNvSpPr/>
          <p:nvPr/>
        </p:nvSpPr>
        <p:spPr>
          <a:xfrm>
            <a:off x="932688" y="1920240"/>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Your fuel grade and station markup decide what this page shows.</a:t>
            </a:r>
            <a:endParaRPr lang="en-US" sz="1150" dirty="0"/>
          </a:p>
        </p:txBody>
      </p:sp>
      <p:sp>
        <p:nvSpPr>
          <p:cNvPr id="9" name="Shape 7"/>
          <p:cNvSpPr/>
          <p:nvPr/>
        </p:nvSpPr>
        <p:spPr>
          <a:xfrm>
            <a:off x="502920" y="2496312"/>
            <a:ext cx="292608" cy="292608"/>
          </a:xfrm>
          <a:prstGeom prst="ellipse">
            <a:avLst/>
          </a:prstGeom>
          <a:solidFill>
            <a:srgbClr val="1A7A6E"/>
          </a:solidFill>
          <a:ln w="12700">
            <a:solidFill>
              <a:srgbClr val="1A7A6E"/>
            </a:solidFill>
            <a:prstDash val="solid"/>
          </a:ln>
        </p:spPr>
        <p:txBody>
          <a:bodyPr/>
          <a:p/>
        </p:txBody>
      </p:sp>
      <p:sp>
        <p:nvSpPr>
          <p:cNvPr id="10" name="Text 8"/>
          <p:cNvSpPr/>
          <p:nvPr/>
        </p:nvSpPr>
        <p:spPr>
          <a:xfrm>
            <a:off x="502920" y="2496312"/>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1" name="Text 9"/>
          <p:cNvSpPr/>
          <p:nvPr/>
        </p:nvSpPr>
        <p:spPr>
          <a:xfrm>
            <a:off x="932688" y="2468880"/>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Open the page</a:t>
            </a:r>
            <a:endParaRPr lang="en-US" sz="1300" dirty="0"/>
          </a:p>
        </p:txBody>
      </p:sp>
      <p:sp>
        <p:nvSpPr>
          <p:cNvPr id="12" name="Text 10"/>
          <p:cNvSpPr/>
          <p:nvPr/>
        </p:nvSpPr>
        <p:spPr>
          <a:xfrm>
            <a:off x="932688" y="2697480"/>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Click '7. Gas &amp; Energy Price Tracker' in the sidebar.</a:t>
            </a:r>
            <a:endParaRPr lang="en-US" sz="1150" dirty="0"/>
          </a:p>
        </p:txBody>
      </p:sp>
      <p:sp>
        <p:nvSpPr>
          <p:cNvPr id="13" name="Shape 11"/>
          <p:cNvSpPr/>
          <p:nvPr/>
        </p:nvSpPr>
        <p:spPr>
          <a:xfrm>
            <a:off x="502920" y="3104388"/>
            <a:ext cx="292608" cy="292608"/>
          </a:xfrm>
          <a:prstGeom prst="ellipse">
            <a:avLst/>
          </a:prstGeom>
          <a:solidFill>
            <a:srgbClr val="1A7A6E"/>
          </a:solidFill>
          <a:ln w="12700">
            <a:solidFill>
              <a:srgbClr val="1A7A6E"/>
            </a:solidFill>
            <a:prstDash val="solid"/>
          </a:ln>
        </p:spPr>
        <p:txBody>
          <a:bodyPr/>
          <a:p/>
        </p:txBody>
      </p:sp>
      <p:sp>
        <p:nvSpPr>
          <p:cNvPr id="14" name="Text 12"/>
          <p:cNvSpPr/>
          <p:nvPr/>
        </p:nvSpPr>
        <p:spPr>
          <a:xfrm>
            <a:off x="502920" y="310438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5" name="Text 13"/>
          <p:cNvSpPr/>
          <p:nvPr/>
        </p:nvSpPr>
        <p:spPr>
          <a:xfrm>
            <a:off x="932688" y="307695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Read the main line</a:t>
            </a:r>
            <a:endParaRPr lang="en-US" sz="1300" dirty="0"/>
          </a:p>
        </p:txBody>
      </p:sp>
      <p:sp>
        <p:nvSpPr>
          <p:cNvPr id="16" name="Text 14"/>
          <p:cNvSpPr/>
          <p:nvPr/>
        </p:nvSpPr>
        <p:spPr>
          <a:xfrm>
            <a:off x="932688" y="3305556"/>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 weekly Petrojam price from 2015 to the present. This is the wholesale reference, not the pump price.</a:t>
            </a:r>
            <a:endParaRPr lang="en-US" sz="1150" dirty="0"/>
          </a:p>
        </p:txBody>
      </p:sp>
      <p:sp>
        <p:nvSpPr>
          <p:cNvPr id="17" name="Shape 15"/>
          <p:cNvSpPr/>
          <p:nvPr/>
        </p:nvSpPr>
        <p:spPr>
          <a:xfrm>
            <a:off x="502920" y="3881628"/>
            <a:ext cx="292608" cy="292608"/>
          </a:xfrm>
          <a:prstGeom prst="ellipse">
            <a:avLst/>
          </a:prstGeom>
          <a:solidFill>
            <a:srgbClr val="1A7A6E"/>
          </a:solidFill>
          <a:ln w="12700">
            <a:solidFill>
              <a:srgbClr val="1A7A6E"/>
            </a:solidFill>
            <a:prstDash val="solid"/>
          </a:ln>
        </p:spPr>
        <p:txBody>
          <a:bodyPr/>
          <a:p/>
        </p:txBody>
      </p:sp>
      <p:sp>
        <p:nvSpPr>
          <p:cNvPr id="18" name="Text 16"/>
          <p:cNvSpPr/>
          <p:nvPr/>
        </p:nvSpPr>
        <p:spPr>
          <a:xfrm>
            <a:off x="502920" y="388162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19" name="Text 17"/>
          <p:cNvSpPr/>
          <p:nvPr/>
        </p:nvSpPr>
        <p:spPr>
          <a:xfrm>
            <a:off x="932688" y="385419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Find the dashed line</a:t>
            </a:r>
            <a:endParaRPr lang="en-US" sz="1300" dirty="0"/>
          </a:p>
        </p:txBody>
      </p:sp>
      <p:sp>
        <p:nvSpPr>
          <p:cNvPr id="20" name="Text 18"/>
          <p:cNvSpPr/>
          <p:nvPr/>
        </p:nvSpPr>
        <p:spPr>
          <a:xfrm>
            <a:off x="932688" y="4082796"/>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This is your own effective price, from Global settings, drawn across the whole chart.</a:t>
            </a:r>
            <a:endParaRPr lang="en-US" sz="1150" dirty="0"/>
          </a:p>
        </p:txBody>
      </p:sp>
      <p:sp>
        <p:nvSpPr>
          <p:cNvPr id="21" name="Shape 19"/>
          <p:cNvSpPr/>
          <p:nvPr/>
        </p:nvSpPr>
        <p:spPr>
          <a:xfrm>
            <a:off x="502920" y="4658868"/>
            <a:ext cx="292608" cy="292608"/>
          </a:xfrm>
          <a:prstGeom prst="ellipse">
            <a:avLst/>
          </a:prstGeom>
          <a:solidFill>
            <a:srgbClr val="1A7A6E"/>
          </a:solidFill>
          <a:ln w="12700">
            <a:solidFill>
              <a:srgbClr val="1A7A6E"/>
            </a:solidFill>
            <a:prstDash val="solid"/>
          </a:ln>
        </p:spPr>
        <p:txBody>
          <a:bodyPr/>
          <a:p/>
        </p:txBody>
      </p:sp>
      <p:sp>
        <p:nvSpPr>
          <p:cNvPr id="22" name="Text 20"/>
          <p:cNvSpPr/>
          <p:nvPr/>
        </p:nvSpPr>
        <p:spPr>
          <a:xfrm>
            <a:off x="502920" y="465886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3" name="Text 21"/>
          <p:cNvSpPr/>
          <p:nvPr/>
        </p:nvSpPr>
        <p:spPr>
          <a:xfrm>
            <a:off x="932688" y="463143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Compare the two</a:t>
            </a:r>
            <a:endParaRPr lang="en-US" sz="1300" dirty="0"/>
          </a:p>
        </p:txBody>
      </p:sp>
      <p:sp>
        <p:nvSpPr>
          <p:cNvPr id="24" name="Text 22"/>
          <p:cNvSpPr/>
          <p:nvPr/>
        </p:nvSpPr>
        <p:spPr>
          <a:xfrm>
            <a:off x="932688" y="4860036"/>
            <a:ext cx="5056632" cy="521208"/>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The gap between them shows what the retail markup adds to the wholesale price.</a:t>
            </a:r>
            <a:endParaRPr lang="en-US" sz="1150" dirty="0"/>
          </a:p>
        </p:txBody>
      </p:sp>
      <p:sp>
        <p:nvSpPr>
          <p:cNvPr id="25" name="Shape 23"/>
          <p:cNvSpPr/>
          <p:nvPr/>
        </p:nvSpPr>
        <p:spPr>
          <a:xfrm>
            <a:off x="502920" y="5436108"/>
            <a:ext cx="292608" cy="292608"/>
          </a:xfrm>
          <a:prstGeom prst="ellipse">
            <a:avLst/>
          </a:prstGeom>
          <a:solidFill>
            <a:srgbClr val="1A7A6E"/>
          </a:solidFill>
          <a:ln w="12700">
            <a:solidFill>
              <a:srgbClr val="1A7A6E"/>
            </a:solidFill>
            <a:prstDash val="solid"/>
          </a:ln>
        </p:spPr>
        <p:txBody>
          <a:bodyPr/>
          <a:p/>
        </p:txBody>
      </p:sp>
      <p:sp>
        <p:nvSpPr>
          <p:cNvPr id="26" name="Text 24"/>
          <p:cNvSpPr/>
          <p:nvPr/>
        </p:nvSpPr>
        <p:spPr>
          <a:xfrm>
            <a:off x="502920" y="5436108"/>
            <a:ext cx="292608" cy="29260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27" name="Text 25"/>
          <p:cNvSpPr/>
          <p:nvPr/>
        </p:nvSpPr>
        <p:spPr>
          <a:xfrm>
            <a:off x="932688" y="5408676"/>
            <a:ext cx="5056632" cy="228600"/>
          </a:xfrm>
          <a:prstGeom prst="rect">
            <a:avLst/>
          </a:prstGeom>
          <a:noFill/>
          <a:ln/>
        </p:spPr>
        <p:txBody>
          <a:bodyPr wrap="square" lIns="0" tIns="0" rIns="0" bIns="0" rtlCol="0" anchor="ctr"/>
          <a:lstStyle/>
          <a:p>
            <a:pPr indent="0" marL="0">
              <a:buNone/>
            </a:pPr>
            <a:r>
              <a:rPr lang="en-US" sz="1300" b="1" dirty="0">
                <a:solidFill>
                  <a:srgbClr val="0E2A24"/>
                </a:solidFill>
                <a:latin typeface="Calibri" pitchFamily="34" charset="0"/>
                <a:ea typeface="Calibri" pitchFamily="34" charset="-122"/>
                <a:cs typeface="Calibri" pitchFamily="34" charset="-120"/>
              </a:rPr>
              <a:t>Hover for exact values</a:t>
            </a:r>
            <a:endParaRPr lang="en-US" sz="1300" dirty="0"/>
          </a:p>
        </p:txBody>
      </p:sp>
      <p:sp>
        <p:nvSpPr>
          <p:cNvPr id="28" name="Text 26"/>
          <p:cNvSpPr/>
          <p:nvPr/>
        </p:nvSpPr>
        <p:spPr>
          <a:xfrm>
            <a:off x="932688" y="5637276"/>
            <a:ext cx="5056632" cy="352044"/>
          </a:xfrm>
          <a:prstGeom prst="rect">
            <a:avLst/>
          </a:prstGeom>
          <a:noFill/>
          <a:ln/>
        </p:spPr>
        <p:txBody>
          <a:bodyPr wrap="square" lIns="0" tIns="0" rIns="0" bIns="0" rtlCol="0" anchor="t"/>
          <a:lstStyle/>
          <a:p>
            <a:pPr indent="0" marL="0">
              <a:buNone/>
            </a:pPr>
            <a:r>
              <a:rPr lang="en-US" sz="1150" dirty="0">
                <a:solidFill>
                  <a:srgbClr val="6B7A77"/>
                </a:solidFill>
                <a:latin typeface="Calibri" pitchFamily="34" charset="0"/>
                <a:ea typeface="Calibri" pitchFamily="34" charset="-122"/>
                <a:cs typeface="Calibri" pitchFamily="34" charset="-120"/>
              </a:rPr>
              <a:t>Move the pointer along the line to read the price at any date.</a:t>
            </a:r>
            <a:endParaRPr lang="en-US" sz="1150" dirty="0"/>
          </a:p>
        </p:txBody>
      </p:sp>
      <p:sp>
        <p:nvSpPr>
          <p:cNvPr id="29" name="Shape 27"/>
          <p:cNvSpPr/>
          <p:nvPr/>
        </p:nvSpPr>
        <p:spPr>
          <a:xfrm>
            <a:off x="6355080" y="1691640"/>
            <a:ext cx="5330952" cy="3749040"/>
          </a:xfrm>
          <a:prstGeom prst="roundRect">
            <a:avLst>
              <a:gd name="adj" fmla="val 1463"/>
            </a:avLst>
          </a:prstGeom>
          <a:solidFill>
            <a:srgbClr val="FBFDFC"/>
          </a:solidFill>
          <a:ln w="19050">
            <a:solidFill>
              <a:srgbClr val="1A9E75"/>
            </a:solidFill>
            <a:prstDash val="dash"/>
          </a:ln>
        </p:spPr>
        <p:txBody>
          <a:bodyPr/>
          <a:p/>
        </p:txBody>
      </p:sp>
      <p:sp>
        <p:nvSpPr>
          <p:cNvPr id="30" name="Shape 28"/>
          <p:cNvSpPr/>
          <p:nvPr/>
        </p:nvSpPr>
        <p:spPr>
          <a:xfrm>
            <a:off x="6556248" y="1874520"/>
            <a:ext cx="1417320" cy="274320"/>
          </a:xfrm>
          <a:prstGeom prst="roundRect">
            <a:avLst>
              <a:gd name="adj" fmla="val 16667"/>
            </a:avLst>
          </a:prstGeom>
          <a:solidFill>
            <a:srgbClr val="1A9E75"/>
          </a:solidFill>
          <a:ln w="12700">
            <a:solidFill>
              <a:srgbClr val="1A9E75"/>
            </a:solidFill>
            <a:prstDash val="solid"/>
          </a:ln>
        </p:spPr>
        <p:txBody>
          <a:bodyPr/>
          <a:p/>
        </p:txBody>
      </p:sp>
      <p:sp>
        <p:nvSpPr>
          <p:cNvPr id="31" name="Text 29"/>
          <p:cNvSpPr/>
          <p:nvPr/>
        </p:nvSpPr>
        <p:spPr>
          <a:xfrm>
            <a:off x="6556248" y="1874520"/>
            <a:ext cx="141732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SCREENSHOT</a:t>
            </a:r>
            <a:endParaRPr lang="en-US" sz="950" dirty="0"/>
          </a:p>
        </p:txBody>
      </p:sp>
      <p:sp>
        <p:nvSpPr>
          <p:cNvPr id="32" name="Text 30"/>
          <p:cNvSpPr/>
          <p:nvPr/>
        </p:nvSpPr>
        <p:spPr>
          <a:xfrm>
            <a:off x="6556248" y="2258568"/>
            <a:ext cx="4928616" cy="566928"/>
          </a:xfrm>
          <a:prstGeom prst="rect">
            <a:avLst/>
          </a:prstGeom>
          <a:noFill/>
          <a:ln/>
        </p:spPr>
        <p:txBody>
          <a:bodyPr wrap="square" lIns="0" tIns="0" rIns="0" bIns="0" rtlCol="0" anchor="t"/>
          <a:lstStyle/>
          <a:p>
            <a:pPr indent="0" marL="0">
              <a:buNone/>
            </a:pPr>
            <a:r>
              <a:rPr lang="en-US" sz="1250" b="1" dirty="0">
                <a:solidFill>
                  <a:srgbClr val="0E2A24"/>
                </a:solidFill>
                <a:latin typeface="Calibri" pitchFamily="34" charset="0"/>
                <a:ea typeface="Calibri" pitchFamily="34" charset="-122"/>
                <a:cs typeface="Calibri" pitchFamily="34" charset="-120"/>
              </a:rPr>
              <a:t>The full price chart, 2015 to present</a:t>
            </a:r>
            <a:endParaRPr lang="en-US" sz="1250" dirty="0"/>
          </a:p>
        </p:txBody>
      </p:sp>
      <p:sp>
        <p:nvSpPr>
          <p:cNvPr id="33" name="Text 31"/>
          <p:cNvSpPr/>
          <p:nvPr/>
        </p:nvSpPr>
        <p:spPr>
          <a:xfrm>
            <a:off x="6556248" y="2880360"/>
            <a:ext cx="4928616" cy="219456"/>
          </a:xfrm>
          <a:prstGeom prst="rect">
            <a:avLst/>
          </a:prstGeom>
          <a:noFill/>
          <a:ln/>
        </p:spPr>
        <p:txBody>
          <a:bodyPr wrap="square" lIns="0" tIns="0" rIns="0" bIns="0" rtlCol="0" anchor="ctr"/>
          <a:lstStyle/>
          <a:p>
            <a:pPr indent="0" marL="0">
              <a:buNone/>
            </a:pPr>
            <a:r>
              <a:rPr lang="en-US" sz="950" b="1" spc="40" kern="0" dirty="0">
                <a:solidFill>
                  <a:srgbClr val="1A7A6E"/>
                </a:solidFill>
                <a:latin typeface="Calibri" pitchFamily="34" charset="0"/>
                <a:ea typeface="Calibri" pitchFamily="34" charset="-122"/>
                <a:cs typeface="Calibri" pitchFamily="34" charset="-120"/>
              </a:rPr>
              <a:t>Label these on the image:</a:t>
            </a:r>
            <a:endParaRPr lang="en-US" sz="950" dirty="0"/>
          </a:p>
        </p:txBody>
      </p:sp>
      <p:sp>
        <p:nvSpPr>
          <p:cNvPr id="34" name="Text 32"/>
          <p:cNvSpPr/>
          <p:nvPr/>
        </p:nvSpPr>
        <p:spPr>
          <a:xfrm>
            <a:off x="6629400" y="3118104"/>
            <a:ext cx="4782312" cy="214884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historic Petrojam price line</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The dashed reference line for your own price</a:t>
            </a:r>
            <a:endParaRPr lang="en-US" sz="1050" dirty="0"/>
          </a:p>
          <a:p>
            <a:pPr marL="342900" indent="-342900">
              <a:spcAft>
                <a:spcPts val="400"/>
              </a:spcAft>
              <a:buSzPct val="100000"/>
              <a:buChar char="•"/>
            </a:pPr>
            <a:r>
              <a:rPr lang="en-US" sz="1050" dirty="0">
                <a:solidFill>
                  <a:srgbClr val="6B7A77"/>
                </a:solidFill>
                <a:latin typeface="Calibri" pitchFamily="34" charset="0"/>
                <a:ea typeface="Calibri" pitchFamily="34" charset="-122"/>
                <a:cs typeface="Calibri" pitchFamily="34" charset="-120"/>
              </a:rPr>
              <a:t>A hover tooltip showing one date and price</a:t>
            </a:r>
            <a:endParaRPr lang="en-US" sz="1050" dirty="0"/>
          </a:p>
        </p:txBody>
      </p:sp>
      <p:sp>
        <p:nvSpPr>
          <p:cNvPr id="35" name="Text 33"/>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Module 7 - Gas &amp; Energy Price Tracker</a:t>
            </a:r>
            <a:endParaRPr lang="en-US" sz="900" dirty="0"/>
          </a:p>
        </p:txBody>
      </p:sp>
      <p:sp>
        <p:nvSpPr>
          <p:cNvPr id="36" name="Text 34"/>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384048"/>
            <a:ext cx="10058400" cy="256032"/>
          </a:xfrm>
          <a:prstGeom prst="rect">
            <a:avLst/>
          </a:prstGeom>
          <a:noFill/>
          <a:ln/>
        </p:spPr>
        <p:txBody>
          <a:bodyPr wrap="square" lIns="0" tIns="0" rIns="0" bIns="0" rtlCol="0" anchor="ctr"/>
          <a:lstStyle/>
          <a:p>
            <a:pPr indent="0" marL="0">
              <a:buNone/>
            </a:pPr>
            <a:r>
              <a:rPr lang="en-US" sz="1100" b="1" spc="160" kern="0" dirty="0">
                <a:solidFill>
                  <a:srgbClr val="1A9E75"/>
                </a:solidFill>
                <a:latin typeface="Calibri" pitchFamily="34" charset="0"/>
                <a:ea typeface="Calibri" pitchFamily="34" charset="-122"/>
                <a:cs typeface="Calibri" pitchFamily="34" charset="-120"/>
              </a:rPr>
              <a:t>REFERENCE</a:t>
            </a:r>
            <a:endParaRPr lang="en-US" sz="1100" dirty="0"/>
          </a:p>
        </p:txBody>
      </p:sp>
      <p:sp>
        <p:nvSpPr>
          <p:cNvPr id="3" name="Text 1"/>
          <p:cNvSpPr/>
          <p:nvPr/>
        </p:nvSpPr>
        <p:spPr>
          <a:xfrm>
            <a:off x="502920" y="658368"/>
            <a:ext cx="11155680" cy="685800"/>
          </a:xfrm>
          <a:prstGeom prst="rect">
            <a:avLst/>
          </a:prstGeom>
          <a:noFill/>
          <a:ln/>
        </p:spPr>
        <p:txBody>
          <a:bodyPr wrap="square" lIns="0" tIns="0" rIns="0" bIns="0" rtlCol="0" anchor="ctr"/>
          <a:lstStyle/>
          <a:p>
            <a:pPr indent="0" marL="0">
              <a:buNone/>
            </a:pPr>
            <a:r>
              <a:rPr lang="en-US" sz="3200" b="1" dirty="0">
                <a:solidFill>
                  <a:srgbClr val="0E2A24"/>
                </a:solidFill>
                <a:latin typeface="Cambria" pitchFamily="34" charset="0"/>
                <a:ea typeface="Cambria" pitchFamily="34" charset="-122"/>
                <a:cs typeface="Cambria" pitchFamily="34" charset="-120"/>
              </a:rPr>
              <a:t>Tips and common problems</a:t>
            </a:r>
            <a:endParaRPr lang="en-US" sz="3200" dirty="0"/>
          </a:p>
        </p:txBody>
      </p:sp>
      <p:sp>
        <p:nvSpPr>
          <p:cNvPr id="4" name="Shape 2"/>
          <p:cNvSpPr/>
          <p:nvPr/>
        </p:nvSpPr>
        <p:spPr>
          <a:xfrm>
            <a:off x="502920" y="1371600"/>
            <a:ext cx="3617976" cy="1508760"/>
          </a:xfrm>
          <a:prstGeom prst="roundRect">
            <a:avLst>
              <a:gd name="adj" fmla="val 3636"/>
            </a:avLst>
          </a:prstGeom>
          <a:solidFill>
            <a:srgbClr val="F1F6F4"/>
          </a:solidFill>
          <a:ln w="12700">
            <a:solidFill>
              <a:srgbClr val="D8E3E0"/>
            </a:solidFill>
            <a:prstDash val="solid"/>
          </a:ln>
        </p:spPr>
        <p:txBody>
          <a:bodyPr/>
          <a:p/>
        </p:txBody>
      </p:sp>
      <p:sp>
        <p:nvSpPr>
          <p:cNvPr id="5" name="Text 3"/>
          <p:cNvSpPr/>
          <p:nvPr/>
        </p:nvSpPr>
        <p:spPr>
          <a:xfrm>
            <a:off x="649224" y="1499616"/>
            <a:ext cx="3325368"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Nothing to submit</a:t>
            </a:r>
            <a:endParaRPr lang="en-US" sz="1100" dirty="0"/>
          </a:p>
        </p:txBody>
      </p:sp>
      <p:sp>
        <p:nvSpPr>
          <p:cNvPr id="6" name="Text 4"/>
          <p:cNvSpPr/>
          <p:nvPr/>
        </p:nvSpPr>
        <p:spPr>
          <a:xfrm>
            <a:off x="649224" y="1773936"/>
            <a:ext cx="3325368" cy="97840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There is no Save or Calculate button anywhere. Charts redraw as soon as you change a value, so just type and look.</a:t>
            </a:r>
            <a:endParaRPr lang="en-US" sz="1050" dirty="0"/>
          </a:p>
        </p:txBody>
      </p:sp>
      <p:sp>
        <p:nvSpPr>
          <p:cNvPr id="7" name="Shape 5"/>
          <p:cNvSpPr/>
          <p:nvPr/>
        </p:nvSpPr>
        <p:spPr>
          <a:xfrm>
            <a:off x="4285488" y="1371600"/>
            <a:ext cx="3617976" cy="1508760"/>
          </a:xfrm>
          <a:prstGeom prst="roundRect">
            <a:avLst>
              <a:gd name="adj" fmla="val 3636"/>
            </a:avLst>
          </a:prstGeom>
          <a:solidFill>
            <a:srgbClr val="F1F6F4"/>
          </a:solidFill>
          <a:ln w="12700">
            <a:solidFill>
              <a:srgbClr val="D8E3E0"/>
            </a:solidFill>
            <a:prstDash val="solid"/>
          </a:ln>
        </p:spPr>
        <p:txBody>
          <a:bodyPr/>
          <a:p/>
        </p:txBody>
      </p:sp>
      <p:sp>
        <p:nvSpPr>
          <p:cNvPr id="8" name="Text 6"/>
          <p:cNvSpPr/>
          <p:nvPr/>
        </p:nvSpPr>
        <p:spPr>
          <a:xfrm>
            <a:off x="4431792" y="1499616"/>
            <a:ext cx="3325368"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A box turns red</a:t>
            </a:r>
            <a:endParaRPr lang="en-US" sz="1100" dirty="0"/>
          </a:p>
        </p:txBody>
      </p:sp>
      <p:sp>
        <p:nvSpPr>
          <p:cNvPr id="9" name="Text 7"/>
          <p:cNvSpPr/>
          <p:nvPr/>
        </p:nvSpPr>
        <p:spPr>
          <a:xfrm>
            <a:off x="4431792" y="1773936"/>
            <a:ext cx="3325368" cy="97840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The value is outside the range the box accepts. Put it back inside the range shown next to the box.</a:t>
            </a:r>
            <a:endParaRPr lang="en-US" sz="1050" dirty="0"/>
          </a:p>
        </p:txBody>
      </p:sp>
      <p:sp>
        <p:nvSpPr>
          <p:cNvPr id="10" name="Shape 8"/>
          <p:cNvSpPr/>
          <p:nvPr/>
        </p:nvSpPr>
        <p:spPr>
          <a:xfrm>
            <a:off x="8068056" y="1371600"/>
            <a:ext cx="3617976" cy="1508760"/>
          </a:xfrm>
          <a:prstGeom prst="roundRect">
            <a:avLst>
              <a:gd name="adj" fmla="val 3636"/>
            </a:avLst>
          </a:prstGeom>
          <a:solidFill>
            <a:srgbClr val="F1F6F4"/>
          </a:solidFill>
          <a:ln w="12700">
            <a:solidFill>
              <a:srgbClr val="D8E3E0"/>
            </a:solidFill>
            <a:prstDash val="solid"/>
          </a:ln>
        </p:spPr>
        <p:txBody>
          <a:bodyPr/>
          <a:p/>
        </p:txBody>
      </p:sp>
      <p:sp>
        <p:nvSpPr>
          <p:cNvPr id="11" name="Text 9"/>
          <p:cNvSpPr/>
          <p:nvPr/>
        </p:nvSpPr>
        <p:spPr>
          <a:xfrm>
            <a:off x="8214360" y="1499616"/>
            <a:ext cx="3325368" cy="256032"/>
          </a:xfrm>
          <a:prstGeom prst="rect">
            <a:avLst/>
          </a:prstGeom>
          <a:noFill/>
          <a:ln/>
        </p:spPr>
        <p:txBody>
          <a:bodyPr wrap="square" lIns="0" tIns="0" rIns="0" bIns="0" rtlCol="0" anchor="ctr"/>
          <a:lstStyle/>
          <a:p>
            <a:pPr indent="0" marL="0">
              <a:buNone/>
            </a:pPr>
            <a:r>
              <a:rPr lang="en-US" sz="1100" b="1" dirty="0">
                <a:solidFill>
                  <a:srgbClr val="1F3864"/>
                </a:solidFill>
                <a:latin typeface="Calibri" pitchFamily="34" charset="0"/>
                <a:ea typeface="Calibri" pitchFamily="34" charset="-122"/>
                <a:cs typeface="Calibri" pitchFamily="34" charset="-120"/>
              </a:rPr>
              <a:t>The chart says 'enter all inputs'</a:t>
            </a:r>
            <a:endParaRPr lang="en-US" sz="1100" dirty="0"/>
          </a:p>
        </p:txBody>
      </p:sp>
      <p:sp>
        <p:nvSpPr>
          <p:cNvPr id="12" name="Text 10"/>
          <p:cNvSpPr/>
          <p:nvPr/>
        </p:nvSpPr>
        <p:spPr>
          <a:xfrm>
            <a:off x="8214360" y="1773936"/>
            <a:ext cx="3325368" cy="97840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One box has been left empty. Fill in every field in that module and the chart appears.</a:t>
            </a:r>
            <a:endParaRPr lang="en-US" sz="1050" dirty="0"/>
          </a:p>
        </p:txBody>
      </p:sp>
      <p:sp>
        <p:nvSpPr>
          <p:cNvPr id="13" name="Shape 11"/>
          <p:cNvSpPr/>
          <p:nvPr/>
        </p:nvSpPr>
        <p:spPr>
          <a:xfrm>
            <a:off x="502920" y="3063240"/>
            <a:ext cx="3617976" cy="1508760"/>
          </a:xfrm>
          <a:prstGeom prst="roundRect">
            <a:avLst>
              <a:gd name="adj" fmla="val 3636"/>
            </a:avLst>
          </a:prstGeom>
          <a:solidFill>
            <a:srgbClr val="F1F6F4"/>
          </a:solidFill>
          <a:ln w="12700">
            <a:solidFill>
              <a:srgbClr val="D8E3E0"/>
            </a:solidFill>
            <a:prstDash val="solid"/>
          </a:ln>
        </p:spPr>
        <p:txBody>
          <a:bodyPr/>
          <a:p/>
        </p:txBody>
      </p:sp>
      <p:sp>
        <p:nvSpPr>
          <p:cNvPr id="14" name="Text 12"/>
          <p:cNvSpPr/>
          <p:nvPr/>
        </p:nvSpPr>
        <p:spPr>
          <a:xfrm>
            <a:off x="649224" y="3191256"/>
            <a:ext cx="3325368" cy="256032"/>
          </a:xfrm>
          <a:prstGeom prst="rect">
            <a:avLst/>
          </a:prstGeom>
          <a:noFill/>
          <a:ln/>
        </p:spPr>
        <p:txBody>
          <a:bodyPr wrap="square" lIns="0" tIns="0" rIns="0" bIns="0" rtlCol="0" anchor="ctr"/>
          <a:lstStyle/>
          <a:p>
            <a:pPr indent="0" marL="0">
              <a:buNone/>
            </a:pPr>
            <a:r>
              <a:rPr lang="en-US" sz="1100" b="1" dirty="0">
                <a:solidFill>
                  <a:srgbClr val="1A7A6E"/>
                </a:solidFill>
                <a:latin typeface="Calibri" pitchFamily="34" charset="0"/>
                <a:ea typeface="Calibri" pitchFamily="34" charset="-122"/>
                <a:cs typeface="Calibri" pitchFamily="34" charset="-120"/>
              </a:rPr>
              <a:t>Scrolling changes my numbers</a:t>
            </a:r>
            <a:endParaRPr lang="en-US" sz="1100" dirty="0"/>
          </a:p>
        </p:txBody>
      </p:sp>
      <p:sp>
        <p:nvSpPr>
          <p:cNvPr id="15" name="Text 13"/>
          <p:cNvSpPr/>
          <p:nvPr/>
        </p:nvSpPr>
        <p:spPr>
          <a:xfrm>
            <a:off x="649224" y="3465576"/>
            <a:ext cx="3325368" cy="97840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Click on an empty part of the page first, then scroll. Clicking a box and scrolling can change its value.</a:t>
            </a:r>
            <a:endParaRPr lang="en-US" sz="1050" dirty="0"/>
          </a:p>
        </p:txBody>
      </p:sp>
      <p:sp>
        <p:nvSpPr>
          <p:cNvPr id="16" name="Shape 14"/>
          <p:cNvSpPr/>
          <p:nvPr/>
        </p:nvSpPr>
        <p:spPr>
          <a:xfrm>
            <a:off x="4285488" y="3063240"/>
            <a:ext cx="3617976" cy="1508760"/>
          </a:xfrm>
          <a:prstGeom prst="roundRect">
            <a:avLst>
              <a:gd name="adj" fmla="val 3636"/>
            </a:avLst>
          </a:prstGeom>
          <a:solidFill>
            <a:srgbClr val="F1F6F4"/>
          </a:solidFill>
          <a:ln w="12700">
            <a:solidFill>
              <a:srgbClr val="D8E3E0"/>
            </a:solidFill>
            <a:prstDash val="solid"/>
          </a:ln>
        </p:spPr>
        <p:txBody>
          <a:bodyPr/>
          <a:p/>
        </p:txBody>
      </p:sp>
      <p:sp>
        <p:nvSpPr>
          <p:cNvPr id="17" name="Text 15"/>
          <p:cNvSpPr/>
          <p:nvPr/>
        </p:nvSpPr>
        <p:spPr>
          <a:xfrm>
            <a:off x="4431792" y="3191256"/>
            <a:ext cx="3325368" cy="256032"/>
          </a:xfrm>
          <a:prstGeom prst="rect">
            <a:avLst/>
          </a:prstGeom>
          <a:noFill/>
          <a:ln/>
        </p:spPr>
        <p:txBody>
          <a:bodyPr wrap="square" lIns="0" tIns="0" rIns="0" bIns="0" rtlCol="0" anchor="ctr"/>
          <a:lstStyle/>
          <a:p>
            <a:pPr indent="0" marL="0">
              <a:buNone/>
            </a:pPr>
            <a:r>
              <a:rPr lang="en-US" sz="1100" b="1" dirty="0">
                <a:solidFill>
                  <a:srgbClr val="C55A11"/>
                </a:solidFill>
                <a:latin typeface="Calibri" pitchFamily="34" charset="0"/>
                <a:ea typeface="Calibri" pitchFamily="34" charset="-122"/>
                <a:cs typeface="Calibri" pitchFamily="34" charset="-120"/>
              </a:rPr>
              <a:t>The page will not load</a:t>
            </a:r>
            <a:endParaRPr lang="en-US" sz="1100" dirty="0"/>
          </a:p>
        </p:txBody>
      </p:sp>
      <p:sp>
        <p:nvSpPr>
          <p:cNvPr id="18" name="Text 16"/>
          <p:cNvSpPr/>
          <p:nvPr/>
        </p:nvSpPr>
        <p:spPr>
          <a:xfrm>
            <a:off x="4431792" y="3465576"/>
            <a:ext cx="3325368" cy="97840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Check the command prompt window is still open and running. If it closed, start the dashboard again.</a:t>
            </a:r>
            <a:endParaRPr lang="en-US" sz="1050" dirty="0"/>
          </a:p>
        </p:txBody>
      </p:sp>
      <p:sp>
        <p:nvSpPr>
          <p:cNvPr id="19" name="Shape 17"/>
          <p:cNvSpPr/>
          <p:nvPr/>
        </p:nvSpPr>
        <p:spPr>
          <a:xfrm>
            <a:off x="8068056" y="3063240"/>
            <a:ext cx="3617976" cy="1508760"/>
          </a:xfrm>
          <a:prstGeom prst="roundRect">
            <a:avLst>
              <a:gd name="adj" fmla="val 3636"/>
            </a:avLst>
          </a:prstGeom>
          <a:solidFill>
            <a:srgbClr val="F1F6F4"/>
          </a:solidFill>
          <a:ln w="12700">
            <a:solidFill>
              <a:srgbClr val="D8E3E0"/>
            </a:solidFill>
            <a:prstDash val="solid"/>
          </a:ln>
        </p:spPr>
        <p:txBody>
          <a:bodyPr/>
          <a:p/>
        </p:txBody>
      </p:sp>
      <p:sp>
        <p:nvSpPr>
          <p:cNvPr id="20" name="Text 18"/>
          <p:cNvSpPr/>
          <p:nvPr/>
        </p:nvSpPr>
        <p:spPr>
          <a:xfrm>
            <a:off x="8214360" y="3191256"/>
            <a:ext cx="3325368" cy="256032"/>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Results look wrong</a:t>
            </a:r>
            <a:endParaRPr lang="en-US" sz="1100" dirty="0"/>
          </a:p>
        </p:txBody>
      </p:sp>
      <p:sp>
        <p:nvSpPr>
          <p:cNvPr id="21" name="Text 19"/>
          <p:cNvSpPr/>
          <p:nvPr/>
        </p:nvSpPr>
        <p:spPr>
          <a:xfrm>
            <a:off x="8214360" y="3465576"/>
            <a:ext cx="3325368" cy="978408"/>
          </a:xfrm>
          <a:prstGeom prst="rect">
            <a:avLst/>
          </a:prstGeom>
          <a:noFill/>
          <a:ln/>
        </p:spPr>
        <p:txBody>
          <a:bodyPr wrap="square" lIns="0" tIns="0" rIns="0" bIns="0" rtlCol="0" anchor="t"/>
          <a:lstStyle/>
          <a:p>
            <a:pPr indent="0" marL="0">
              <a:buNone/>
            </a:pPr>
            <a:r>
              <a:rPr lang="en-US" sz="1050" dirty="0">
                <a:solidFill>
                  <a:srgbClr val="6B7A77"/>
                </a:solidFill>
                <a:latin typeface="Calibri" pitchFamily="34" charset="0"/>
                <a:ea typeface="Calibri" pitchFamily="34" charset="-122"/>
                <a:cs typeface="Calibri" pitchFamily="34" charset="-120"/>
              </a:rPr>
              <a:t>Go back to Global settings. A wrong fuel price, home rate or charging network there affects most other pages.</a:t>
            </a:r>
            <a:endParaRPr lang="en-US" sz="1050" dirty="0"/>
          </a:p>
        </p:txBody>
      </p:sp>
      <p:sp>
        <p:nvSpPr>
          <p:cNvPr id="22" name="Shape 20"/>
          <p:cNvSpPr/>
          <p:nvPr/>
        </p:nvSpPr>
        <p:spPr>
          <a:xfrm>
            <a:off x="502920" y="4892040"/>
            <a:ext cx="11183112" cy="658368"/>
          </a:xfrm>
          <a:prstGeom prst="roundRect">
            <a:avLst>
              <a:gd name="adj" fmla="val 8333"/>
            </a:avLst>
          </a:prstGeom>
          <a:solidFill>
            <a:srgbClr val="F1F6F4"/>
          </a:solidFill>
          <a:ln w="12700">
            <a:solidFill>
              <a:srgbClr val="D8E3E0"/>
            </a:solidFill>
            <a:prstDash val="solid"/>
          </a:ln>
        </p:spPr>
        <p:txBody>
          <a:bodyPr/>
          <a:p/>
        </p:txBody>
      </p:sp>
      <p:sp>
        <p:nvSpPr>
          <p:cNvPr id="23" name="Shape 21"/>
          <p:cNvSpPr/>
          <p:nvPr/>
        </p:nvSpPr>
        <p:spPr>
          <a:xfrm>
            <a:off x="685800" y="5065776"/>
            <a:ext cx="310896" cy="310896"/>
          </a:xfrm>
          <a:prstGeom prst="ellipse">
            <a:avLst/>
          </a:prstGeom>
          <a:solidFill>
            <a:srgbClr val="1A9E75"/>
          </a:solidFill>
          <a:ln w="12700">
            <a:solidFill>
              <a:srgbClr val="1A9E75"/>
            </a:solidFill>
            <a:prstDash val="solid"/>
          </a:ln>
        </p:spPr>
        <p:txBody>
          <a:bodyPr/>
          <a:p/>
        </p:txBody>
      </p:sp>
      <p:sp>
        <p:nvSpPr>
          <p:cNvPr id="24" name="Text 22"/>
          <p:cNvSpPr/>
          <p:nvPr/>
        </p:nvSpPr>
        <p:spPr>
          <a:xfrm>
            <a:off x="685800" y="506577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i</a:t>
            </a:r>
            <a:endParaRPr lang="en-US" sz="1300" dirty="0"/>
          </a:p>
        </p:txBody>
      </p:sp>
      <p:sp>
        <p:nvSpPr>
          <p:cNvPr id="25" name="Text 23"/>
          <p:cNvSpPr/>
          <p:nvPr/>
        </p:nvSpPr>
        <p:spPr>
          <a:xfrm>
            <a:off x="1133856" y="5001768"/>
            <a:ext cx="10424160" cy="457200"/>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Golden rule:  </a:t>
            </a:r>
            <a:pPr indent="0" marL="0">
              <a:buNone/>
            </a:pPr>
            <a:r>
              <a:rPr lang="en-US" sz="1100" dirty="0">
                <a:solidFill>
                  <a:srgbClr val="6B7A77"/>
                </a:solidFill>
                <a:latin typeface="Calibri" pitchFamily="34" charset="0"/>
                <a:ea typeface="Calibri" pitchFamily="34" charset="-122"/>
                <a:cs typeface="Calibri" pitchFamily="34" charset="-120"/>
              </a:rPr>
              <a:t>set Global settings before using Modules 3, 4, 6 and 7. Everything else follows from those prices.</a:t>
            </a:r>
            <a:endParaRPr lang="en-US" sz="1100" dirty="0"/>
          </a:p>
        </p:txBody>
      </p:sp>
      <p:sp>
        <p:nvSpPr>
          <p:cNvPr id="26" name="Text 24"/>
          <p:cNvSpPr/>
          <p:nvPr/>
        </p:nvSpPr>
        <p:spPr>
          <a:xfrm>
            <a:off x="502920" y="6382512"/>
            <a:ext cx="8686800" cy="274320"/>
          </a:xfrm>
          <a:prstGeom prst="rect">
            <a:avLst/>
          </a:prstGeom>
          <a:noFill/>
          <a:ln/>
        </p:spPr>
        <p:txBody>
          <a:bodyPr wrap="square" lIns="0" tIns="0" rIns="0" bIns="0" rtlCol="0" anchor="ctr"/>
          <a:lstStyle/>
          <a:p>
            <a:pPr indent="0" marL="0">
              <a:buNone/>
            </a:pPr>
            <a:r>
              <a:rPr lang="en-US" sz="900" dirty="0">
                <a:solidFill>
                  <a:srgbClr val="6B7A77"/>
                </a:solidFill>
                <a:latin typeface="Calibri" pitchFamily="34" charset="0"/>
                <a:ea typeface="Calibri" pitchFamily="34" charset="-122"/>
                <a:cs typeface="Calibri" pitchFamily="34" charset="-120"/>
              </a:rPr>
              <a:t>Reference</a:t>
            </a:r>
            <a:endParaRPr lang="en-US" sz="900" dirty="0"/>
          </a:p>
        </p:txBody>
      </p:sp>
      <p:sp>
        <p:nvSpPr>
          <p:cNvPr id="27" name="Text 25"/>
          <p:cNvSpPr/>
          <p:nvPr/>
        </p:nvSpPr>
        <p:spPr>
          <a:xfrm>
            <a:off x="8778240" y="6382512"/>
            <a:ext cx="2926080" cy="274320"/>
          </a:xfrm>
          <a:prstGeom prst="rect">
            <a:avLst/>
          </a:prstGeom>
          <a:noFill/>
          <a:ln/>
        </p:spPr>
        <p:txBody>
          <a:bodyPr wrap="square" lIns="0" tIns="0" rIns="0" bIns="0" rtlCol="0" anchor="ctr"/>
          <a:lstStyle/>
          <a:p>
            <a:pPr algn="r" indent="0" marL="0">
              <a:buNone/>
            </a:pPr>
            <a:r>
              <a:rPr lang="en-US" sz="900" dirty="0">
                <a:solidFill>
                  <a:srgbClr val="6B7A77"/>
                </a:solidFill>
                <a:latin typeface="Calibri" pitchFamily="34" charset="0"/>
                <a:ea typeface="Calibri" pitchFamily="34" charset="-122"/>
                <a:cs typeface="Calibri" pitchFamily="34" charset="-120"/>
              </a:rPr>
              <a:t>Jamaica EV Dashboard - User Guide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E2A24"/>
        </a:solidFill>
      </p:bgPr>
    </p:bg>
    <p:spTree>
      <p:nvGrpSpPr>
        <p:cNvPr id="1" name=""/>
        <p:cNvGrpSpPr/>
        <p:nvPr/>
      </p:nvGrpSpPr>
      <p:grpSpPr>
        <a:xfrm>
          <a:off x="0" y="0"/>
          <a:ext cx="0" cy="0"/>
          <a:chOff x="0" y="0"/>
          <a:chExt cx="0" cy="0"/>
        </a:xfrm>
      </p:grpSpPr>
      <p:sp>
        <p:nvSpPr>
          <p:cNvPr id="2" name="Text 0"/>
          <p:cNvSpPr/>
          <p:nvPr/>
        </p:nvSpPr>
        <p:spPr>
          <a:xfrm>
            <a:off x="822960" y="1417320"/>
            <a:ext cx="10515600" cy="64008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A suggested order to try</a:t>
            </a:r>
            <a:endParaRPr lang="en-US" sz="3400" dirty="0"/>
          </a:p>
        </p:txBody>
      </p:sp>
      <p:sp>
        <p:nvSpPr>
          <p:cNvPr id="3" name="Text 1"/>
          <p:cNvSpPr/>
          <p:nvPr/>
        </p:nvSpPr>
        <p:spPr>
          <a:xfrm>
            <a:off x="822960" y="2084832"/>
            <a:ext cx="10058400" cy="365760"/>
          </a:xfrm>
          <a:prstGeom prst="rect">
            <a:avLst/>
          </a:prstGeom>
          <a:noFill/>
          <a:ln/>
        </p:spPr>
        <p:txBody>
          <a:bodyPr wrap="square" lIns="0" tIns="0" rIns="0" bIns="0" rtlCol="0" anchor="ctr"/>
          <a:lstStyle/>
          <a:p>
            <a:pPr indent="0" marL="0">
              <a:buNone/>
            </a:pPr>
            <a:r>
              <a:rPr lang="en-US" sz="1400" dirty="0">
                <a:solidFill>
                  <a:srgbClr val="A9C6BF"/>
                </a:solidFill>
                <a:latin typeface="Calibri" pitchFamily="34" charset="0"/>
                <a:ea typeface="Calibri" pitchFamily="34" charset="-122"/>
                <a:cs typeface="Calibri" pitchFamily="34" charset="-120"/>
              </a:rPr>
              <a:t>If you have never opened the dashboard before, this route makes the most sense.</a:t>
            </a:r>
            <a:endParaRPr lang="en-US" sz="1400" dirty="0"/>
          </a:p>
        </p:txBody>
      </p:sp>
      <p:sp>
        <p:nvSpPr>
          <p:cNvPr id="4" name="Shape 2"/>
          <p:cNvSpPr/>
          <p:nvPr/>
        </p:nvSpPr>
        <p:spPr>
          <a:xfrm>
            <a:off x="868680" y="2697480"/>
            <a:ext cx="347472" cy="347472"/>
          </a:xfrm>
          <a:prstGeom prst="ellipse">
            <a:avLst/>
          </a:prstGeom>
          <a:solidFill>
            <a:srgbClr val="1A9E75"/>
          </a:solidFill>
          <a:ln w="12700">
            <a:solidFill>
              <a:srgbClr val="1A9E75"/>
            </a:solidFill>
            <a:prstDash val="solid"/>
          </a:ln>
        </p:spPr>
        <p:txBody>
          <a:bodyPr/>
          <a:p/>
        </p:txBody>
      </p:sp>
      <p:sp>
        <p:nvSpPr>
          <p:cNvPr id="5" name="Text 3"/>
          <p:cNvSpPr/>
          <p:nvPr/>
        </p:nvSpPr>
        <p:spPr>
          <a:xfrm>
            <a:off x="868680" y="2697480"/>
            <a:ext cx="347472" cy="347472"/>
          </a:xfrm>
          <a:prstGeom prst="rect">
            <a:avLst/>
          </a:prstGeom>
          <a:noFill/>
          <a:ln/>
        </p:spPr>
        <p:txBody>
          <a:bodyPr wrap="square" lIns="0" tIns="0" rIns="0" bIns="0" rtlCol="0" anchor="ctr"/>
          <a:lstStyle/>
          <a:p>
            <a:pPr algn="ctr" indent="0" marL="0">
              <a:buNone/>
            </a:pPr>
            <a:r>
              <a:rPr lang="en-US" sz="1300" b="1" dirty="0">
                <a:solidFill>
                  <a:srgbClr val="0E2A24"/>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389888" y="2670048"/>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Set Global settings</a:t>
            </a:r>
            <a:endParaRPr lang="en-US" sz="1500" dirty="0"/>
          </a:p>
        </p:txBody>
      </p:sp>
      <p:sp>
        <p:nvSpPr>
          <p:cNvPr id="7" name="Text 5"/>
          <p:cNvSpPr/>
          <p:nvPr/>
        </p:nvSpPr>
        <p:spPr>
          <a:xfrm>
            <a:off x="5440680" y="2670048"/>
            <a:ext cx="5943600" cy="457200"/>
          </a:xfrm>
          <a:prstGeom prst="rect">
            <a:avLst/>
          </a:prstGeom>
          <a:noFill/>
          <a:ln/>
        </p:spPr>
        <p:txBody>
          <a:bodyPr wrap="square" lIns="0" tIns="0" rIns="0" bIns="0" rtlCol="0" anchor="t"/>
          <a:lstStyle/>
          <a:p>
            <a:pPr indent="0" marL="0">
              <a:buNone/>
            </a:pPr>
            <a:r>
              <a:rPr lang="en-US" sz="1250" dirty="0">
                <a:solidFill>
                  <a:srgbClr val="8FB3AB"/>
                </a:solidFill>
                <a:latin typeface="Calibri" pitchFamily="34" charset="0"/>
                <a:ea typeface="Calibri" pitchFamily="34" charset="-122"/>
                <a:cs typeface="Calibri" pitchFamily="34" charset="-120"/>
              </a:rPr>
              <a:t>Enter the fuel price you actually pay, your home electricity rate, and your charging network.</a:t>
            </a:r>
            <a:endParaRPr lang="en-US" sz="1250" dirty="0"/>
          </a:p>
        </p:txBody>
      </p:sp>
      <p:sp>
        <p:nvSpPr>
          <p:cNvPr id="8" name="Shape 6"/>
          <p:cNvSpPr/>
          <p:nvPr/>
        </p:nvSpPr>
        <p:spPr>
          <a:xfrm>
            <a:off x="868680" y="3355848"/>
            <a:ext cx="347472" cy="347472"/>
          </a:xfrm>
          <a:prstGeom prst="ellipse">
            <a:avLst/>
          </a:prstGeom>
          <a:solidFill>
            <a:srgbClr val="1A9E75"/>
          </a:solidFill>
          <a:ln w="12700">
            <a:solidFill>
              <a:srgbClr val="1A9E75"/>
            </a:solidFill>
            <a:prstDash val="solid"/>
          </a:ln>
        </p:spPr>
        <p:txBody>
          <a:bodyPr/>
          <a:p/>
        </p:txBody>
      </p:sp>
      <p:sp>
        <p:nvSpPr>
          <p:cNvPr id="9" name="Text 7"/>
          <p:cNvSpPr/>
          <p:nvPr/>
        </p:nvSpPr>
        <p:spPr>
          <a:xfrm>
            <a:off x="868680" y="3355848"/>
            <a:ext cx="347472" cy="347472"/>
          </a:xfrm>
          <a:prstGeom prst="rect">
            <a:avLst/>
          </a:prstGeom>
          <a:noFill/>
          <a:ln/>
        </p:spPr>
        <p:txBody>
          <a:bodyPr wrap="square" lIns="0" tIns="0" rIns="0" bIns="0" rtlCol="0" anchor="ctr"/>
          <a:lstStyle/>
          <a:p>
            <a:pPr algn="ctr" indent="0" marL="0">
              <a:buNone/>
            </a:pPr>
            <a:r>
              <a:rPr lang="en-US" sz="1300" b="1" dirty="0">
                <a:solidFill>
                  <a:srgbClr val="0E2A24"/>
                </a:solidFill>
                <a:latin typeface="Calibri" pitchFamily="34" charset="0"/>
                <a:ea typeface="Calibri" pitchFamily="34" charset="-122"/>
                <a:cs typeface="Calibri" pitchFamily="34" charset="-120"/>
              </a:rPr>
              <a:t>2</a:t>
            </a:r>
            <a:endParaRPr lang="en-US" sz="1300" dirty="0"/>
          </a:p>
        </p:txBody>
      </p:sp>
      <p:sp>
        <p:nvSpPr>
          <p:cNvPr id="10" name="Text 8"/>
          <p:cNvSpPr/>
          <p:nvPr/>
        </p:nvSpPr>
        <p:spPr>
          <a:xfrm>
            <a:off x="1389888" y="3328416"/>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Open Module 3, the calculator</a:t>
            </a:r>
            <a:endParaRPr lang="en-US" sz="1500" dirty="0"/>
          </a:p>
        </p:txBody>
      </p:sp>
      <p:sp>
        <p:nvSpPr>
          <p:cNvPr id="11" name="Text 9"/>
          <p:cNvSpPr/>
          <p:nvPr/>
        </p:nvSpPr>
        <p:spPr>
          <a:xfrm>
            <a:off x="5440680" y="3328416"/>
            <a:ext cx="5943600" cy="457200"/>
          </a:xfrm>
          <a:prstGeom prst="rect">
            <a:avLst/>
          </a:prstGeom>
          <a:noFill/>
          <a:ln/>
        </p:spPr>
        <p:txBody>
          <a:bodyPr wrap="square" lIns="0" tIns="0" rIns="0" bIns="0" rtlCol="0" anchor="t"/>
          <a:lstStyle/>
          <a:p>
            <a:pPr indent="0" marL="0">
              <a:buNone/>
            </a:pPr>
            <a:r>
              <a:rPr lang="en-US" sz="1250" dirty="0">
                <a:solidFill>
                  <a:srgbClr val="8FB3AB"/>
                </a:solidFill>
                <a:latin typeface="Calibri" pitchFamily="34" charset="0"/>
                <a:ea typeface="Calibri" pitchFamily="34" charset="-122"/>
                <a:cs typeface="Calibri" pitchFamily="34" charset="-120"/>
              </a:rPr>
              <a:t>Compare a car you know against an electric one. This is the quickest way to see what the dashboard does.</a:t>
            </a:r>
            <a:endParaRPr lang="en-US" sz="1250" dirty="0"/>
          </a:p>
        </p:txBody>
      </p:sp>
      <p:sp>
        <p:nvSpPr>
          <p:cNvPr id="12" name="Shape 10"/>
          <p:cNvSpPr/>
          <p:nvPr/>
        </p:nvSpPr>
        <p:spPr>
          <a:xfrm>
            <a:off x="868680" y="4014216"/>
            <a:ext cx="347472" cy="347472"/>
          </a:xfrm>
          <a:prstGeom prst="ellipse">
            <a:avLst/>
          </a:prstGeom>
          <a:solidFill>
            <a:srgbClr val="1A9E75"/>
          </a:solidFill>
          <a:ln w="12700">
            <a:solidFill>
              <a:srgbClr val="1A9E75"/>
            </a:solidFill>
            <a:prstDash val="solid"/>
          </a:ln>
        </p:spPr>
        <p:txBody>
          <a:bodyPr/>
          <a:p/>
        </p:txBody>
      </p:sp>
      <p:sp>
        <p:nvSpPr>
          <p:cNvPr id="13" name="Text 11"/>
          <p:cNvSpPr/>
          <p:nvPr/>
        </p:nvSpPr>
        <p:spPr>
          <a:xfrm>
            <a:off x="868680" y="4014216"/>
            <a:ext cx="347472" cy="347472"/>
          </a:xfrm>
          <a:prstGeom prst="rect">
            <a:avLst/>
          </a:prstGeom>
          <a:noFill/>
          <a:ln/>
        </p:spPr>
        <p:txBody>
          <a:bodyPr wrap="square" lIns="0" tIns="0" rIns="0" bIns="0" rtlCol="0" anchor="ctr"/>
          <a:lstStyle/>
          <a:p>
            <a:pPr algn="ctr" indent="0" marL="0">
              <a:buNone/>
            </a:pPr>
            <a:r>
              <a:rPr lang="en-US" sz="1300" b="1" dirty="0">
                <a:solidFill>
                  <a:srgbClr val="0E2A24"/>
                </a:solidFill>
                <a:latin typeface="Calibri" pitchFamily="34" charset="0"/>
                <a:ea typeface="Calibri" pitchFamily="34" charset="-122"/>
                <a:cs typeface="Calibri" pitchFamily="34" charset="-120"/>
              </a:rPr>
              <a:t>3</a:t>
            </a:r>
            <a:endParaRPr lang="en-US" sz="1300" dirty="0"/>
          </a:p>
        </p:txBody>
      </p:sp>
      <p:sp>
        <p:nvSpPr>
          <p:cNvPr id="14" name="Text 12"/>
          <p:cNvSpPr/>
          <p:nvPr/>
        </p:nvSpPr>
        <p:spPr>
          <a:xfrm>
            <a:off x="1389888" y="3986784"/>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Try Module 6, emissions</a:t>
            </a:r>
            <a:endParaRPr lang="en-US" sz="1500" dirty="0"/>
          </a:p>
        </p:txBody>
      </p:sp>
      <p:sp>
        <p:nvSpPr>
          <p:cNvPr id="15" name="Text 13"/>
          <p:cNvSpPr/>
          <p:nvPr/>
        </p:nvSpPr>
        <p:spPr>
          <a:xfrm>
            <a:off x="5440680" y="3986784"/>
            <a:ext cx="5943600" cy="457200"/>
          </a:xfrm>
          <a:prstGeom prst="rect">
            <a:avLst/>
          </a:prstGeom>
          <a:noFill/>
          <a:ln/>
        </p:spPr>
        <p:txBody>
          <a:bodyPr wrap="square" lIns="0" tIns="0" rIns="0" bIns="0" rtlCol="0" anchor="t"/>
          <a:lstStyle/>
          <a:p>
            <a:pPr indent="0" marL="0">
              <a:buNone/>
            </a:pPr>
            <a:r>
              <a:rPr lang="en-US" sz="1250" dirty="0">
                <a:solidFill>
                  <a:srgbClr val="8FB3AB"/>
                </a:solidFill>
                <a:latin typeface="Calibri" pitchFamily="34" charset="0"/>
                <a:ea typeface="Calibri" pitchFamily="34" charset="-122"/>
                <a:cs typeface="Calibri" pitchFamily="34" charset="-120"/>
              </a:rPr>
              <a:t>The same comparison, but for carbon dioxide instead of money.</a:t>
            </a:r>
            <a:endParaRPr lang="en-US" sz="1250" dirty="0"/>
          </a:p>
        </p:txBody>
      </p:sp>
      <p:sp>
        <p:nvSpPr>
          <p:cNvPr id="16" name="Shape 14"/>
          <p:cNvSpPr/>
          <p:nvPr/>
        </p:nvSpPr>
        <p:spPr>
          <a:xfrm>
            <a:off x="868680" y="4672584"/>
            <a:ext cx="347472" cy="347472"/>
          </a:xfrm>
          <a:prstGeom prst="ellipse">
            <a:avLst/>
          </a:prstGeom>
          <a:solidFill>
            <a:srgbClr val="1A9E75"/>
          </a:solidFill>
          <a:ln w="12700">
            <a:solidFill>
              <a:srgbClr val="1A9E75"/>
            </a:solidFill>
            <a:prstDash val="solid"/>
          </a:ln>
        </p:spPr>
        <p:txBody>
          <a:bodyPr/>
          <a:p/>
        </p:txBody>
      </p:sp>
      <p:sp>
        <p:nvSpPr>
          <p:cNvPr id="17" name="Text 15"/>
          <p:cNvSpPr/>
          <p:nvPr/>
        </p:nvSpPr>
        <p:spPr>
          <a:xfrm>
            <a:off x="868680" y="4672584"/>
            <a:ext cx="347472" cy="347472"/>
          </a:xfrm>
          <a:prstGeom prst="rect">
            <a:avLst/>
          </a:prstGeom>
          <a:noFill/>
          <a:ln/>
        </p:spPr>
        <p:txBody>
          <a:bodyPr wrap="square" lIns="0" tIns="0" rIns="0" bIns="0" rtlCol="0" anchor="ctr"/>
          <a:lstStyle/>
          <a:p>
            <a:pPr algn="ctr" indent="0" marL="0">
              <a:buNone/>
            </a:pPr>
            <a:r>
              <a:rPr lang="en-US" sz="1300" b="1" dirty="0">
                <a:solidFill>
                  <a:srgbClr val="0E2A24"/>
                </a:solidFill>
                <a:latin typeface="Calibri" pitchFamily="34" charset="0"/>
                <a:ea typeface="Calibri" pitchFamily="34" charset="-122"/>
                <a:cs typeface="Calibri" pitchFamily="34" charset="-120"/>
              </a:rPr>
              <a:t>4</a:t>
            </a:r>
            <a:endParaRPr lang="en-US" sz="1300" dirty="0"/>
          </a:p>
        </p:txBody>
      </p:sp>
      <p:sp>
        <p:nvSpPr>
          <p:cNvPr id="18" name="Text 16"/>
          <p:cNvSpPr/>
          <p:nvPr/>
        </p:nvSpPr>
        <p:spPr>
          <a:xfrm>
            <a:off x="1389888" y="4645152"/>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Look at Modules 1 and 2</a:t>
            </a:r>
            <a:endParaRPr lang="en-US" sz="1500" dirty="0"/>
          </a:p>
        </p:txBody>
      </p:sp>
      <p:sp>
        <p:nvSpPr>
          <p:cNvPr id="19" name="Text 17"/>
          <p:cNvSpPr/>
          <p:nvPr/>
        </p:nvSpPr>
        <p:spPr>
          <a:xfrm>
            <a:off x="5440680" y="4645152"/>
            <a:ext cx="5943600" cy="457200"/>
          </a:xfrm>
          <a:prstGeom prst="rect">
            <a:avLst/>
          </a:prstGeom>
          <a:noFill/>
          <a:ln/>
        </p:spPr>
        <p:txBody>
          <a:bodyPr wrap="square" lIns="0" tIns="0" rIns="0" bIns="0" rtlCol="0" anchor="t"/>
          <a:lstStyle/>
          <a:p>
            <a:pPr indent="0" marL="0">
              <a:buNone/>
            </a:pPr>
            <a:r>
              <a:rPr lang="en-US" sz="1250" dirty="0">
                <a:solidFill>
                  <a:srgbClr val="8FB3AB"/>
                </a:solidFill>
                <a:latin typeface="Calibri" pitchFamily="34" charset="0"/>
                <a:ea typeface="Calibri" pitchFamily="34" charset="-122"/>
                <a:cs typeface="Calibri" pitchFamily="34" charset="-120"/>
              </a:rPr>
              <a:t>Policy context and how Jamaica compares regionally.</a:t>
            </a:r>
            <a:endParaRPr lang="en-US" sz="1250" dirty="0"/>
          </a:p>
        </p:txBody>
      </p:sp>
      <p:sp>
        <p:nvSpPr>
          <p:cNvPr id="20" name="Shape 18"/>
          <p:cNvSpPr/>
          <p:nvPr/>
        </p:nvSpPr>
        <p:spPr>
          <a:xfrm>
            <a:off x="868680" y="5330952"/>
            <a:ext cx="347472" cy="347472"/>
          </a:xfrm>
          <a:prstGeom prst="ellipse">
            <a:avLst/>
          </a:prstGeom>
          <a:solidFill>
            <a:srgbClr val="1A9E75"/>
          </a:solidFill>
          <a:ln w="12700">
            <a:solidFill>
              <a:srgbClr val="1A9E75"/>
            </a:solidFill>
            <a:prstDash val="solid"/>
          </a:ln>
        </p:spPr>
        <p:txBody>
          <a:bodyPr/>
          <a:p/>
        </p:txBody>
      </p:sp>
      <p:sp>
        <p:nvSpPr>
          <p:cNvPr id="21" name="Text 19"/>
          <p:cNvSpPr/>
          <p:nvPr/>
        </p:nvSpPr>
        <p:spPr>
          <a:xfrm>
            <a:off x="868680" y="5330952"/>
            <a:ext cx="347472" cy="347472"/>
          </a:xfrm>
          <a:prstGeom prst="rect">
            <a:avLst/>
          </a:prstGeom>
          <a:noFill/>
          <a:ln/>
        </p:spPr>
        <p:txBody>
          <a:bodyPr wrap="square" lIns="0" tIns="0" rIns="0" bIns="0" rtlCol="0" anchor="ctr"/>
          <a:lstStyle/>
          <a:p>
            <a:pPr algn="ctr" indent="0" marL="0">
              <a:buNone/>
            </a:pPr>
            <a:r>
              <a:rPr lang="en-US" sz="1300" b="1" dirty="0">
                <a:solidFill>
                  <a:srgbClr val="0E2A24"/>
                </a:solidFill>
                <a:latin typeface="Calibri" pitchFamily="34" charset="0"/>
                <a:ea typeface="Calibri" pitchFamily="34" charset="-122"/>
                <a:cs typeface="Calibri" pitchFamily="34" charset="-120"/>
              </a:rPr>
              <a:t>5</a:t>
            </a:r>
            <a:endParaRPr lang="en-US" sz="1300" dirty="0"/>
          </a:p>
        </p:txBody>
      </p:sp>
      <p:sp>
        <p:nvSpPr>
          <p:cNvPr id="22" name="Text 20"/>
          <p:cNvSpPr/>
          <p:nvPr/>
        </p:nvSpPr>
        <p:spPr>
          <a:xfrm>
            <a:off x="1389888" y="5303520"/>
            <a:ext cx="4023360" cy="292608"/>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Explore Modules 4, 5 and 7</a:t>
            </a:r>
            <a:endParaRPr lang="en-US" sz="1500" dirty="0"/>
          </a:p>
        </p:txBody>
      </p:sp>
      <p:sp>
        <p:nvSpPr>
          <p:cNvPr id="23" name="Text 21"/>
          <p:cNvSpPr/>
          <p:nvPr/>
        </p:nvSpPr>
        <p:spPr>
          <a:xfrm>
            <a:off x="5440680" y="5303520"/>
            <a:ext cx="5943600" cy="457200"/>
          </a:xfrm>
          <a:prstGeom prst="rect">
            <a:avLst/>
          </a:prstGeom>
          <a:noFill/>
          <a:ln/>
        </p:spPr>
        <p:txBody>
          <a:bodyPr wrap="square" lIns="0" tIns="0" rIns="0" bIns="0" rtlCol="0" anchor="t"/>
          <a:lstStyle/>
          <a:p>
            <a:pPr indent="0" marL="0">
              <a:buNone/>
            </a:pPr>
            <a:r>
              <a:rPr lang="en-US" sz="1250" dirty="0">
                <a:solidFill>
                  <a:srgbClr val="8FB3AB"/>
                </a:solidFill>
                <a:latin typeface="Calibri" pitchFamily="34" charset="0"/>
                <a:ea typeface="Calibri" pitchFamily="34" charset="-122"/>
                <a:cs typeface="Calibri" pitchFamily="34" charset="-120"/>
              </a:rPr>
              <a:t>The taxi tool, national fleet projections and fuel price history.</a:t>
            </a:r>
            <a:endParaRPr lang="en-US" sz="1250" dirty="0"/>
          </a:p>
        </p:txBody>
      </p:sp>
      <p:sp>
        <p:nvSpPr>
          <p:cNvPr id="24" name="Text 22"/>
          <p:cNvSpPr/>
          <p:nvPr/>
        </p:nvSpPr>
        <p:spPr>
          <a:xfrm>
            <a:off x="868680" y="6144768"/>
            <a:ext cx="5486400" cy="274320"/>
          </a:xfrm>
          <a:prstGeom prst="rect">
            <a:avLst/>
          </a:prstGeom>
          <a:noFill/>
          <a:ln/>
        </p:spPr>
        <p:txBody>
          <a:bodyPr wrap="square" lIns="0" tIns="0" rIns="0" bIns="0" rtlCol="0" anchor="ctr"/>
          <a:lstStyle/>
          <a:p>
            <a:pPr indent="0" marL="0">
              <a:buNone/>
            </a:pPr>
            <a:r>
              <a:rPr lang="en-US" sz="1100" b="1" dirty="0">
                <a:solidFill>
                  <a:srgbClr val="1A9E75"/>
                </a:solidFill>
                <a:latin typeface="Calibri" pitchFamily="34" charset="0"/>
                <a:ea typeface="Calibri" pitchFamily="34" charset="-122"/>
                <a:cs typeface="Calibri" pitchFamily="34" charset="-120"/>
              </a:rPr>
              <a:t>UWI Mona  ·  EV Lab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Jamaica EV Dashboard - User Guide</dc:title>
  <dc:subject>PptxGenJS Presentation</dc:subject>
  <dc:creator>PptxGenJS</dc:creator>
  <cp:lastModifiedBy>PptxGenJS</cp:lastModifiedBy>
  <cp:revision>1</cp:revision>
  <dcterms:created xsi:type="dcterms:W3CDTF">2026-07-30T14:35:41Z</dcterms:created>
  <dcterms:modified xsi:type="dcterms:W3CDTF">2026-07-30T14:35:41Z</dcterms:modified>
</cp:coreProperties>
</file>