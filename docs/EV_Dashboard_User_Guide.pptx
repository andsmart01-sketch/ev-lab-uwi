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1371600"/>
            <a:ext cx="822960" cy="822960"/>
          </a:xfrm>
          <a:prstGeom prst="roundRect">
            <a:avLst>
              <a:gd name="adj" fmla="val 8889"/>
            </a:avLst>
          </a:prstGeom>
          <a:solidFill>
            <a:srgbClr val="1A9E75"/>
          </a:solidFill>
          <a:ln w="12700">
            <a:solidFill>
              <a:srgbClr val="1A9E75"/>
            </a:solidFill>
            <a:prstDash val="solid"/>
          </a:ln>
        </p:spPr>
      </p:sp>
      <p:sp>
        <p:nvSpPr>
          <p:cNvPr id="3" name="Text 1"/>
          <p:cNvSpPr/>
          <p:nvPr/>
        </p:nvSpPr>
        <p:spPr>
          <a:xfrm>
            <a:off x="822960" y="1371600"/>
            <a:ext cx="822960" cy="822960"/>
          </a:xfrm>
          <a:prstGeom prst="rect">
            <a:avLst/>
          </a:prstGeom>
          <a:noFill/>
          <a:ln/>
        </p:spPr>
        <p:txBody>
          <a:bodyPr wrap="square" lIns="0" tIns="0" rIns="0" bIns="0" rtlCol="0" anchor="ctr"/>
          <a:lstStyle/>
          <a:p>
            <a:pPr algn="ctr" indent="0" marL="0">
              <a:buNone/>
            </a:pPr>
            <a:r>
              <a:rPr lang="en-US" sz="2600" b="1" dirty="0">
                <a:solidFill>
                  <a:srgbClr val="0E2A24"/>
                </a:solidFill>
                <a:latin typeface="Cambria" pitchFamily="34" charset="0"/>
                <a:ea typeface="Cambria" pitchFamily="34" charset="-122"/>
                <a:cs typeface="Cambria" pitchFamily="34" charset="-120"/>
              </a:rPr>
              <a:t>EV</a:t>
            </a:r>
            <a:endParaRPr lang="en-US" sz="2600" dirty="0"/>
          </a:p>
        </p:txBody>
      </p:sp>
      <p:sp>
        <p:nvSpPr>
          <p:cNvPr id="4" name="Text 2"/>
          <p:cNvSpPr/>
          <p:nvPr/>
        </p:nvSpPr>
        <p:spPr>
          <a:xfrm>
            <a:off x="822960" y="2468880"/>
            <a:ext cx="10515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Jamaica EV Dashboard</a:t>
            </a:r>
            <a:endParaRPr lang="en-US" sz="4800" dirty="0"/>
          </a:p>
        </p:txBody>
      </p:sp>
      <p:sp>
        <p:nvSpPr>
          <p:cNvPr id="5" name="Text 3"/>
          <p:cNvSpPr/>
          <p:nvPr/>
        </p:nvSpPr>
        <p:spPr>
          <a:xfrm>
            <a:off x="822960" y="3364992"/>
            <a:ext cx="10515600" cy="457200"/>
          </a:xfrm>
          <a:prstGeom prst="rect">
            <a:avLst/>
          </a:prstGeom>
          <a:noFill/>
          <a:ln/>
        </p:spPr>
        <p:txBody>
          <a:bodyPr wrap="square" lIns="0" tIns="0" rIns="0" bIns="0" rtlCol="0" anchor="ctr"/>
          <a:lstStyle/>
          <a:p>
            <a:pPr indent="0" marL="0">
              <a:buNone/>
            </a:pPr>
            <a:r>
              <a:rPr lang="en-US" sz="2000" dirty="0">
                <a:solidFill>
                  <a:srgbClr val="A9C6BF"/>
                </a:solidFill>
                <a:latin typeface="Calibri" pitchFamily="34" charset="0"/>
                <a:ea typeface="Calibri" pitchFamily="34" charset="-122"/>
                <a:cs typeface="Calibri" pitchFamily="34" charset="-120"/>
              </a:rPr>
              <a:t>A step-by-step guide to using every page</a:t>
            </a:r>
            <a:endParaRPr lang="en-US" sz="2000" dirty="0"/>
          </a:p>
        </p:txBody>
      </p:sp>
      <p:sp>
        <p:nvSpPr>
          <p:cNvPr id="6" name="Text 4"/>
          <p:cNvSpPr/>
          <p:nvPr/>
        </p:nvSpPr>
        <p:spPr>
          <a:xfrm>
            <a:off x="822960" y="3977640"/>
            <a:ext cx="8778240" cy="822960"/>
          </a:xfrm>
          <a:prstGeom prst="rect">
            <a:avLst/>
          </a:prstGeom>
          <a:noFill/>
          <a:ln/>
        </p:spPr>
        <p:txBody>
          <a:bodyPr wrap="square" lIns="0" tIns="0" rIns="0" bIns="0" rtlCol="0" anchor="ctr"/>
          <a:lstStyle/>
          <a:p>
            <a:pPr indent="0" marL="0">
              <a:lnSpc>
                <a:spcPct val="125000"/>
              </a:lnSpc>
              <a:buNone/>
            </a:pPr>
            <a:r>
              <a:rPr lang="en-US" sz="1350" dirty="0">
                <a:solidFill>
                  <a:srgbClr val="8FB3AB"/>
                </a:solidFill>
                <a:latin typeface="Calibri" pitchFamily="34" charset="0"/>
                <a:ea typeface="Calibri" pitchFamily="34" charset="-122"/>
                <a:cs typeface="Calibri" pitchFamily="34" charset="-120"/>
              </a:rPr>
              <a:t>Compare the cost and emissions of electric and petrol vehicles in Jamaica.</a:t>
            </a:r>
            <a:endParaRPr lang="en-US" sz="1350" dirty="0"/>
          </a:p>
          <a:p>
            <a:pPr indent="0" marL="0">
              <a:lnSpc>
                <a:spcPct val="125000"/>
              </a:lnSpc>
              <a:buNone/>
            </a:pPr>
            <a:r>
              <a:rPr lang="en-US" sz="1350" dirty="0">
                <a:solidFill>
                  <a:srgbClr val="8FB3AB"/>
                </a:solidFill>
                <a:latin typeface="Calibri" pitchFamily="34" charset="0"/>
                <a:ea typeface="Calibri" pitchFamily="34" charset="-122"/>
                <a:cs typeface="Calibri" pitchFamily="34" charset="-120"/>
              </a:rPr>
              <a:t>No technical background needed. Every screen is explained in order.</a:t>
            </a:r>
            <a:endParaRPr lang="en-US" sz="1350" dirty="0"/>
          </a:p>
        </p:txBody>
      </p:sp>
      <p:sp>
        <p:nvSpPr>
          <p:cNvPr id="7" name="Text 5"/>
          <p:cNvSpPr/>
          <p:nvPr/>
        </p:nvSpPr>
        <p:spPr>
          <a:xfrm>
            <a:off x="822960" y="5943600"/>
            <a:ext cx="5486400" cy="274320"/>
          </a:xfrm>
          <a:prstGeom prst="rect">
            <a:avLst/>
          </a:prstGeom>
          <a:noFill/>
          <a:ln/>
        </p:spPr>
        <p:txBody>
          <a:bodyPr wrap="square" lIns="0" tIns="0" rIns="0" bIns="0" rtlCol="0" anchor="ctr"/>
          <a:lstStyle/>
          <a:p>
            <a:pPr indent="0" marL="0">
              <a:buNone/>
            </a:pPr>
            <a:r>
              <a:rPr lang="en-US" sz="1200" b="1" dirty="0">
                <a:solidFill>
                  <a:srgbClr val="1A9E75"/>
                </a:solidFill>
                <a:latin typeface="Calibri" pitchFamily="34" charset="0"/>
                <a:ea typeface="Calibri" pitchFamily="34" charset="-122"/>
                <a:cs typeface="Calibri" pitchFamily="34" charset="-120"/>
              </a:rPr>
              <a:t>UWI Mona  ·  EV Lab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457200"/>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What this dashboard is for</a:t>
            </a:r>
            <a:endParaRPr lang="en-US" sz="3200" dirty="0"/>
          </a:p>
        </p:txBody>
      </p:sp>
      <p:sp>
        <p:nvSpPr>
          <p:cNvPr id="3" name="Text 1"/>
          <p:cNvSpPr/>
          <p:nvPr/>
        </p:nvSpPr>
        <p:spPr>
          <a:xfrm>
            <a:off x="502920" y="1207008"/>
            <a:ext cx="11155680" cy="502920"/>
          </a:xfrm>
          <a:prstGeom prst="rect">
            <a:avLst/>
          </a:prstGeom>
          <a:noFill/>
          <a:ln/>
        </p:spPr>
        <p:txBody>
          <a:bodyPr wrap="square" lIns="0" tIns="0" rIns="0" bIns="0" rtlCol="0" anchor="ctr"/>
          <a:lstStyle/>
          <a:p>
            <a:pPr indent="0" marL="0">
              <a:buNone/>
            </a:pPr>
            <a:r>
              <a:rPr lang="en-US" sz="1400" dirty="0">
                <a:solidFill>
                  <a:srgbClr val="6B7A77"/>
                </a:solidFill>
                <a:latin typeface="Calibri" pitchFamily="34" charset="0"/>
                <a:ea typeface="Calibri" pitchFamily="34" charset="-122"/>
                <a:cs typeface="Calibri" pitchFamily="34" charset="-120"/>
              </a:rPr>
              <a:t>It answers one practical question in several different ways: does switching from petrol to electric actually save money and cut emissions in Jamaica, and for whom?</a:t>
            </a:r>
            <a:endParaRPr lang="en-US" sz="1400" dirty="0"/>
          </a:p>
        </p:txBody>
      </p:sp>
      <p:sp>
        <p:nvSpPr>
          <p:cNvPr id="4" name="Shape 2"/>
          <p:cNvSpPr/>
          <p:nvPr/>
        </p:nvSpPr>
        <p:spPr>
          <a:xfrm>
            <a:off x="502920" y="1874520"/>
            <a:ext cx="3617976" cy="1371600"/>
          </a:xfrm>
          <a:prstGeom prst="roundRect">
            <a:avLst>
              <a:gd name="adj" fmla="val 4000"/>
            </a:avLst>
          </a:prstGeom>
          <a:solidFill>
            <a:srgbClr val="F1F6F4"/>
          </a:solidFill>
          <a:ln w="12700">
            <a:solidFill>
              <a:srgbClr val="D8E3E0"/>
            </a:solidFill>
            <a:prstDash val="solid"/>
          </a:ln>
        </p:spPr>
      </p:sp>
      <p:sp>
        <p:nvSpPr>
          <p:cNvPr id="5" name="Text 3"/>
          <p:cNvSpPr/>
          <p:nvPr/>
        </p:nvSpPr>
        <p:spPr>
          <a:xfrm>
            <a:off x="649224" y="200253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If you are buying a car</a:t>
            </a:r>
            <a:endParaRPr lang="en-US" sz="1100" dirty="0"/>
          </a:p>
        </p:txBody>
      </p:sp>
      <p:sp>
        <p:nvSpPr>
          <p:cNvPr id="6" name="Text 4"/>
          <p:cNvSpPr/>
          <p:nvPr/>
        </p:nvSpPr>
        <p:spPr>
          <a:xfrm>
            <a:off x="649224"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Compare a petrol car against an electric one over the years you plan to own it. See the year the EV becomes cheaper.</a:t>
            </a:r>
            <a:endParaRPr lang="en-US" sz="1050" dirty="0"/>
          </a:p>
        </p:txBody>
      </p:sp>
      <p:sp>
        <p:nvSpPr>
          <p:cNvPr id="7" name="Shape 5"/>
          <p:cNvSpPr/>
          <p:nvPr/>
        </p:nvSpPr>
        <p:spPr>
          <a:xfrm>
            <a:off x="4285488" y="1874520"/>
            <a:ext cx="3617976" cy="1371600"/>
          </a:xfrm>
          <a:prstGeom prst="roundRect">
            <a:avLst>
              <a:gd name="adj" fmla="val 4000"/>
            </a:avLst>
          </a:prstGeom>
          <a:solidFill>
            <a:srgbClr val="F1F6F4"/>
          </a:solidFill>
          <a:ln w="12700">
            <a:solidFill>
              <a:srgbClr val="D8E3E0"/>
            </a:solidFill>
            <a:prstDash val="solid"/>
          </a:ln>
        </p:spPr>
      </p:sp>
      <p:sp>
        <p:nvSpPr>
          <p:cNvPr id="8" name="Text 6"/>
          <p:cNvSpPr/>
          <p:nvPr/>
        </p:nvSpPr>
        <p:spPr>
          <a:xfrm>
            <a:off x="4431792" y="200253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If you drive a taxi</a:t>
            </a:r>
            <a:endParaRPr lang="en-US" sz="1100" dirty="0"/>
          </a:p>
        </p:txBody>
      </p:sp>
      <p:sp>
        <p:nvSpPr>
          <p:cNvPr id="9" name="Text 7"/>
          <p:cNvSpPr/>
          <p:nvPr/>
        </p:nvSpPr>
        <p:spPr>
          <a:xfrm>
            <a:off x="4431792"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Work out daily takings after fuel or charging, maintenance and loan payments, for up to twelve vehicles at once.</a:t>
            </a:r>
            <a:endParaRPr lang="en-US" sz="1050" dirty="0"/>
          </a:p>
        </p:txBody>
      </p:sp>
      <p:sp>
        <p:nvSpPr>
          <p:cNvPr id="10" name="Shape 8"/>
          <p:cNvSpPr/>
          <p:nvPr/>
        </p:nvSpPr>
        <p:spPr>
          <a:xfrm>
            <a:off x="8068056" y="1874520"/>
            <a:ext cx="3617976" cy="1371600"/>
          </a:xfrm>
          <a:prstGeom prst="roundRect">
            <a:avLst>
              <a:gd name="adj" fmla="val 4000"/>
            </a:avLst>
          </a:prstGeom>
          <a:solidFill>
            <a:srgbClr val="F1F6F4"/>
          </a:solidFill>
          <a:ln w="12700">
            <a:solidFill>
              <a:srgbClr val="D8E3E0"/>
            </a:solidFill>
            <a:prstDash val="solid"/>
          </a:ln>
        </p:spPr>
      </p:sp>
      <p:sp>
        <p:nvSpPr>
          <p:cNvPr id="11" name="Text 9"/>
          <p:cNvSpPr/>
          <p:nvPr/>
        </p:nvSpPr>
        <p:spPr>
          <a:xfrm>
            <a:off x="8214360" y="200253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If you work in policy</a:t>
            </a:r>
            <a:endParaRPr lang="en-US" sz="1100" dirty="0"/>
          </a:p>
        </p:txBody>
      </p:sp>
      <p:sp>
        <p:nvSpPr>
          <p:cNvPr id="12" name="Text 10"/>
          <p:cNvSpPr/>
          <p:nvPr/>
        </p:nvSpPr>
        <p:spPr>
          <a:xfrm>
            <a:off x="8214360"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Track national 2030 targets, compare Jamaica with the wider Caribbean, and model fleet-wide emissions.</a:t>
            </a:r>
            <a:endParaRPr lang="en-US" sz="1050" dirty="0"/>
          </a:p>
        </p:txBody>
      </p:sp>
      <p:sp>
        <p:nvSpPr>
          <p:cNvPr id="13" name="Text 11"/>
          <p:cNvSpPr/>
          <p:nvPr/>
        </p:nvSpPr>
        <p:spPr>
          <a:xfrm>
            <a:off x="502920" y="3493008"/>
            <a:ext cx="5486400" cy="320040"/>
          </a:xfrm>
          <a:prstGeom prst="rect">
            <a:avLst/>
          </a:prstGeom>
          <a:noFill/>
          <a:ln/>
        </p:spPr>
        <p:txBody>
          <a:bodyPr wrap="square" lIns="0" tIns="0" rIns="0" bIns="0" rtlCol="0" anchor="ctr"/>
          <a:lstStyle/>
          <a:p>
            <a:pPr indent="0" marL="0">
              <a:buNone/>
            </a:pPr>
            <a:r>
              <a:rPr lang="en-US" sz="1700" b="1" dirty="0">
                <a:solidFill>
                  <a:srgbClr val="0E2A24"/>
                </a:solidFill>
                <a:latin typeface="Cambria" pitchFamily="34" charset="0"/>
                <a:ea typeface="Cambria" pitchFamily="34" charset="-122"/>
                <a:cs typeface="Cambria" pitchFamily="34" charset="-120"/>
              </a:rPr>
              <a:t>How the pages are ordered</a:t>
            </a:r>
            <a:endParaRPr lang="en-US" sz="1700" dirty="0"/>
          </a:p>
        </p:txBody>
      </p:sp>
      <p:sp>
        <p:nvSpPr>
          <p:cNvPr id="14" name="Shape 12"/>
          <p:cNvSpPr/>
          <p:nvPr/>
        </p:nvSpPr>
        <p:spPr>
          <a:xfrm>
            <a:off x="502920" y="3950208"/>
            <a:ext cx="292608" cy="292608"/>
          </a:xfrm>
          <a:prstGeom prst="ellipse">
            <a:avLst/>
          </a:prstGeom>
          <a:solidFill>
            <a:srgbClr val="1A9E75"/>
          </a:solidFill>
          <a:ln w="12700">
            <a:solidFill>
              <a:srgbClr val="1A9E75"/>
            </a:solidFill>
            <a:prstDash val="solid"/>
          </a:ln>
        </p:spPr>
      </p:sp>
      <p:sp>
        <p:nvSpPr>
          <p:cNvPr id="15" name="Text 13"/>
          <p:cNvSpPr/>
          <p:nvPr/>
        </p:nvSpPr>
        <p:spPr>
          <a:xfrm>
            <a:off x="502920" y="3950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905256" y="3913632"/>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Fiscal Policy &amp; Duty Tracker   </a:t>
            </a:r>
            <a:pPr indent="0" marL="0">
              <a:buNone/>
            </a:pPr>
            <a:r>
              <a:rPr lang="en-US" sz="1150" dirty="0">
                <a:solidFill>
                  <a:srgbClr val="6B7A77"/>
                </a:solidFill>
                <a:latin typeface="Calibri" pitchFamily="34" charset="0"/>
                <a:ea typeface="Calibri" pitchFamily="34" charset="-122"/>
                <a:cs typeface="Calibri" pitchFamily="34" charset="-120"/>
              </a:rPr>
              <a:t>Where national policy stands</a:t>
            </a:r>
            <a:endParaRPr lang="en-US" sz="1150" dirty="0"/>
          </a:p>
        </p:txBody>
      </p:sp>
      <p:sp>
        <p:nvSpPr>
          <p:cNvPr id="17" name="Shape 15"/>
          <p:cNvSpPr/>
          <p:nvPr/>
        </p:nvSpPr>
        <p:spPr>
          <a:xfrm>
            <a:off x="6172200" y="3950208"/>
            <a:ext cx="292608" cy="292608"/>
          </a:xfrm>
          <a:prstGeom prst="ellipse">
            <a:avLst/>
          </a:prstGeom>
          <a:solidFill>
            <a:srgbClr val="1A9E75"/>
          </a:solidFill>
          <a:ln w="12700">
            <a:solidFill>
              <a:srgbClr val="1A9E75"/>
            </a:solidFill>
            <a:prstDash val="solid"/>
          </a:ln>
        </p:spPr>
      </p:sp>
      <p:sp>
        <p:nvSpPr>
          <p:cNvPr id="18" name="Text 16"/>
          <p:cNvSpPr/>
          <p:nvPr/>
        </p:nvSpPr>
        <p:spPr>
          <a:xfrm>
            <a:off x="6172200" y="3950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6574536" y="3913632"/>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Caribbean Regional Comparison   </a:t>
            </a:r>
            <a:pPr indent="0" marL="0">
              <a:buNone/>
            </a:pPr>
            <a:r>
              <a:rPr lang="en-US" sz="1150" dirty="0">
                <a:solidFill>
                  <a:srgbClr val="6B7A77"/>
                </a:solidFill>
                <a:latin typeface="Calibri" pitchFamily="34" charset="0"/>
                <a:ea typeface="Calibri" pitchFamily="34" charset="-122"/>
                <a:cs typeface="Calibri" pitchFamily="34" charset="-120"/>
              </a:rPr>
              <a:t>How Jamaica compares to its neighbours</a:t>
            </a:r>
            <a:endParaRPr lang="en-US" sz="1150" dirty="0"/>
          </a:p>
        </p:txBody>
      </p:sp>
      <p:sp>
        <p:nvSpPr>
          <p:cNvPr id="20" name="Shape 18"/>
          <p:cNvSpPr/>
          <p:nvPr/>
        </p:nvSpPr>
        <p:spPr>
          <a:xfrm>
            <a:off x="502920" y="4517136"/>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51713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905256" y="4480560"/>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EV vs. ICE Calculator   </a:t>
            </a:r>
            <a:pPr indent="0" marL="0">
              <a:buNone/>
            </a:pPr>
            <a:r>
              <a:rPr lang="en-US" sz="1150" dirty="0">
                <a:solidFill>
                  <a:srgbClr val="6B7A77"/>
                </a:solidFill>
                <a:latin typeface="Calibri" pitchFamily="34" charset="0"/>
                <a:ea typeface="Calibri" pitchFamily="34" charset="-122"/>
                <a:cs typeface="Calibri" pitchFamily="34" charset="-120"/>
              </a:rPr>
              <a:t>Cost for a private buyer</a:t>
            </a:r>
            <a:endParaRPr lang="en-US" sz="1150" dirty="0"/>
          </a:p>
        </p:txBody>
      </p:sp>
      <p:sp>
        <p:nvSpPr>
          <p:cNvPr id="23" name="Shape 21"/>
          <p:cNvSpPr/>
          <p:nvPr/>
        </p:nvSpPr>
        <p:spPr>
          <a:xfrm>
            <a:off x="6172200" y="4517136"/>
            <a:ext cx="292608" cy="292608"/>
          </a:xfrm>
          <a:prstGeom prst="ellipse">
            <a:avLst/>
          </a:prstGeom>
          <a:solidFill>
            <a:srgbClr val="1A7A6E"/>
          </a:solidFill>
          <a:ln w="12700">
            <a:solidFill>
              <a:srgbClr val="1A7A6E"/>
            </a:solidFill>
            <a:prstDash val="solid"/>
          </a:ln>
        </p:spPr>
      </p:sp>
      <p:sp>
        <p:nvSpPr>
          <p:cNvPr id="24" name="Text 22"/>
          <p:cNvSpPr/>
          <p:nvPr/>
        </p:nvSpPr>
        <p:spPr>
          <a:xfrm>
            <a:off x="6172200" y="451713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5" name="Text 23"/>
          <p:cNvSpPr/>
          <p:nvPr/>
        </p:nvSpPr>
        <p:spPr>
          <a:xfrm>
            <a:off x="6574536" y="4480560"/>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Taxi Feasibility Tool   </a:t>
            </a:r>
            <a:pPr indent="0" marL="0">
              <a:buNone/>
            </a:pPr>
            <a:r>
              <a:rPr lang="en-US" sz="1150" dirty="0">
                <a:solidFill>
                  <a:srgbClr val="6B7A77"/>
                </a:solidFill>
                <a:latin typeface="Calibri" pitchFamily="34" charset="0"/>
                <a:ea typeface="Calibri" pitchFamily="34" charset="-122"/>
                <a:cs typeface="Calibri" pitchFamily="34" charset="-120"/>
              </a:rPr>
              <a:t>Income for a taxi operator</a:t>
            </a:r>
            <a:endParaRPr lang="en-US" sz="1150" dirty="0"/>
          </a:p>
        </p:txBody>
      </p:sp>
      <p:sp>
        <p:nvSpPr>
          <p:cNvPr id="26" name="Shape 24"/>
          <p:cNvSpPr/>
          <p:nvPr/>
        </p:nvSpPr>
        <p:spPr>
          <a:xfrm>
            <a:off x="502920" y="5084064"/>
            <a:ext cx="292608" cy="292608"/>
          </a:xfrm>
          <a:prstGeom prst="ellipse">
            <a:avLst/>
          </a:prstGeom>
          <a:solidFill>
            <a:srgbClr val="6B7A77"/>
          </a:solidFill>
          <a:ln w="12700">
            <a:solidFill>
              <a:srgbClr val="6B7A77"/>
            </a:solidFill>
            <a:prstDash val="solid"/>
          </a:ln>
        </p:spPr>
      </p:sp>
      <p:sp>
        <p:nvSpPr>
          <p:cNvPr id="27" name="Text 25"/>
          <p:cNvSpPr/>
          <p:nvPr/>
        </p:nvSpPr>
        <p:spPr>
          <a:xfrm>
            <a:off x="502920" y="508406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p:nvPr/>
        </p:nvSpPr>
        <p:spPr>
          <a:xfrm>
            <a:off x="905256" y="5047488"/>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Route Cost Map   </a:t>
            </a:r>
            <a:pPr indent="0" marL="0">
              <a:buNone/>
            </a:pPr>
            <a:r>
              <a:rPr lang="en-US" sz="1150" dirty="0">
                <a:solidFill>
                  <a:srgbClr val="6B7A77"/>
                </a:solidFill>
                <a:latin typeface="Calibri" pitchFamily="34" charset="0"/>
                <a:ea typeface="Calibri" pitchFamily="34" charset="-122"/>
                <a:cs typeface="Calibri" pitchFamily="34" charset="-120"/>
              </a:rPr>
              <a:t>Still being built</a:t>
            </a:r>
            <a:endParaRPr lang="en-US" sz="1150" dirty="0"/>
          </a:p>
        </p:txBody>
      </p:sp>
      <p:sp>
        <p:nvSpPr>
          <p:cNvPr id="29" name="Shape 27"/>
          <p:cNvSpPr/>
          <p:nvPr/>
        </p:nvSpPr>
        <p:spPr>
          <a:xfrm>
            <a:off x="6172200" y="5084064"/>
            <a:ext cx="292608" cy="292608"/>
          </a:xfrm>
          <a:prstGeom prst="ellipse">
            <a:avLst/>
          </a:prstGeom>
          <a:solidFill>
            <a:srgbClr val="1F3864"/>
          </a:solidFill>
          <a:ln w="12700">
            <a:solidFill>
              <a:srgbClr val="1F3864"/>
            </a:solidFill>
            <a:prstDash val="solid"/>
          </a:ln>
        </p:spPr>
      </p:sp>
      <p:sp>
        <p:nvSpPr>
          <p:cNvPr id="30" name="Text 28"/>
          <p:cNvSpPr/>
          <p:nvPr/>
        </p:nvSpPr>
        <p:spPr>
          <a:xfrm>
            <a:off x="6172200" y="508406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1" name="Text 29"/>
          <p:cNvSpPr/>
          <p:nvPr/>
        </p:nvSpPr>
        <p:spPr>
          <a:xfrm>
            <a:off x="6574536" y="5047488"/>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Fleet Penetration Simulator   </a:t>
            </a:r>
            <a:pPr indent="0" marL="0">
              <a:buNone/>
            </a:pPr>
            <a:r>
              <a:rPr lang="en-US" sz="1150" dirty="0">
                <a:solidFill>
                  <a:srgbClr val="6B7A77"/>
                </a:solidFill>
                <a:latin typeface="Calibri" pitchFamily="34" charset="0"/>
                <a:ea typeface="Calibri" pitchFamily="34" charset="-122"/>
                <a:cs typeface="Calibri" pitchFamily="34" charset="-120"/>
              </a:rPr>
              <a:t>National fleet projections</a:t>
            </a:r>
            <a:endParaRPr lang="en-US" sz="1150" dirty="0"/>
          </a:p>
        </p:txBody>
      </p:sp>
      <p:sp>
        <p:nvSpPr>
          <p:cNvPr id="32" name="Shape 30"/>
          <p:cNvSpPr/>
          <p:nvPr/>
        </p:nvSpPr>
        <p:spPr>
          <a:xfrm>
            <a:off x="502920" y="5650992"/>
            <a:ext cx="292608" cy="292608"/>
          </a:xfrm>
          <a:prstGeom prst="ellipse">
            <a:avLst/>
          </a:prstGeom>
          <a:solidFill>
            <a:srgbClr val="1F3864"/>
          </a:solidFill>
          <a:ln w="12700">
            <a:solidFill>
              <a:srgbClr val="1F3864"/>
            </a:solidFill>
            <a:prstDash val="solid"/>
          </a:ln>
        </p:spPr>
      </p:sp>
      <p:sp>
        <p:nvSpPr>
          <p:cNvPr id="33" name="Text 31"/>
          <p:cNvSpPr/>
          <p:nvPr/>
        </p:nvSpPr>
        <p:spPr>
          <a:xfrm>
            <a:off x="502920" y="5650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4" name="Text 32"/>
          <p:cNvSpPr/>
          <p:nvPr/>
        </p:nvSpPr>
        <p:spPr>
          <a:xfrm>
            <a:off x="905256" y="5614416"/>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Emissions Impact Calculator   </a:t>
            </a:r>
            <a:pPr indent="0" marL="0">
              <a:buNone/>
            </a:pPr>
            <a:r>
              <a:rPr lang="en-US" sz="1150" dirty="0">
                <a:solidFill>
                  <a:srgbClr val="6B7A77"/>
                </a:solidFill>
                <a:latin typeface="Calibri" pitchFamily="34" charset="0"/>
                <a:ea typeface="Calibri" pitchFamily="34" charset="-122"/>
                <a:cs typeface="Calibri" pitchFamily="34" charset="-120"/>
              </a:rPr>
              <a:t>CO2 for one vehicle</a:t>
            </a:r>
            <a:endParaRPr lang="en-US" sz="1150" dirty="0"/>
          </a:p>
        </p:txBody>
      </p:sp>
      <p:sp>
        <p:nvSpPr>
          <p:cNvPr id="35" name="Shape 33"/>
          <p:cNvSpPr/>
          <p:nvPr/>
        </p:nvSpPr>
        <p:spPr>
          <a:xfrm>
            <a:off x="6172200" y="5650992"/>
            <a:ext cx="292608" cy="292608"/>
          </a:xfrm>
          <a:prstGeom prst="ellipse">
            <a:avLst/>
          </a:prstGeom>
          <a:solidFill>
            <a:srgbClr val="C55A11"/>
          </a:solidFill>
          <a:ln w="12700">
            <a:solidFill>
              <a:srgbClr val="C55A11"/>
            </a:solidFill>
            <a:prstDash val="solid"/>
          </a:ln>
        </p:spPr>
      </p:sp>
      <p:sp>
        <p:nvSpPr>
          <p:cNvPr id="36" name="Text 34"/>
          <p:cNvSpPr/>
          <p:nvPr/>
        </p:nvSpPr>
        <p:spPr>
          <a:xfrm>
            <a:off x="6172200" y="5650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37" name="Text 35"/>
          <p:cNvSpPr/>
          <p:nvPr/>
        </p:nvSpPr>
        <p:spPr>
          <a:xfrm>
            <a:off x="6574536" y="5614416"/>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Gas &amp; Energy Price Tracker   </a:t>
            </a:r>
            <a:pPr indent="0" marL="0">
              <a:buNone/>
            </a:pPr>
            <a:r>
              <a:rPr lang="en-US" sz="1150" dirty="0">
                <a:solidFill>
                  <a:srgbClr val="6B7A77"/>
                </a:solidFill>
                <a:latin typeface="Calibri" pitchFamily="34" charset="0"/>
                <a:ea typeface="Calibri" pitchFamily="34" charset="-122"/>
                <a:cs typeface="Calibri" pitchFamily="34" charset="-120"/>
              </a:rPr>
              <a:t>Historic fuel prices</a:t>
            </a:r>
            <a:endParaRPr lang="en-US" sz="1150" dirty="0"/>
          </a:p>
        </p:txBody>
      </p:sp>
      <p:sp>
        <p:nvSpPr>
          <p:cNvPr id="38" name="Text 36"/>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Overview</a:t>
            </a:r>
            <a:endParaRPr lang="en-US" sz="900" dirty="0"/>
          </a:p>
        </p:txBody>
      </p:sp>
      <p:sp>
        <p:nvSpPr>
          <p:cNvPr id="39" name="Text 37"/>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Opening the dashboard</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a command prompt</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 Windows press the Start key, type cmd and press Enter.</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Switch on the project environment</a:t>
            </a:r>
            <a:endParaRPr lang="en-US" sz="1300" dirty="0"/>
          </a:p>
        </p:txBody>
      </p:sp>
      <p:sp>
        <p:nvSpPr>
          <p:cNvPr id="11" name="Text 9"/>
          <p:cNvSpPr/>
          <p:nvPr/>
        </p:nvSpPr>
        <p:spPr>
          <a:xfrm>
            <a:off x="932688" y="218084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conda activate EVlab   then press Enter.</a:t>
            </a:r>
            <a:endParaRPr lang="en-US" sz="1150" dirty="0"/>
          </a:p>
        </p:txBody>
      </p:sp>
      <p:sp>
        <p:nvSpPr>
          <p:cNvPr id="12" name="Shape 10"/>
          <p:cNvSpPr/>
          <p:nvPr/>
        </p:nvSpPr>
        <p:spPr>
          <a:xfrm>
            <a:off x="502920" y="2587752"/>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58775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56032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Go to the project folder</a:t>
            </a:r>
            <a:endParaRPr lang="en-US" sz="1300" dirty="0"/>
          </a:p>
        </p:txBody>
      </p:sp>
      <p:sp>
        <p:nvSpPr>
          <p:cNvPr id="15" name="Text 13"/>
          <p:cNvSpPr/>
          <p:nvPr/>
        </p:nvSpPr>
        <p:spPr>
          <a:xfrm>
            <a:off x="932688" y="278892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cd "C:\Users\Andrew Smart\ev-lab-repo"   then press Enter.</a:t>
            </a:r>
            <a:endParaRPr lang="en-US" sz="1150" dirty="0"/>
          </a:p>
        </p:txBody>
      </p:sp>
      <p:sp>
        <p:nvSpPr>
          <p:cNvPr id="16" name="Shape 14"/>
          <p:cNvSpPr/>
          <p:nvPr/>
        </p:nvSpPr>
        <p:spPr>
          <a:xfrm>
            <a:off x="502920" y="3364992"/>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364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3375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Start it</a:t>
            </a:r>
            <a:endParaRPr lang="en-US" sz="1300" dirty="0"/>
          </a:p>
        </p:txBody>
      </p:sp>
      <p:sp>
        <p:nvSpPr>
          <p:cNvPr id="19" name="Text 17"/>
          <p:cNvSpPr/>
          <p:nvPr/>
        </p:nvSpPr>
        <p:spPr>
          <a:xfrm>
            <a:off x="932688" y="35661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python dashboard/app.py   then press Enter. Leave this window open.</a:t>
            </a:r>
            <a:endParaRPr lang="en-US" sz="1150" dirty="0"/>
          </a:p>
        </p:txBody>
      </p:sp>
      <p:sp>
        <p:nvSpPr>
          <p:cNvPr id="20" name="Shape 18"/>
          <p:cNvSpPr/>
          <p:nvPr/>
        </p:nvSpPr>
        <p:spPr>
          <a:xfrm>
            <a:off x="502920" y="4142232"/>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1422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1148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it in your browser</a:t>
            </a:r>
            <a:endParaRPr lang="en-US" sz="1300" dirty="0"/>
          </a:p>
        </p:txBody>
      </p:sp>
      <p:sp>
        <p:nvSpPr>
          <p:cNvPr id="23" name="Text 21"/>
          <p:cNvSpPr/>
          <p:nvPr/>
        </p:nvSpPr>
        <p:spPr>
          <a:xfrm>
            <a:off x="932688" y="434340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Go to  http://127.0.0.1:8050  in Chrome or Edge.</a:t>
            </a:r>
            <a:endParaRPr lang="en-US" sz="1150" dirty="0"/>
          </a:p>
        </p:txBody>
      </p:sp>
      <p:sp>
        <p:nvSpPr>
          <p:cNvPr id="24" name="Shape 22"/>
          <p:cNvSpPr/>
          <p:nvPr/>
        </p:nvSpPr>
        <p:spPr>
          <a:xfrm>
            <a:off x="6355080" y="1371600"/>
            <a:ext cx="5330952" cy="3794760"/>
          </a:xfrm>
          <a:prstGeom prst="roundRect">
            <a:avLst>
              <a:gd name="adj" fmla="val 1446"/>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command prompt after the dashboard has started</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194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line reading 'Dash is running on http://127.0.0.1:8050'</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web address to type into the browser</a:t>
            </a:r>
            <a:endParaRPr lang="en-US" sz="1050" dirty="0"/>
          </a:p>
        </p:txBody>
      </p:sp>
      <p:sp>
        <p:nvSpPr>
          <p:cNvPr id="30" name="Shape 28"/>
          <p:cNvSpPr/>
          <p:nvPr/>
        </p:nvSpPr>
        <p:spPr>
          <a:xfrm>
            <a:off x="502920" y="5440680"/>
            <a:ext cx="11183112" cy="658368"/>
          </a:xfrm>
          <a:prstGeom prst="roundRect">
            <a:avLst>
              <a:gd name="adj" fmla="val 8333"/>
            </a:avLst>
          </a:prstGeom>
          <a:solidFill>
            <a:srgbClr val="F1F6F4"/>
          </a:solidFill>
          <a:ln w="12700">
            <a:solidFill>
              <a:srgbClr val="D8E3E0"/>
            </a:solidFill>
            <a:prstDash val="solid"/>
          </a:ln>
        </p:spPr>
      </p:sp>
      <p:sp>
        <p:nvSpPr>
          <p:cNvPr id="31" name="Shape 29"/>
          <p:cNvSpPr/>
          <p:nvPr/>
        </p:nvSpPr>
        <p:spPr>
          <a:xfrm>
            <a:off x="685800" y="5614416"/>
            <a:ext cx="310896" cy="310896"/>
          </a:xfrm>
          <a:prstGeom prst="ellipse">
            <a:avLst/>
          </a:prstGeom>
          <a:solidFill>
            <a:srgbClr val="1F3864"/>
          </a:solidFill>
          <a:ln w="12700">
            <a:solidFill>
              <a:srgbClr val="1F3864"/>
            </a:solidFill>
            <a:prstDash val="solid"/>
          </a:ln>
        </p:spPr>
      </p:sp>
      <p:sp>
        <p:nvSpPr>
          <p:cNvPr id="32" name="Text 30"/>
          <p:cNvSpPr/>
          <p:nvPr/>
        </p:nvSpPr>
        <p:spPr>
          <a:xfrm>
            <a:off x="685800" y="5614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550408"/>
            <a:ext cx="10424160" cy="457200"/>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To stop it:  </a:t>
            </a:r>
            <a:pPr indent="0" marL="0">
              <a:buNone/>
            </a:pPr>
            <a:r>
              <a:rPr lang="en-US" sz="1100" dirty="0">
                <a:solidFill>
                  <a:srgbClr val="6B7A77"/>
                </a:solidFill>
                <a:latin typeface="Calibri" pitchFamily="34" charset="0"/>
                <a:ea typeface="Calibri" pitchFamily="34" charset="-122"/>
                <a:cs typeface="Calibri" pitchFamily="34" charset="-120"/>
              </a:rPr>
              <a:t>click the command prompt window and press Ctrl + C. Closing the browser alone does not stop it.</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Getting started</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Finding your way around the screen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Every page shares the same three areas. Once you know these, all eight modules work the same way.</a:t>
            </a:r>
            <a:endParaRPr lang="en-US" sz="1300" dirty="0"/>
          </a:p>
        </p:txBody>
      </p:sp>
      <p:sp>
        <p:nvSpPr>
          <p:cNvPr id="5" name="Shape 3"/>
          <p:cNvSpPr/>
          <p:nvPr/>
        </p:nvSpPr>
        <p:spPr>
          <a:xfrm>
            <a:off x="502920" y="1664208"/>
            <a:ext cx="3617976" cy="1234440"/>
          </a:xfrm>
          <a:prstGeom prst="roundRect">
            <a:avLst>
              <a:gd name="adj" fmla="val 4444"/>
            </a:avLst>
          </a:prstGeom>
          <a:solidFill>
            <a:srgbClr val="F1F6F4"/>
          </a:solidFill>
          <a:ln w="12700">
            <a:solidFill>
              <a:srgbClr val="D8E3E0"/>
            </a:solidFill>
            <a:prstDash val="solid"/>
          </a:ln>
        </p:spPr>
      </p:sp>
      <p:sp>
        <p:nvSpPr>
          <p:cNvPr id="6" name="Text 4"/>
          <p:cNvSpPr/>
          <p:nvPr/>
        </p:nvSpPr>
        <p:spPr>
          <a:xfrm>
            <a:off x="649224" y="1792224"/>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Left sidebar</a:t>
            </a:r>
            <a:endParaRPr lang="en-US" sz="1100" dirty="0"/>
          </a:p>
        </p:txBody>
      </p:sp>
      <p:sp>
        <p:nvSpPr>
          <p:cNvPr id="7" name="Text 5"/>
          <p:cNvSpPr/>
          <p:nvPr/>
        </p:nvSpPr>
        <p:spPr>
          <a:xfrm>
            <a:off x="649224"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numbered list of pages. Click any name to switch. The page you are on is highlighted.</a:t>
            </a:r>
            <a:endParaRPr lang="en-US" sz="1050" dirty="0"/>
          </a:p>
        </p:txBody>
      </p:sp>
      <p:sp>
        <p:nvSpPr>
          <p:cNvPr id="8" name="Shape 6"/>
          <p:cNvSpPr/>
          <p:nvPr/>
        </p:nvSpPr>
        <p:spPr>
          <a:xfrm>
            <a:off x="4285488" y="1664208"/>
            <a:ext cx="3617976" cy="1234440"/>
          </a:xfrm>
          <a:prstGeom prst="roundRect">
            <a:avLst>
              <a:gd name="adj" fmla="val 4444"/>
            </a:avLst>
          </a:prstGeom>
          <a:solidFill>
            <a:srgbClr val="F1F6F4"/>
          </a:solidFill>
          <a:ln w="12700">
            <a:solidFill>
              <a:srgbClr val="D8E3E0"/>
            </a:solidFill>
            <a:prstDash val="solid"/>
          </a:ln>
        </p:spPr>
      </p:sp>
      <p:sp>
        <p:nvSpPr>
          <p:cNvPr id="9" name="Text 7"/>
          <p:cNvSpPr/>
          <p:nvPr/>
        </p:nvSpPr>
        <p:spPr>
          <a:xfrm>
            <a:off x="4431792" y="1792224"/>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Top of the page</a:t>
            </a:r>
            <a:endParaRPr lang="en-US" sz="1100" dirty="0"/>
          </a:p>
        </p:txBody>
      </p:sp>
      <p:sp>
        <p:nvSpPr>
          <p:cNvPr id="10" name="Text 8"/>
          <p:cNvSpPr/>
          <p:nvPr/>
        </p:nvSpPr>
        <p:spPr>
          <a:xfrm>
            <a:off x="4431792"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page title, and the collapsible Global settings panel that feeds several modules.</a:t>
            </a:r>
            <a:endParaRPr lang="en-US" sz="1050" dirty="0"/>
          </a:p>
        </p:txBody>
      </p:sp>
      <p:sp>
        <p:nvSpPr>
          <p:cNvPr id="11" name="Shape 9"/>
          <p:cNvSpPr/>
          <p:nvPr/>
        </p:nvSpPr>
        <p:spPr>
          <a:xfrm>
            <a:off x="8068056" y="1664208"/>
            <a:ext cx="3617976" cy="1234440"/>
          </a:xfrm>
          <a:prstGeom prst="roundRect">
            <a:avLst>
              <a:gd name="adj" fmla="val 4444"/>
            </a:avLst>
          </a:prstGeom>
          <a:solidFill>
            <a:srgbClr val="F1F6F4"/>
          </a:solidFill>
          <a:ln w="12700">
            <a:solidFill>
              <a:srgbClr val="D8E3E0"/>
            </a:solidFill>
            <a:prstDash val="solid"/>
          </a:ln>
        </p:spPr>
      </p:sp>
      <p:sp>
        <p:nvSpPr>
          <p:cNvPr id="12" name="Text 10"/>
          <p:cNvSpPr/>
          <p:nvPr/>
        </p:nvSpPr>
        <p:spPr>
          <a:xfrm>
            <a:off x="8214360" y="1792224"/>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Main area</a:t>
            </a:r>
            <a:endParaRPr lang="en-US" sz="1100" dirty="0"/>
          </a:p>
        </p:txBody>
      </p:sp>
      <p:sp>
        <p:nvSpPr>
          <p:cNvPr id="13" name="Text 11"/>
          <p:cNvSpPr/>
          <p:nvPr/>
        </p:nvSpPr>
        <p:spPr>
          <a:xfrm>
            <a:off x="8214360"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Controls on the left, results and charts on the right. Results update instantly as you type.</a:t>
            </a:r>
            <a:endParaRPr lang="en-US" sz="1050" dirty="0"/>
          </a:p>
        </p:txBody>
      </p:sp>
      <p:sp>
        <p:nvSpPr>
          <p:cNvPr id="14" name="Shape 12"/>
          <p:cNvSpPr/>
          <p:nvPr/>
        </p:nvSpPr>
        <p:spPr>
          <a:xfrm>
            <a:off x="502920" y="3127248"/>
            <a:ext cx="11183112" cy="2606040"/>
          </a:xfrm>
          <a:prstGeom prst="roundRect">
            <a:avLst>
              <a:gd name="adj" fmla="val 2105"/>
            </a:avLst>
          </a:prstGeom>
          <a:solidFill>
            <a:srgbClr val="FBFDFC"/>
          </a:solidFill>
          <a:ln w="19050">
            <a:solidFill>
              <a:srgbClr val="1A9E75"/>
            </a:solidFill>
            <a:prstDash val="dash"/>
          </a:ln>
        </p:spPr>
      </p:sp>
      <p:sp>
        <p:nvSpPr>
          <p:cNvPr id="15" name="Shape 13"/>
          <p:cNvSpPr/>
          <p:nvPr/>
        </p:nvSpPr>
        <p:spPr>
          <a:xfrm>
            <a:off x="704088" y="3310128"/>
            <a:ext cx="1417320" cy="274320"/>
          </a:xfrm>
          <a:prstGeom prst="roundRect">
            <a:avLst>
              <a:gd name="adj" fmla="val 16667"/>
            </a:avLst>
          </a:prstGeom>
          <a:solidFill>
            <a:srgbClr val="1A9E75"/>
          </a:solidFill>
          <a:ln w="12700">
            <a:solidFill>
              <a:srgbClr val="1A9E75"/>
            </a:solidFill>
            <a:prstDash val="solid"/>
          </a:ln>
        </p:spPr>
      </p:sp>
      <p:sp>
        <p:nvSpPr>
          <p:cNvPr id="16" name="Text 14"/>
          <p:cNvSpPr/>
          <p:nvPr/>
        </p:nvSpPr>
        <p:spPr>
          <a:xfrm>
            <a:off x="704088" y="331012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7" name="Text 15"/>
          <p:cNvSpPr/>
          <p:nvPr/>
        </p:nvSpPr>
        <p:spPr>
          <a:xfrm>
            <a:off x="704088" y="3694176"/>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whole browser window with any module open</a:t>
            </a:r>
            <a:endParaRPr lang="en-US" sz="1250" dirty="0"/>
          </a:p>
        </p:txBody>
      </p:sp>
      <p:sp>
        <p:nvSpPr>
          <p:cNvPr id="18" name="Text 16"/>
          <p:cNvSpPr/>
          <p:nvPr/>
        </p:nvSpPr>
        <p:spPr>
          <a:xfrm>
            <a:off x="704088" y="4315968"/>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19" name="Text 17"/>
          <p:cNvSpPr/>
          <p:nvPr/>
        </p:nvSpPr>
        <p:spPr>
          <a:xfrm>
            <a:off x="777240" y="4553712"/>
            <a:ext cx="10634472" cy="1005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Sidebar on the left, with the current page highlighted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Global settings panel across the top</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Input controls in the left column of the main area</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Charts and result cards in the right column</a:t>
            </a:r>
            <a:endParaRPr lang="en-US" sz="1050" dirty="0"/>
          </a:p>
        </p:txBody>
      </p:sp>
      <p:sp>
        <p:nvSpPr>
          <p:cNvPr id="20" name="Text 1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Getting started</a:t>
            </a:r>
            <a:endParaRPr lang="en-US" sz="900" dirty="0"/>
          </a:p>
        </p:txBody>
      </p:sp>
      <p:sp>
        <p:nvSpPr>
          <p:cNvPr id="21" name="Text 1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HOME PAGE</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The home page</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This is the first screen you see</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It shows one card for each of the eight pages in the dashboard.</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card</a:t>
            </a:r>
            <a:endParaRPr lang="en-US" sz="1300" dirty="0"/>
          </a:p>
        </p:txBody>
      </p:sp>
      <p:sp>
        <p:nvSpPr>
          <p:cNvPr id="11" name="Text 9"/>
          <p:cNvSpPr/>
          <p:nvPr/>
        </p:nvSpPr>
        <p:spPr>
          <a:xfrm>
            <a:off x="932688" y="2350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card gives the page number, its name, and the week it was built.</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Click a card to open that page</a:t>
            </a:r>
            <a:endParaRPr lang="en-US" sz="1300" dirty="0"/>
          </a:p>
        </p:txBody>
      </p:sp>
      <p:sp>
        <p:nvSpPr>
          <p:cNvPr id="15" name="Text 13"/>
          <p:cNvSpPr/>
          <p:nvPr/>
        </p:nvSpPr>
        <p:spPr>
          <a:xfrm>
            <a:off x="932688" y="31272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does exactly the same thing as clicking the name in the left sidebar.</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Faded cards are not finished</a:t>
            </a:r>
            <a:endParaRPr lang="en-US" sz="1300" dirty="0"/>
          </a:p>
        </p:txBody>
      </p:sp>
      <p:sp>
        <p:nvSpPr>
          <p:cNvPr id="19" name="Text 17"/>
          <p:cNvSpPr/>
          <p:nvPr/>
        </p:nvSpPr>
        <p:spPr>
          <a:xfrm>
            <a:off x="932688" y="39044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 card with a dashed border and an 'In development' tag has no content in it yet.</a:t>
            </a:r>
            <a:endParaRPr lang="en-US" sz="1150" dirty="0"/>
          </a:p>
        </p:txBody>
      </p:sp>
      <p:sp>
        <p:nvSpPr>
          <p:cNvPr id="20" name="Shape 18"/>
          <p:cNvSpPr/>
          <p:nvPr/>
        </p:nvSpPr>
        <p:spPr>
          <a:xfrm>
            <a:off x="502920" y="4480560"/>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4805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4531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Getting back here</a:t>
            </a:r>
            <a:endParaRPr lang="en-US" sz="1300" dirty="0"/>
          </a:p>
        </p:txBody>
      </p:sp>
      <p:sp>
        <p:nvSpPr>
          <p:cNvPr id="23" name="Text 21"/>
          <p:cNvSpPr/>
          <p:nvPr/>
        </p:nvSpPr>
        <p:spPr>
          <a:xfrm>
            <a:off x="932688" y="46817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'Home' at the very top of the left sidebar from anywhere.</a:t>
            </a:r>
            <a:endParaRPr lang="en-US" sz="1150" dirty="0"/>
          </a:p>
        </p:txBody>
      </p:sp>
      <p:sp>
        <p:nvSpPr>
          <p:cNvPr id="24" name="Shape 22"/>
          <p:cNvSpPr/>
          <p:nvPr/>
        </p:nvSpPr>
        <p:spPr>
          <a:xfrm>
            <a:off x="6355080" y="1371600"/>
            <a:ext cx="5330952" cy="4023360"/>
          </a:xfrm>
          <a:prstGeom prst="roundRect">
            <a:avLst>
              <a:gd name="adj" fmla="val 1364"/>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home page showing all eight module cards</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423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normal card, for example '3. EV vs. ICE Calculator'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faded card with the 'In development' tag</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Home link at the top of the sidebar</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Home page</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Set your prices once, before anything else</a:t>
            </a:r>
            <a:endParaRPr lang="en-US" sz="3200" dirty="0"/>
          </a:p>
        </p:txBody>
      </p:sp>
      <p:sp>
        <p:nvSpPr>
          <p:cNvPr id="4" name="Text 2"/>
          <p:cNvSpPr/>
          <p:nvPr/>
        </p:nvSpPr>
        <p:spPr>
          <a:xfrm>
            <a:off x="502920" y="1207008"/>
            <a:ext cx="11155680" cy="566928"/>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 Global settings panel sits at the top of the page. What you enter here is used by the calculator, the taxi tool, the emissions page and the fuel tracker. Setting it first means every result you see afterwards reflects real prices you pay.</a:t>
            </a:r>
            <a:endParaRPr lang="en-US" sz="1300" dirty="0"/>
          </a:p>
        </p:txBody>
      </p:sp>
      <p:sp>
        <p:nvSpPr>
          <p:cNvPr id="5" name="Shape 3"/>
          <p:cNvSpPr/>
          <p:nvPr/>
        </p:nvSpPr>
        <p:spPr>
          <a:xfrm>
            <a:off x="502920" y="1874520"/>
            <a:ext cx="2672334" cy="1600200"/>
          </a:xfrm>
          <a:prstGeom prst="roundRect">
            <a:avLst>
              <a:gd name="adj" fmla="val 3429"/>
            </a:avLst>
          </a:prstGeom>
          <a:solidFill>
            <a:srgbClr val="F1F6F4"/>
          </a:solidFill>
          <a:ln w="12700">
            <a:solidFill>
              <a:srgbClr val="D8E3E0"/>
            </a:solidFill>
            <a:prstDash val="solid"/>
          </a:ln>
        </p:spPr>
      </p:sp>
      <p:sp>
        <p:nvSpPr>
          <p:cNvPr id="6" name="Text 4"/>
          <p:cNvSpPr/>
          <p:nvPr/>
        </p:nvSpPr>
        <p:spPr>
          <a:xfrm>
            <a:off x="649224" y="2002536"/>
            <a:ext cx="2379726"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Fuel grade</a:t>
            </a:r>
            <a:endParaRPr lang="en-US" sz="1100" dirty="0"/>
          </a:p>
        </p:txBody>
      </p:sp>
      <p:sp>
        <p:nvSpPr>
          <p:cNvPr id="7" name="Text 5"/>
          <p:cNvSpPr/>
          <p:nvPr/>
        </p:nvSpPr>
        <p:spPr>
          <a:xfrm>
            <a:off x="649224"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Choose 87 or 90 octane. This picks which Petrojam price the dashboard starts from.</a:t>
            </a:r>
            <a:endParaRPr lang="en-US" sz="1050" dirty="0"/>
          </a:p>
        </p:txBody>
      </p:sp>
      <p:sp>
        <p:nvSpPr>
          <p:cNvPr id="8" name="Shape 6"/>
          <p:cNvSpPr/>
          <p:nvPr/>
        </p:nvSpPr>
        <p:spPr>
          <a:xfrm>
            <a:off x="3339846" y="1874520"/>
            <a:ext cx="2672334" cy="1600200"/>
          </a:xfrm>
          <a:prstGeom prst="roundRect">
            <a:avLst>
              <a:gd name="adj" fmla="val 3429"/>
            </a:avLst>
          </a:prstGeom>
          <a:solidFill>
            <a:srgbClr val="F1F6F4"/>
          </a:solidFill>
          <a:ln w="12700">
            <a:solidFill>
              <a:srgbClr val="D8E3E0"/>
            </a:solidFill>
            <a:prstDash val="solid"/>
          </a:ln>
        </p:spPr>
      </p:sp>
      <p:sp>
        <p:nvSpPr>
          <p:cNvPr id="9" name="Text 7"/>
          <p:cNvSpPr/>
          <p:nvPr/>
        </p:nvSpPr>
        <p:spPr>
          <a:xfrm>
            <a:off x="3486150" y="2002536"/>
            <a:ext cx="2379726"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Fuel price you pay</a:t>
            </a:r>
            <a:endParaRPr lang="en-US" sz="1100" dirty="0"/>
          </a:p>
        </p:txBody>
      </p:sp>
      <p:sp>
        <p:nvSpPr>
          <p:cNvPr id="10" name="Text 8"/>
          <p:cNvSpPr/>
          <p:nvPr/>
        </p:nvSpPr>
        <p:spPr>
          <a:xfrm>
            <a:off x="3486150"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Type the price from the pump at your own station. This is the first box and the most important one.</a:t>
            </a:r>
            <a:endParaRPr lang="en-US" sz="1050" dirty="0"/>
          </a:p>
        </p:txBody>
      </p:sp>
      <p:sp>
        <p:nvSpPr>
          <p:cNvPr id="11" name="Shape 9"/>
          <p:cNvSpPr/>
          <p:nvPr/>
        </p:nvSpPr>
        <p:spPr>
          <a:xfrm>
            <a:off x="6176772" y="1874520"/>
            <a:ext cx="2672334" cy="1600200"/>
          </a:xfrm>
          <a:prstGeom prst="roundRect">
            <a:avLst>
              <a:gd name="adj" fmla="val 3429"/>
            </a:avLst>
          </a:prstGeom>
          <a:solidFill>
            <a:srgbClr val="F1F6F4"/>
          </a:solidFill>
          <a:ln w="12700">
            <a:solidFill>
              <a:srgbClr val="D8E3E0"/>
            </a:solidFill>
            <a:prstDash val="solid"/>
          </a:ln>
        </p:spPr>
      </p:sp>
      <p:sp>
        <p:nvSpPr>
          <p:cNvPr id="12" name="Text 10"/>
          <p:cNvSpPr/>
          <p:nvPr/>
        </p:nvSpPr>
        <p:spPr>
          <a:xfrm>
            <a:off x="6323076" y="2002536"/>
            <a:ext cx="2379726"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Home charging</a:t>
            </a:r>
            <a:endParaRPr lang="en-US" sz="1100" dirty="0"/>
          </a:p>
        </p:txBody>
      </p:sp>
      <p:sp>
        <p:nvSpPr>
          <p:cNvPr id="13" name="Text 11"/>
          <p:cNvSpPr/>
          <p:nvPr/>
        </p:nvSpPr>
        <p:spPr>
          <a:xfrm>
            <a:off x="6323076"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Your JPS residential rate per kWh, from a recent bill. This is charging in your own yard.</a:t>
            </a:r>
            <a:endParaRPr lang="en-US" sz="1050" dirty="0"/>
          </a:p>
        </p:txBody>
      </p:sp>
      <p:sp>
        <p:nvSpPr>
          <p:cNvPr id="14" name="Shape 12"/>
          <p:cNvSpPr/>
          <p:nvPr/>
        </p:nvSpPr>
        <p:spPr>
          <a:xfrm>
            <a:off x="9013698" y="1874520"/>
            <a:ext cx="2672334" cy="1600200"/>
          </a:xfrm>
          <a:prstGeom prst="roundRect">
            <a:avLst>
              <a:gd name="adj" fmla="val 3429"/>
            </a:avLst>
          </a:prstGeom>
          <a:solidFill>
            <a:srgbClr val="F1F6F4"/>
          </a:solidFill>
          <a:ln w="12700">
            <a:solidFill>
              <a:srgbClr val="D8E3E0"/>
            </a:solidFill>
            <a:prstDash val="solid"/>
          </a:ln>
        </p:spPr>
      </p:sp>
      <p:sp>
        <p:nvSpPr>
          <p:cNvPr id="15" name="Text 13"/>
          <p:cNvSpPr/>
          <p:nvPr/>
        </p:nvSpPr>
        <p:spPr>
          <a:xfrm>
            <a:off x="9160002" y="2002536"/>
            <a:ext cx="2379726"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Public charging network</a:t>
            </a:r>
            <a:endParaRPr lang="en-US" sz="1100" dirty="0"/>
          </a:p>
        </p:txBody>
      </p:sp>
      <p:sp>
        <p:nvSpPr>
          <p:cNvPr id="16" name="Text 14"/>
          <p:cNvSpPr/>
          <p:nvPr/>
        </p:nvSpPr>
        <p:spPr>
          <a:xfrm>
            <a:off x="9160002"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Pick which public network you use. The price differs a lot between them, and by time of day.</a:t>
            </a:r>
            <a:endParaRPr lang="en-US" sz="1050" dirty="0"/>
          </a:p>
        </p:txBody>
      </p:sp>
      <p:sp>
        <p:nvSpPr>
          <p:cNvPr id="17" name="Shape 15"/>
          <p:cNvSpPr/>
          <p:nvPr/>
        </p:nvSpPr>
        <p:spPr>
          <a:xfrm>
            <a:off x="502920" y="3703320"/>
            <a:ext cx="11183112" cy="2011680"/>
          </a:xfrm>
          <a:prstGeom prst="roundRect">
            <a:avLst>
              <a:gd name="adj" fmla="val 2727"/>
            </a:avLst>
          </a:prstGeom>
          <a:solidFill>
            <a:srgbClr val="FBFDFC"/>
          </a:solidFill>
          <a:ln w="19050">
            <a:solidFill>
              <a:srgbClr val="1A9E75"/>
            </a:solidFill>
            <a:prstDash val="dash"/>
          </a:ln>
        </p:spPr>
      </p:sp>
      <p:sp>
        <p:nvSpPr>
          <p:cNvPr id="18" name="Shape 16"/>
          <p:cNvSpPr/>
          <p:nvPr/>
        </p:nvSpPr>
        <p:spPr>
          <a:xfrm>
            <a:off x="704088" y="3886200"/>
            <a:ext cx="1417320" cy="274320"/>
          </a:xfrm>
          <a:prstGeom prst="roundRect">
            <a:avLst>
              <a:gd name="adj" fmla="val 16667"/>
            </a:avLst>
          </a:prstGeom>
          <a:solidFill>
            <a:srgbClr val="1A9E75"/>
          </a:solidFill>
          <a:ln w="12700">
            <a:solidFill>
              <a:srgbClr val="1A9E75"/>
            </a:solidFill>
            <a:prstDash val="solid"/>
          </a:ln>
        </p:spPr>
      </p:sp>
      <p:sp>
        <p:nvSpPr>
          <p:cNvPr id="19" name="Text 17"/>
          <p:cNvSpPr/>
          <p:nvPr/>
        </p:nvSpPr>
        <p:spPr>
          <a:xfrm>
            <a:off x="704088" y="388620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0" name="Text 18"/>
          <p:cNvSpPr/>
          <p:nvPr/>
        </p:nvSpPr>
        <p:spPr>
          <a:xfrm>
            <a:off x="704088" y="4270248"/>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Global settings panel, expanded</a:t>
            </a:r>
            <a:endParaRPr lang="en-US" sz="1250" dirty="0"/>
          </a:p>
        </p:txBody>
      </p:sp>
      <p:sp>
        <p:nvSpPr>
          <p:cNvPr id="21" name="Text 19"/>
          <p:cNvSpPr/>
          <p:nvPr/>
        </p:nvSpPr>
        <p:spPr>
          <a:xfrm>
            <a:off x="704088" y="4892040"/>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2" name="Text 20"/>
          <p:cNvSpPr/>
          <p:nvPr/>
        </p:nvSpPr>
        <p:spPr>
          <a:xfrm>
            <a:off x="777240" y="5129784"/>
            <a:ext cx="10634472" cy="4114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grade dropdown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price you pay' box, and the effective price shown under it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collapsed 'Other price sources (field survey)' section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Home charging and Public charging network controls</a:t>
            </a:r>
            <a:endParaRPr lang="en-US" sz="1050" dirty="0"/>
          </a:p>
        </p:txBody>
      </p:sp>
      <p:sp>
        <p:nvSpPr>
          <p:cNvPr id="23" name="Text 21"/>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24" name="Text 22"/>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Filling in Global settings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the panel</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words 'Global settings' at the top of the page to expand it.</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your fuel grade</a:t>
            </a:r>
            <a:endParaRPr lang="en-US" sz="1300" dirty="0"/>
          </a:p>
        </p:txBody>
      </p:sp>
      <p:sp>
        <p:nvSpPr>
          <p:cNvPr id="11" name="Text 9"/>
          <p:cNvSpPr/>
          <p:nvPr/>
        </p:nvSpPr>
        <p:spPr>
          <a:xfrm>
            <a:off x="932688" y="235000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Choose the grade you actually put in your car, 87 or 90.</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Type the fuel price you pay</a:t>
            </a:r>
            <a:endParaRPr lang="en-US" sz="1300" dirty="0"/>
          </a:p>
        </p:txBody>
      </p:sp>
      <p:sp>
        <p:nvSpPr>
          <p:cNvPr id="15" name="Text 13"/>
          <p:cNvSpPr/>
          <p:nvPr/>
        </p:nvSpPr>
        <p:spPr>
          <a:xfrm>
            <a:off x="932688" y="2958084"/>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Read it off the pump at your usual station and enter it. Until you do, the dashboard uses a Kingston survey average and tells you it is doing so.</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home electricity rate</a:t>
            </a:r>
            <a:endParaRPr lang="en-US" sz="1300" dirty="0"/>
          </a:p>
        </p:txBody>
      </p:sp>
      <p:sp>
        <p:nvSpPr>
          <p:cNvPr id="19" name="Text 17"/>
          <p:cNvSpPr/>
          <p:nvPr/>
        </p:nvSpPr>
        <p:spPr>
          <a:xfrm>
            <a:off x="932688" y="39044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J$ per kWh, from a recent JPS bill. This is charging at your own premises.</a:t>
            </a:r>
            <a:endParaRPr lang="en-US" sz="1150" dirty="0"/>
          </a:p>
        </p:txBody>
      </p:sp>
      <p:sp>
        <p:nvSpPr>
          <p:cNvPr id="20" name="Shape 18"/>
          <p:cNvSpPr/>
          <p:nvPr/>
        </p:nvSpPr>
        <p:spPr>
          <a:xfrm>
            <a:off x="502920" y="4480560"/>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4805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4531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your public charging network</a:t>
            </a:r>
            <a:endParaRPr lang="en-US" sz="1300" dirty="0"/>
          </a:p>
        </p:txBody>
      </p:sp>
      <p:sp>
        <p:nvSpPr>
          <p:cNvPr id="23" name="Text 21"/>
          <p:cNvSpPr/>
          <p:nvPr/>
        </p:nvSpPr>
        <p:spPr>
          <a:xfrm>
            <a:off x="932688" y="46817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Evergo, or JPS Charge 'n Go at one of its three times of day. The rate box below updates and renames itself to match.</a:t>
            </a:r>
            <a:endParaRPr lang="en-US" sz="1150" dirty="0"/>
          </a:p>
        </p:txBody>
      </p:sp>
      <p:sp>
        <p:nvSpPr>
          <p:cNvPr id="24" name="Shape 22"/>
          <p:cNvSpPr/>
          <p:nvPr/>
        </p:nvSpPr>
        <p:spPr>
          <a:xfrm>
            <a:off x="6355080" y="1371600"/>
            <a:ext cx="5330952" cy="3657600"/>
          </a:xfrm>
          <a:prstGeom prst="roundRect">
            <a:avLst>
              <a:gd name="adj" fmla="val 1500"/>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Close-up of the price fields with values filled in</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057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price you pay' box</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effective price line underneath it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network dropdown and the rate box that renames itself</a:t>
            </a:r>
            <a:endParaRPr lang="en-US" sz="1050" dirty="0"/>
          </a:p>
        </p:txBody>
      </p:sp>
      <p:sp>
        <p:nvSpPr>
          <p:cNvPr id="30" name="Shape 28"/>
          <p:cNvSpPr/>
          <p:nvPr/>
        </p:nvSpPr>
        <p:spPr>
          <a:xfrm>
            <a:off x="502920" y="5193792"/>
            <a:ext cx="11183112" cy="658368"/>
          </a:xfrm>
          <a:prstGeom prst="roundRect">
            <a:avLst>
              <a:gd name="adj" fmla="val 8333"/>
            </a:avLst>
          </a:prstGeom>
          <a:solidFill>
            <a:srgbClr val="F1F6F4"/>
          </a:solidFill>
          <a:ln w="12700">
            <a:solidFill>
              <a:srgbClr val="D8E3E0"/>
            </a:solidFill>
            <a:prstDash val="solid"/>
          </a:ln>
        </p:spPr>
      </p:sp>
      <p:sp>
        <p:nvSpPr>
          <p:cNvPr id="31" name="Shape 29"/>
          <p:cNvSpPr/>
          <p:nvPr/>
        </p:nvSpPr>
        <p:spPr>
          <a:xfrm>
            <a:off x="685800" y="5367528"/>
            <a:ext cx="310896" cy="310896"/>
          </a:xfrm>
          <a:prstGeom prst="ellipse">
            <a:avLst/>
          </a:prstGeom>
          <a:solidFill>
            <a:srgbClr val="1A9E75"/>
          </a:solidFill>
          <a:ln w="12700">
            <a:solidFill>
              <a:srgbClr val="1A9E75"/>
            </a:solidFill>
            <a:prstDash val="solid"/>
          </a:ln>
        </p:spPr>
      </p:sp>
      <p:sp>
        <p:nvSpPr>
          <p:cNvPr id="32" name="Text 30"/>
          <p:cNvSpPr/>
          <p:nvPr/>
        </p:nvSpPr>
        <p:spPr>
          <a:xfrm>
            <a:off x="685800" y="5367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303520"/>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Don't want to type a fuel price?  </a:t>
            </a:r>
            <a:pPr indent="0" marL="0">
              <a:buNone/>
            </a:pPr>
            <a:r>
              <a:rPr lang="en-US" sz="1100" dirty="0">
                <a:solidFill>
                  <a:srgbClr val="6B7A77"/>
                </a:solidFill>
                <a:latin typeface="Calibri" pitchFamily="34" charset="0"/>
                <a:ea typeface="Calibri" pitchFamily="34" charset="-122"/>
                <a:cs typeface="Calibri" pitchFamily="34" charset="-120"/>
              </a:rPr>
              <a:t>Open 'Other price sources (field survey)' to pick a surveyed Kingston station or the island average instead.</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Where and when you charge changes the price a lot</a:t>
            </a:r>
            <a:endParaRPr lang="en-US" sz="3200" dirty="0"/>
          </a:p>
        </p:txBody>
      </p:sp>
      <p:sp>
        <p:nvSpPr>
          <p:cNvPr id="4" name="Text 2"/>
          <p:cNvSpPr/>
          <p:nvPr/>
        </p:nvSpPr>
        <p:spPr>
          <a:xfrm>
            <a:off x="502920" y="1207008"/>
            <a:ext cx="11155680" cy="5486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Jamaica has two public charging networks and they price very differently. Evergo charges the same amount at any hour. JPS Charge 'n Go changes its price through the day. This one choice moves the results more than almost anything else in the dashboard.</a:t>
            </a:r>
            <a:endParaRPr lang="en-US" sz="1300" dirty="0"/>
          </a:p>
        </p:txBody>
      </p:sp>
      <p:sp>
        <p:nvSpPr>
          <p:cNvPr id="5" name="Shape 3"/>
          <p:cNvSpPr/>
          <p:nvPr/>
        </p:nvSpPr>
        <p:spPr>
          <a:xfrm>
            <a:off x="502920" y="1920240"/>
            <a:ext cx="11183112" cy="621792"/>
          </a:xfrm>
          <a:prstGeom prst="roundRect">
            <a:avLst>
              <a:gd name="adj" fmla="val 8824"/>
            </a:avLst>
          </a:prstGeom>
          <a:solidFill>
            <a:srgbClr val="F1F6F4"/>
          </a:solidFill>
          <a:ln w="12700">
            <a:solidFill>
              <a:srgbClr val="D8E3E0"/>
            </a:solidFill>
            <a:prstDash val="solid"/>
          </a:ln>
        </p:spPr>
      </p:sp>
      <p:sp>
        <p:nvSpPr>
          <p:cNvPr id="6" name="Text 4"/>
          <p:cNvSpPr/>
          <p:nvPr/>
        </p:nvSpPr>
        <p:spPr>
          <a:xfrm>
            <a:off x="731520" y="1975104"/>
            <a:ext cx="2468880" cy="256032"/>
          </a:xfrm>
          <a:prstGeom prst="rect">
            <a:avLst/>
          </a:prstGeom>
          <a:noFill/>
          <a:ln/>
        </p:spPr>
        <p:txBody>
          <a:bodyPr wrap="square" lIns="0" tIns="0" rIns="0" bIns="0" rtlCol="0" anchor="ctr"/>
          <a:lstStyle/>
          <a:p>
            <a:pPr indent="0" marL="0">
              <a:buNone/>
            </a:pPr>
            <a:r>
              <a:rPr lang="en-US" sz="1400" b="1" dirty="0">
                <a:solidFill>
                  <a:srgbClr val="1A9E75"/>
                </a:solidFill>
                <a:latin typeface="Calibri" pitchFamily="34" charset="0"/>
                <a:ea typeface="Calibri" pitchFamily="34" charset="-122"/>
                <a:cs typeface="Calibri" pitchFamily="34" charset="-120"/>
              </a:rPr>
              <a:t>Home</a:t>
            </a:r>
            <a:endParaRPr lang="en-US" sz="1400" dirty="0"/>
          </a:p>
        </p:txBody>
      </p:sp>
      <p:sp>
        <p:nvSpPr>
          <p:cNvPr id="7" name="Text 5"/>
          <p:cNvSpPr/>
          <p:nvPr/>
        </p:nvSpPr>
        <p:spPr>
          <a:xfrm>
            <a:off x="731520" y="2231136"/>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JPS residential, your own yard</a:t>
            </a:r>
            <a:endParaRPr lang="en-US" sz="1100" dirty="0"/>
          </a:p>
        </p:txBody>
      </p:sp>
      <p:sp>
        <p:nvSpPr>
          <p:cNvPr id="8" name="Text 6"/>
          <p:cNvSpPr/>
          <p:nvPr/>
        </p:nvSpPr>
        <p:spPr>
          <a:xfrm>
            <a:off x="6035040" y="2048256"/>
            <a:ext cx="1828800" cy="365760"/>
          </a:xfrm>
          <a:prstGeom prst="rect">
            <a:avLst/>
          </a:prstGeom>
          <a:noFill/>
          <a:ln/>
        </p:spPr>
        <p:txBody>
          <a:bodyPr wrap="square" lIns="0" tIns="0" rIns="0" bIns="0" rtlCol="0" anchor="ctr"/>
          <a:lstStyle/>
          <a:p>
            <a:pPr algn="r" indent="0" marL="0">
              <a:buNone/>
            </a:pPr>
            <a:r>
              <a:rPr lang="en-US" sz="1900" b="1" dirty="0">
                <a:solidFill>
                  <a:srgbClr val="1A9E75"/>
                </a:solidFill>
                <a:latin typeface="Calibri" pitchFamily="34" charset="0"/>
                <a:ea typeface="Calibri" pitchFamily="34" charset="-122"/>
                <a:cs typeface="Calibri" pitchFamily="34" charset="-120"/>
              </a:rPr>
              <a:t>J$42</a:t>
            </a:r>
            <a:endParaRPr lang="en-US" sz="1900" dirty="0"/>
          </a:p>
        </p:txBody>
      </p:sp>
      <p:sp>
        <p:nvSpPr>
          <p:cNvPr id="9" name="Text 7"/>
          <p:cNvSpPr/>
          <p:nvPr/>
        </p:nvSpPr>
        <p:spPr>
          <a:xfrm>
            <a:off x="7955280" y="2139696"/>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10" name="Text 8"/>
          <p:cNvSpPr/>
          <p:nvPr/>
        </p:nvSpPr>
        <p:spPr>
          <a:xfrm>
            <a:off x="9144000" y="2103120"/>
            <a:ext cx="2377440" cy="256032"/>
          </a:xfrm>
          <a:prstGeom prst="rect">
            <a:avLst/>
          </a:prstGeom>
          <a:noFill/>
          <a:ln/>
        </p:spPr>
        <p:txBody>
          <a:bodyPr wrap="square" lIns="0" tIns="0" rIns="0" bIns="0" rtlCol="0" anchor="ctr"/>
          <a:lstStyle/>
          <a:p>
            <a:pPr algn="r" indent="0" marL="0">
              <a:buNone/>
            </a:pPr>
            <a:r>
              <a:rPr lang="en-US" sz="1100" i="1" dirty="0">
                <a:solidFill>
                  <a:srgbClr val="1A9E75"/>
                </a:solidFill>
                <a:latin typeface="Calibri" pitchFamily="34" charset="0"/>
                <a:ea typeface="Calibri" pitchFamily="34" charset="-122"/>
                <a:cs typeface="Calibri" pitchFamily="34" charset="-120"/>
              </a:rPr>
              <a:t>Cheapest of all</a:t>
            </a:r>
            <a:endParaRPr lang="en-US" sz="1100" dirty="0"/>
          </a:p>
        </p:txBody>
      </p:sp>
      <p:sp>
        <p:nvSpPr>
          <p:cNvPr id="11" name="Shape 9"/>
          <p:cNvSpPr/>
          <p:nvPr/>
        </p:nvSpPr>
        <p:spPr>
          <a:xfrm>
            <a:off x="502920" y="2633472"/>
            <a:ext cx="11183112" cy="621792"/>
          </a:xfrm>
          <a:prstGeom prst="roundRect">
            <a:avLst>
              <a:gd name="adj" fmla="val 8824"/>
            </a:avLst>
          </a:prstGeom>
          <a:solidFill>
            <a:srgbClr val="F1F6F4"/>
          </a:solidFill>
          <a:ln w="12700">
            <a:solidFill>
              <a:srgbClr val="D8E3E0"/>
            </a:solidFill>
            <a:prstDash val="solid"/>
          </a:ln>
        </p:spPr>
      </p:sp>
      <p:sp>
        <p:nvSpPr>
          <p:cNvPr id="12" name="Text 10"/>
          <p:cNvSpPr/>
          <p:nvPr/>
        </p:nvSpPr>
        <p:spPr>
          <a:xfrm>
            <a:off x="731520" y="2688336"/>
            <a:ext cx="2468880" cy="256032"/>
          </a:xfrm>
          <a:prstGeom prst="rect">
            <a:avLst/>
          </a:prstGeom>
          <a:noFill/>
          <a:ln/>
        </p:spPr>
        <p:txBody>
          <a:bodyPr wrap="square" lIns="0" tIns="0" rIns="0" bIns="0" rtlCol="0" anchor="ctr"/>
          <a:lstStyle/>
          <a:p>
            <a:pPr indent="0" marL="0">
              <a:buNone/>
            </a:pPr>
            <a:r>
              <a:rPr lang="en-US" sz="1400" b="1" dirty="0">
                <a:solidFill>
                  <a:srgbClr val="1A9E75"/>
                </a:solidFill>
                <a:latin typeface="Calibri" pitchFamily="34" charset="0"/>
                <a:ea typeface="Calibri" pitchFamily="34" charset="-122"/>
                <a:cs typeface="Calibri" pitchFamily="34" charset="-120"/>
              </a:rPr>
              <a:t>JPS overnight</a:t>
            </a:r>
            <a:endParaRPr lang="en-US" sz="1400" dirty="0"/>
          </a:p>
        </p:txBody>
      </p:sp>
      <p:sp>
        <p:nvSpPr>
          <p:cNvPr id="13" name="Text 11"/>
          <p:cNvSpPr/>
          <p:nvPr/>
        </p:nvSpPr>
        <p:spPr>
          <a:xfrm>
            <a:off x="731520" y="2944368"/>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Weeknights 10pm to 6am, most of the weekend</a:t>
            </a:r>
            <a:endParaRPr lang="en-US" sz="1100" dirty="0"/>
          </a:p>
        </p:txBody>
      </p:sp>
      <p:sp>
        <p:nvSpPr>
          <p:cNvPr id="14" name="Text 12"/>
          <p:cNvSpPr/>
          <p:nvPr/>
        </p:nvSpPr>
        <p:spPr>
          <a:xfrm>
            <a:off x="6035040" y="2761488"/>
            <a:ext cx="1828800" cy="365760"/>
          </a:xfrm>
          <a:prstGeom prst="rect">
            <a:avLst/>
          </a:prstGeom>
          <a:noFill/>
          <a:ln/>
        </p:spPr>
        <p:txBody>
          <a:bodyPr wrap="square" lIns="0" tIns="0" rIns="0" bIns="0" rtlCol="0" anchor="ctr"/>
          <a:lstStyle/>
          <a:p>
            <a:pPr algn="r" indent="0" marL="0">
              <a:buNone/>
            </a:pPr>
            <a:r>
              <a:rPr lang="en-US" sz="1900" b="1" dirty="0">
                <a:solidFill>
                  <a:srgbClr val="1A9E75"/>
                </a:solidFill>
                <a:latin typeface="Calibri" pitchFamily="34" charset="0"/>
                <a:ea typeface="Calibri" pitchFamily="34" charset="-122"/>
                <a:cs typeface="Calibri" pitchFamily="34" charset="-120"/>
              </a:rPr>
              <a:t>J$50.11</a:t>
            </a:r>
            <a:endParaRPr lang="en-US" sz="1900" dirty="0"/>
          </a:p>
        </p:txBody>
      </p:sp>
      <p:sp>
        <p:nvSpPr>
          <p:cNvPr id="15" name="Text 13"/>
          <p:cNvSpPr/>
          <p:nvPr/>
        </p:nvSpPr>
        <p:spPr>
          <a:xfrm>
            <a:off x="7955280" y="2852928"/>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16" name="Text 14"/>
          <p:cNvSpPr/>
          <p:nvPr/>
        </p:nvSpPr>
        <p:spPr>
          <a:xfrm>
            <a:off x="9144000" y="2816352"/>
            <a:ext cx="2377440" cy="256032"/>
          </a:xfrm>
          <a:prstGeom prst="rect">
            <a:avLst/>
          </a:prstGeom>
          <a:noFill/>
          <a:ln/>
        </p:spPr>
        <p:txBody>
          <a:bodyPr wrap="square" lIns="0" tIns="0" rIns="0" bIns="0" rtlCol="0" anchor="ctr"/>
          <a:lstStyle/>
          <a:p>
            <a:pPr algn="r" indent="0" marL="0">
              <a:buNone/>
            </a:pPr>
            <a:r>
              <a:rPr lang="en-US" sz="1100" i="1" dirty="0">
                <a:solidFill>
                  <a:srgbClr val="1A9E75"/>
                </a:solidFill>
                <a:latin typeface="Calibri" pitchFamily="34" charset="0"/>
                <a:ea typeface="Calibri" pitchFamily="34" charset="-122"/>
                <a:cs typeface="Calibri" pitchFamily="34" charset="-120"/>
              </a:rPr>
              <a:t>Cheapest public option</a:t>
            </a:r>
            <a:endParaRPr lang="en-US" sz="1100" dirty="0"/>
          </a:p>
        </p:txBody>
      </p:sp>
      <p:sp>
        <p:nvSpPr>
          <p:cNvPr id="17" name="Shape 15"/>
          <p:cNvSpPr/>
          <p:nvPr/>
        </p:nvSpPr>
        <p:spPr>
          <a:xfrm>
            <a:off x="502920" y="3346704"/>
            <a:ext cx="11183112" cy="621792"/>
          </a:xfrm>
          <a:prstGeom prst="roundRect">
            <a:avLst>
              <a:gd name="adj" fmla="val 8824"/>
            </a:avLst>
          </a:prstGeom>
          <a:solidFill>
            <a:srgbClr val="F1F6F4"/>
          </a:solidFill>
          <a:ln w="12700">
            <a:solidFill>
              <a:srgbClr val="D8E3E0"/>
            </a:solidFill>
            <a:prstDash val="solid"/>
          </a:ln>
        </p:spPr>
      </p:sp>
      <p:sp>
        <p:nvSpPr>
          <p:cNvPr id="18" name="Text 16"/>
          <p:cNvSpPr/>
          <p:nvPr/>
        </p:nvSpPr>
        <p:spPr>
          <a:xfrm>
            <a:off x="731520" y="3401568"/>
            <a:ext cx="2468880" cy="256032"/>
          </a:xfrm>
          <a:prstGeom prst="rect">
            <a:avLst/>
          </a:prstGeom>
          <a:noFill/>
          <a:ln/>
        </p:spPr>
        <p:txBody>
          <a:bodyPr wrap="square" lIns="0" tIns="0" rIns="0" bIns="0" rtlCol="0" anchor="ctr"/>
          <a:lstStyle/>
          <a:p>
            <a:pPr indent="0" marL="0">
              <a:buNone/>
            </a:pPr>
            <a:r>
              <a:rPr lang="en-US" sz="1400" b="1" dirty="0">
                <a:solidFill>
                  <a:srgbClr val="1A7A6E"/>
                </a:solidFill>
                <a:latin typeface="Calibri" pitchFamily="34" charset="0"/>
                <a:ea typeface="Calibri" pitchFamily="34" charset="-122"/>
                <a:cs typeface="Calibri" pitchFamily="34" charset="-120"/>
              </a:rPr>
              <a:t>JPS daytime</a:t>
            </a:r>
            <a:endParaRPr lang="en-US" sz="1400" dirty="0"/>
          </a:p>
        </p:txBody>
      </p:sp>
      <p:sp>
        <p:nvSpPr>
          <p:cNvPr id="19" name="Text 17"/>
          <p:cNvSpPr/>
          <p:nvPr/>
        </p:nvSpPr>
        <p:spPr>
          <a:xfrm>
            <a:off x="731520" y="3657600"/>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Weekdays 6am to 6pm</a:t>
            </a:r>
            <a:endParaRPr lang="en-US" sz="1100" dirty="0"/>
          </a:p>
        </p:txBody>
      </p:sp>
      <p:sp>
        <p:nvSpPr>
          <p:cNvPr id="20" name="Text 18"/>
          <p:cNvSpPr/>
          <p:nvPr/>
        </p:nvSpPr>
        <p:spPr>
          <a:xfrm>
            <a:off x="6035040" y="3474720"/>
            <a:ext cx="1828800" cy="365760"/>
          </a:xfrm>
          <a:prstGeom prst="rect">
            <a:avLst/>
          </a:prstGeom>
          <a:noFill/>
          <a:ln/>
        </p:spPr>
        <p:txBody>
          <a:bodyPr wrap="square" lIns="0" tIns="0" rIns="0" bIns="0" rtlCol="0" anchor="ctr"/>
          <a:lstStyle/>
          <a:p>
            <a:pPr algn="r" indent="0" marL="0">
              <a:buNone/>
            </a:pPr>
            <a:r>
              <a:rPr lang="en-US" sz="1900" b="1" dirty="0">
                <a:solidFill>
                  <a:srgbClr val="1A7A6E"/>
                </a:solidFill>
                <a:latin typeface="Calibri" pitchFamily="34" charset="0"/>
                <a:ea typeface="Calibri" pitchFamily="34" charset="-122"/>
                <a:cs typeface="Calibri" pitchFamily="34" charset="-120"/>
              </a:rPr>
              <a:t>J$61.33</a:t>
            </a:r>
            <a:endParaRPr lang="en-US" sz="1900" dirty="0"/>
          </a:p>
        </p:txBody>
      </p:sp>
      <p:sp>
        <p:nvSpPr>
          <p:cNvPr id="21" name="Text 19"/>
          <p:cNvSpPr/>
          <p:nvPr/>
        </p:nvSpPr>
        <p:spPr>
          <a:xfrm>
            <a:off x="7955280" y="3566160"/>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22" name="Shape 20"/>
          <p:cNvSpPr/>
          <p:nvPr/>
        </p:nvSpPr>
        <p:spPr>
          <a:xfrm>
            <a:off x="502920" y="4059936"/>
            <a:ext cx="11183112" cy="621792"/>
          </a:xfrm>
          <a:prstGeom prst="roundRect">
            <a:avLst>
              <a:gd name="adj" fmla="val 8824"/>
            </a:avLst>
          </a:prstGeom>
          <a:solidFill>
            <a:srgbClr val="F1F6F4"/>
          </a:solidFill>
          <a:ln w="12700">
            <a:solidFill>
              <a:srgbClr val="D8E3E0"/>
            </a:solidFill>
            <a:prstDash val="solid"/>
          </a:ln>
        </p:spPr>
      </p:sp>
      <p:sp>
        <p:nvSpPr>
          <p:cNvPr id="23" name="Text 21"/>
          <p:cNvSpPr/>
          <p:nvPr/>
        </p:nvSpPr>
        <p:spPr>
          <a:xfrm>
            <a:off x="731520" y="4114800"/>
            <a:ext cx="2468880" cy="256032"/>
          </a:xfrm>
          <a:prstGeom prst="rect">
            <a:avLst/>
          </a:prstGeom>
          <a:noFill/>
          <a:ln/>
        </p:spPr>
        <p:txBody>
          <a:bodyPr wrap="square" lIns="0" tIns="0" rIns="0" bIns="0" rtlCol="0" anchor="ctr"/>
          <a:lstStyle/>
          <a:p>
            <a:pPr indent="0" marL="0">
              <a:buNone/>
            </a:pPr>
            <a:r>
              <a:rPr lang="en-US" sz="1400" b="1" dirty="0">
                <a:solidFill>
                  <a:srgbClr val="1F3864"/>
                </a:solidFill>
                <a:latin typeface="Calibri" pitchFamily="34" charset="0"/>
                <a:ea typeface="Calibri" pitchFamily="34" charset="-122"/>
                <a:cs typeface="Calibri" pitchFamily="34" charset="-120"/>
              </a:rPr>
              <a:t>Evergo</a:t>
            </a:r>
            <a:endParaRPr lang="en-US" sz="1400" dirty="0"/>
          </a:p>
        </p:txBody>
      </p:sp>
      <p:sp>
        <p:nvSpPr>
          <p:cNvPr id="24" name="Text 22"/>
          <p:cNvSpPr/>
          <p:nvPr/>
        </p:nvSpPr>
        <p:spPr>
          <a:xfrm>
            <a:off x="731520" y="4370832"/>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Any hour, any charger, any level</a:t>
            </a:r>
            <a:endParaRPr lang="en-US" sz="1100" dirty="0"/>
          </a:p>
        </p:txBody>
      </p:sp>
      <p:sp>
        <p:nvSpPr>
          <p:cNvPr id="25" name="Text 23"/>
          <p:cNvSpPr/>
          <p:nvPr/>
        </p:nvSpPr>
        <p:spPr>
          <a:xfrm>
            <a:off x="6035040" y="4187952"/>
            <a:ext cx="1828800" cy="365760"/>
          </a:xfrm>
          <a:prstGeom prst="rect">
            <a:avLst/>
          </a:prstGeom>
          <a:noFill/>
          <a:ln/>
        </p:spPr>
        <p:txBody>
          <a:bodyPr wrap="square" lIns="0" tIns="0" rIns="0" bIns="0" rtlCol="0" anchor="ctr"/>
          <a:lstStyle/>
          <a:p>
            <a:pPr algn="r" indent="0" marL="0">
              <a:buNone/>
            </a:pPr>
            <a:r>
              <a:rPr lang="en-US" sz="1900" b="1" dirty="0">
                <a:solidFill>
                  <a:srgbClr val="1F3864"/>
                </a:solidFill>
                <a:latin typeface="Calibri" pitchFamily="34" charset="0"/>
                <a:ea typeface="Calibri" pitchFamily="34" charset="-122"/>
                <a:cs typeface="Calibri" pitchFamily="34" charset="-120"/>
              </a:rPr>
              <a:t>J$96.00</a:t>
            </a:r>
            <a:endParaRPr lang="en-US" sz="1900" dirty="0"/>
          </a:p>
        </p:txBody>
      </p:sp>
      <p:sp>
        <p:nvSpPr>
          <p:cNvPr id="26" name="Text 24"/>
          <p:cNvSpPr/>
          <p:nvPr/>
        </p:nvSpPr>
        <p:spPr>
          <a:xfrm>
            <a:off x="7955280" y="4279392"/>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27" name="Text 25"/>
          <p:cNvSpPr/>
          <p:nvPr/>
        </p:nvSpPr>
        <p:spPr>
          <a:xfrm>
            <a:off x="9144000" y="4242816"/>
            <a:ext cx="2377440" cy="256032"/>
          </a:xfrm>
          <a:prstGeom prst="rect">
            <a:avLst/>
          </a:prstGeom>
          <a:noFill/>
          <a:ln/>
        </p:spPr>
        <p:txBody>
          <a:bodyPr wrap="square" lIns="0" tIns="0" rIns="0" bIns="0" rtlCol="0" anchor="ctr"/>
          <a:lstStyle/>
          <a:p>
            <a:pPr algn="r" indent="0" marL="0">
              <a:buNone/>
            </a:pPr>
            <a:r>
              <a:rPr lang="en-US" sz="1100" i="1" dirty="0">
                <a:solidFill>
                  <a:srgbClr val="1F3864"/>
                </a:solidFill>
                <a:latin typeface="Calibri" pitchFamily="34" charset="0"/>
                <a:ea typeface="Calibri" pitchFamily="34" charset="-122"/>
                <a:cs typeface="Calibri" pitchFamily="34" charset="-120"/>
              </a:rPr>
              <a:t>Flat rate</a:t>
            </a:r>
            <a:endParaRPr lang="en-US" sz="1100" dirty="0"/>
          </a:p>
        </p:txBody>
      </p:sp>
      <p:sp>
        <p:nvSpPr>
          <p:cNvPr id="28" name="Shape 26"/>
          <p:cNvSpPr/>
          <p:nvPr/>
        </p:nvSpPr>
        <p:spPr>
          <a:xfrm>
            <a:off x="502920" y="4773168"/>
            <a:ext cx="11183112" cy="621792"/>
          </a:xfrm>
          <a:prstGeom prst="roundRect">
            <a:avLst>
              <a:gd name="adj" fmla="val 8824"/>
            </a:avLst>
          </a:prstGeom>
          <a:solidFill>
            <a:srgbClr val="F1F6F4"/>
          </a:solidFill>
          <a:ln w="12700">
            <a:solidFill>
              <a:srgbClr val="D8E3E0"/>
            </a:solidFill>
            <a:prstDash val="solid"/>
          </a:ln>
        </p:spPr>
      </p:sp>
      <p:sp>
        <p:nvSpPr>
          <p:cNvPr id="29" name="Text 27"/>
          <p:cNvSpPr/>
          <p:nvPr/>
        </p:nvSpPr>
        <p:spPr>
          <a:xfrm>
            <a:off x="731520" y="4828032"/>
            <a:ext cx="2468880" cy="256032"/>
          </a:xfrm>
          <a:prstGeom prst="rect">
            <a:avLst/>
          </a:prstGeom>
          <a:noFill/>
          <a:ln/>
        </p:spPr>
        <p:txBody>
          <a:bodyPr wrap="square" lIns="0" tIns="0" rIns="0" bIns="0" rtlCol="0" anchor="ctr"/>
          <a:lstStyle/>
          <a:p>
            <a:pPr indent="0" marL="0">
              <a:buNone/>
            </a:pPr>
            <a:r>
              <a:rPr lang="en-US" sz="1400" b="1" dirty="0">
                <a:solidFill>
                  <a:srgbClr val="C55A11"/>
                </a:solidFill>
                <a:latin typeface="Calibri" pitchFamily="34" charset="0"/>
                <a:ea typeface="Calibri" pitchFamily="34" charset="-122"/>
                <a:cs typeface="Calibri" pitchFamily="34" charset="-120"/>
              </a:rPr>
              <a:t>JPS evening peak</a:t>
            </a:r>
            <a:endParaRPr lang="en-US" sz="1400" dirty="0"/>
          </a:p>
        </p:txBody>
      </p:sp>
      <p:sp>
        <p:nvSpPr>
          <p:cNvPr id="30" name="Text 28"/>
          <p:cNvSpPr/>
          <p:nvPr/>
        </p:nvSpPr>
        <p:spPr>
          <a:xfrm>
            <a:off x="731520" y="5084064"/>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Weekdays 6pm to 10pm</a:t>
            </a:r>
            <a:endParaRPr lang="en-US" sz="1100" dirty="0"/>
          </a:p>
        </p:txBody>
      </p:sp>
      <p:sp>
        <p:nvSpPr>
          <p:cNvPr id="31" name="Text 29"/>
          <p:cNvSpPr/>
          <p:nvPr/>
        </p:nvSpPr>
        <p:spPr>
          <a:xfrm>
            <a:off x="6035040" y="4901184"/>
            <a:ext cx="1828800" cy="365760"/>
          </a:xfrm>
          <a:prstGeom prst="rect">
            <a:avLst/>
          </a:prstGeom>
          <a:noFill/>
          <a:ln/>
        </p:spPr>
        <p:txBody>
          <a:bodyPr wrap="square" lIns="0" tIns="0" rIns="0" bIns="0" rtlCol="0" anchor="ctr"/>
          <a:lstStyle/>
          <a:p>
            <a:pPr algn="r" indent="0" marL="0">
              <a:buNone/>
            </a:pPr>
            <a:r>
              <a:rPr lang="en-US" sz="1900" b="1" dirty="0">
                <a:solidFill>
                  <a:srgbClr val="C55A11"/>
                </a:solidFill>
                <a:latin typeface="Calibri" pitchFamily="34" charset="0"/>
                <a:ea typeface="Calibri" pitchFamily="34" charset="-122"/>
                <a:cs typeface="Calibri" pitchFamily="34" charset="-120"/>
              </a:rPr>
              <a:t>J$130.63</a:t>
            </a:r>
            <a:endParaRPr lang="en-US" sz="1900" dirty="0"/>
          </a:p>
        </p:txBody>
      </p:sp>
      <p:sp>
        <p:nvSpPr>
          <p:cNvPr id="32" name="Text 30"/>
          <p:cNvSpPr/>
          <p:nvPr/>
        </p:nvSpPr>
        <p:spPr>
          <a:xfrm>
            <a:off x="7955280" y="4992624"/>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33" name="Text 31"/>
          <p:cNvSpPr/>
          <p:nvPr/>
        </p:nvSpPr>
        <p:spPr>
          <a:xfrm>
            <a:off x="9144000" y="4956048"/>
            <a:ext cx="2377440" cy="256032"/>
          </a:xfrm>
          <a:prstGeom prst="rect">
            <a:avLst/>
          </a:prstGeom>
          <a:noFill/>
          <a:ln/>
        </p:spPr>
        <p:txBody>
          <a:bodyPr wrap="square" lIns="0" tIns="0" rIns="0" bIns="0" rtlCol="0" anchor="ctr"/>
          <a:lstStyle/>
          <a:p>
            <a:pPr algn="r" indent="0" marL="0">
              <a:buNone/>
            </a:pPr>
            <a:r>
              <a:rPr lang="en-US" sz="1100" i="1" dirty="0">
                <a:solidFill>
                  <a:srgbClr val="C55A11"/>
                </a:solidFill>
                <a:latin typeface="Calibri" pitchFamily="34" charset="0"/>
                <a:ea typeface="Calibri" pitchFamily="34" charset="-122"/>
                <a:cs typeface="Calibri" pitchFamily="34" charset="-120"/>
              </a:rPr>
              <a:t>Most expensive</a:t>
            </a:r>
            <a:endParaRPr lang="en-US" sz="1100" dirty="0"/>
          </a:p>
        </p:txBody>
      </p:sp>
      <p:sp>
        <p:nvSpPr>
          <p:cNvPr id="34" name="Shape 32"/>
          <p:cNvSpPr/>
          <p:nvPr/>
        </p:nvSpPr>
        <p:spPr>
          <a:xfrm>
            <a:off x="502920" y="5577840"/>
            <a:ext cx="11183112" cy="658368"/>
          </a:xfrm>
          <a:prstGeom prst="roundRect">
            <a:avLst>
              <a:gd name="adj" fmla="val 8333"/>
            </a:avLst>
          </a:prstGeom>
          <a:solidFill>
            <a:srgbClr val="F1F6F4"/>
          </a:solidFill>
          <a:ln w="12700">
            <a:solidFill>
              <a:srgbClr val="D8E3E0"/>
            </a:solidFill>
            <a:prstDash val="solid"/>
          </a:ln>
        </p:spPr>
      </p:sp>
      <p:sp>
        <p:nvSpPr>
          <p:cNvPr id="35" name="Shape 33"/>
          <p:cNvSpPr/>
          <p:nvPr/>
        </p:nvSpPr>
        <p:spPr>
          <a:xfrm>
            <a:off x="685800" y="5751576"/>
            <a:ext cx="310896" cy="310896"/>
          </a:xfrm>
          <a:prstGeom prst="ellipse">
            <a:avLst/>
          </a:prstGeom>
          <a:solidFill>
            <a:srgbClr val="1A9E75"/>
          </a:solidFill>
          <a:ln w="12700">
            <a:solidFill>
              <a:srgbClr val="1A9E75"/>
            </a:solidFill>
            <a:prstDash val="solid"/>
          </a:ln>
        </p:spPr>
      </p:sp>
      <p:sp>
        <p:nvSpPr>
          <p:cNvPr id="36" name="Text 34"/>
          <p:cNvSpPr/>
          <p:nvPr/>
        </p:nvSpPr>
        <p:spPr>
          <a:xfrm>
            <a:off x="685800" y="57515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7" name="Text 35"/>
          <p:cNvSpPr/>
          <p:nvPr/>
        </p:nvSpPr>
        <p:spPr>
          <a:xfrm>
            <a:off x="1133856" y="568756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Worth knowing:  </a:t>
            </a:r>
            <a:pPr indent="0" marL="0">
              <a:buNone/>
            </a:pPr>
            <a:r>
              <a:rPr lang="en-US" sz="1100" dirty="0">
                <a:solidFill>
                  <a:srgbClr val="6B7A77"/>
                </a:solidFill>
                <a:latin typeface="Calibri" pitchFamily="34" charset="0"/>
                <a:ea typeface="Calibri" pitchFamily="34" charset="-122"/>
                <a:cs typeface="Calibri" pitchFamily="34" charset="-120"/>
              </a:rPr>
              <a:t>charging on JPS at 7pm costs 2.6 times what the same charge costs at 2am. If you can plug in overnight, do.</a:t>
            </a:r>
            <a:endParaRPr lang="en-US" sz="1100" dirty="0"/>
          </a:p>
        </p:txBody>
      </p:sp>
      <p:sp>
        <p:nvSpPr>
          <p:cNvPr id="38" name="Text 36"/>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39" name="Text 37"/>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1</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1</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Fiscal Policy &amp; Duty Tracker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Where Jamaica's national EV policy stands against its own 2030 targets.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Is the country on track, and which commitments have slipped?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1</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policy tracker</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There is nothing to fill in on this page. It is a read-only summary, so you only need to know how to read it.</a:t>
            </a:r>
            <a:endParaRPr lang="en-US" sz="1300" dirty="0"/>
          </a:p>
        </p:txBody>
      </p:sp>
      <p:sp>
        <p:nvSpPr>
          <p:cNvPr id="5" name="Shape 3"/>
          <p:cNvSpPr/>
          <p:nvPr/>
        </p:nvSpPr>
        <p:spPr>
          <a:xfrm>
            <a:off x="502920" y="1664208"/>
            <a:ext cx="292608" cy="292608"/>
          </a:xfrm>
          <a:prstGeom prst="ellipse">
            <a:avLst/>
          </a:prstGeom>
          <a:solidFill>
            <a:srgbClr val="1A7A6E"/>
          </a:solidFill>
          <a:ln w="12700">
            <a:solidFill>
              <a:srgbClr val="1A7A6E"/>
            </a:solidFill>
            <a:prstDash val="solid"/>
          </a:ln>
        </p:spPr>
      </p:sp>
      <p:sp>
        <p:nvSpPr>
          <p:cNvPr id="6" name="Text 4"/>
          <p:cNvSpPr/>
          <p:nvPr/>
        </p:nvSpPr>
        <p:spPr>
          <a:xfrm>
            <a:off x="502920" y="1664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367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Start with the progress bars</a:t>
            </a:r>
            <a:endParaRPr lang="en-US" sz="1300" dirty="0"/>
          </a:p>
        </p:txBody>
      </p:sp>
      <p:sp>
        <p:nvSpPr>
          <p:cNvPr id="8" name="Text 6"/>
          <p:cNvSpPr/>
          <p:nvPr/>
        </p:nvSpPr>
        <p:spPr>
          <a:xfrm>
            <a:off x="932688" y="1865376"/>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bar is one 2030 target: private vehicles, public transport and the government fleet. The bar shows how far along Jamaica is.</a:t>
            </a:r>
            <a:endParaRPr lang="en-US" sz="1150" dirty="0"/>
          </a:p>
        </p:txBody>
      </p:sp>
      <p:sp>
        <p:nvSpPr>
          <p:cNvPr id="9" name="Shape 7"/>
          <p:cNvSpPr/>
          <p:nvPr/>
        </p:nvSpPr>
        <p:spPr>
          <a:xfrm>
            <a:off x="502920" y="2610612"/>
            <a:ext cx="292608" cy="292608"/>
          </a:xfrm>
          <a:prstGeom prst="ellipse">
            <a:avLst/>
          </a:prstGeom>
          <a:solidFill>
            <a:srgbClr val="1A7A6E"/>
          </a:solidFill>
          <a:ln w="12700">
            <a:solidFill>
              <a:srgbClr val="1A7A6E"/>
            </a:solidFill>
            <a:prstDash val="solid"/>
          </a:ln>
        </p:spPr>
      </p:sp>
      <p:sp>
        <p:nvSpPr>
          <p:cNvPr id="10" name="Text 8"/>
          <p:cNvSpPr/>
          <p:nvPr/>
        </p:nvSpPr>
        <p:spPr>
          <a:xfrm>
            <a:off x="502920" y="261061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58318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Compare bar against target line</a:t>
            </a:r>
            <a:endParaRPr lang="en-US" sz="1300" dirty="0"/>
          </a:p>
        </p:txBody>
      </p:sp>
      <p:sp>
        <p:nvSpPr>
          <p:cNvPr id="12" name="Text 10"/>
          <p:cNvSpPr/>
          <p:nvPr/>
        </p:nvSpPr>
        <p:spPr>
          <a:xfrm>
            <a:off x="932688" y="281178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target is marked on each bar. A short bar means the gap is still large.</a:t>
            </a:r>
            <a:endParaRPr lang="en-US" sz="1150" dirty="0"/>
          </a:p>
        </p:txBody>
      </p:sp>
      <p:sp>
        <p:nvSpPr>
          <p:cNvPr id="13" name="Shape 11"/>
          <p:cNvSpPr/>
          <p:nvPr/>
        </p:nvSpPr>
        <p:spPr>
          <a:xfrm>
            <a:off x="502920" y="3387852"/>
            <a:ext cx="292608" cy="292608"/>
          </a:xfrm>
          <a:prstGeom prst="ellipse">
            <a:avLst/>
          </a:prstGeom>
          <a:solidFill>
            <a:srgbClr val="1A7A6E"/>
          </a:solidFill>
          <a:ln w="12700">
            <a:solidFill>
              <a:srgbClr val="1A7A6E"/>
            </a:solidFill>
            <a:prstDash val="solid"/>
          </a:ln>
        </p:spPr>
      </p:sp>
      <p:sp>
        <p:nvSpPr>
          <p:cNvPr id="14" name="Text 12"/>
          <p:cNvSpPr/>
          <p:nvPr/>
        </p:nvSpPr>
        <p:spPr>
          <a:xfrm>
            <a:off x="502920" y="338785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36042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Scroll to the action table</a:t>
            </a:r>
            <a:endParaRPr lang="en-US" sz="1300" dirty="0"/>
          </a:p>
        </p:txBody>
      </p:sp>
      <p:sp>
        <p:nvSpPr>
          <p:cNvPr id="16" name="Text 14"/>
          <p:cNvSpPr/>
          <p:nvPr/>
        </p:nvSpPr>
        <p:spPr>
          <a:xfrm>
            <a:off x="932688" y="358902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lists the commitments made in the 2023 national EV policy, one row each.</a:t>
            </a:r>
            <a:endParaRPr lang="en-US" sz="1150" dirty="0"/>
          </a:p>
        </p:txBody>
      </p:sp>
      <p:sp>
        <p:nvSpPr>
          <p:cNvPr id="17" name="Shape 15"/>
          <p:cNvSpPr/>
          <p:nvPr/>
        </p:nvSpPr>
        <p:spPr>
          <a:xfrm>
            <a:off x="502920" y="4165092"/>
            <a:ext cx="292608" cy="292608"/>
          </a:xfrm>
          <a:prstGeom prst="ellipse">
            <a:avLst/>
          </a:prstGeom>
          <a:solidFill>
            <a:srgbClr val="1A7A6E"/>
          </a:solidFill>
          <a:ln w="12700">
            <a:solidFill>
              <a:srgbClr val="1A7A6E"/>
            </a:solidFill>
            <a:prstDash val="solid"/>
          </a:ln>
        </p:spPr>
      </p:sp>
      <p:sp>
        <p:nvSpPr>
          <p:cNvPr id="18" name="Text 16"/>
          <p:cNvSpPr/>
          <p:nvPr/>
        </p:nvSpPr>
        <p:spPr>
          <a:xfrm>
            <a:off x="502920" y="41650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41376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Use the colours</a:t>
            </a:r>
            <a:endParaRPr lang="en-US" sz="1300" dirty="0"/>
          </a:p>
        </p:txBody>
      </p:sp>
      <p:sp>
        <p:nvSpPr>
          <p:cNvPr id="20" name="Text 18"/>
          <p:cNvSpPr/>
          <p:nvPr/>
        </p:nvSpPr>
        <p:spPr>
          <a:xfrm>
            <a:off x="932688" y="43662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row is coloured by its status, so you can scan for problem areas without reading every row.</a:t>
            </a:r>
            <a:endParaRPr lang="en-US" sz="1150" dirty="0"/>
          </a:p>
        </p:txBody>
      </p:sp>
      <p:sp>
        <p:nvSpPr>
          <p:cNvPr id="21" name="Shape 19"/>
          <p:cNvSpPr/>
          <p:nvPr/>
        </p:nvSpPr>
        <p:spPr>
          <a:xfrm>
            <a:off x="502920" y="4942332"/>
            <a:ext cx="292608" cy="292608"/>
          </a:xfrm>
          <a:prstGeom prst="ellipse">
            <a:avLst/>
          </a:prstGeom>
          <a:solidFill>
            <a:srgbClr val="1A7A6E"/>
          </a:solidFill>
          <a:ln w="12700">
            <a:solidFill>
              <a:srgbClr val="1A7A6E"/>
            </a:solidFill>
            <a:prstDash val="solid"/>
          </a:ln>
        </p:spPr>
      </p:sp>
      <p:sp>
        <p:nvSpPr>
          <p:cNvPr id="22" name="Text 20"/>
          <p:cNvSpPr/>
          <p:nvPr/>
        </p:nvSpPr>
        <p:spPr>
          <a:xfrm>
            <a:off x="502920" y="49423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9149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the status summary</a:t>
            </a:r>
            <a:endParaRPr lang="en-US" sz="1300" dirty="0"/>
          </a:p>
        </p:txBody>
      </p:sp>
      <p:sp>
        <p:nvSpPr>
          <p:cNvPr id="24" name="Text 22"/>
          <p:cNvSpPr/>
          <p:nvPr/>
        </p:nvSpPr>
        <p:spPr>
          <a:xfrm>
            <a:off x="932688" y="514350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doughnut chart counts how many actions fall into each status.</a:t>
            </a:r>
            <a:endParaRPr lang="en-US" sz="1150" dirty="0"/>
          </a:p>
        </p:txBody>
      </p:sp>
      <p:sp>
        <p:nvSpPr>
          <p:cNvPr id="25" name="Shape 23"/>
          <p:cNvSpPr/>
          <p:nvPr/>
        </p:nvSpPr>
        <p:spPr>
          <a:xfrm>
            <a:off x="6355080" y="1664208"/>
            <a:ext cx="5330952" cy="3566160"/>
          </a:xfrm>
          <a:prstGeom prst="roundRect">
            <a:avLst>
              <a:gd name="adj" fmla="val 1538"/>
            </a:avLst>
          </a:prstGeom>
          <a:solidFill>
            <a:srgbClr val="FBFDFC"/>
          </a:solidFill>
          <a:ln w="19050">
            <a:solidFill>
              <a:srgbClr val="1A9E75"/>
            </a:solidFill>
            <a:prstDash val="dash"/>
          </a:ln>
        </p:spPr>
      </p:sp>
      <p:sp>
        <p:nvSpPr>
          <p:cNvPr id="26" name="Shape 24"/>
          <p:cNvSpPr/>
          <p:nvPr/>
        </p:nvSpPr>
        <p:spPr>
          <a:xfrm>
            <a:off x="6556248" y="1847088"/>
            <a:ext cx="1417320" cy="274320"/>
          </a:xfrm>
          <a:prstGeom prst="roundRect">
            <a:avLst>
              <a:gd name="adj" fmla="val 16667"/>
            </a:avLst>
          </a:prstGeom>
          <a:solidFill>
            <a:srgbClr val="1A9E75"/>
          </a:solidFill>
          <a:ln w="12700">
            <a:solidFill>
              <a:srgbClr val="1A9E75"/>
            </a:solidFill>
            <a:prstDash val="solid"/>
          </a:ln>
        </p:spPr>
      </p:sp>
      <p:sp>
        <p:nvSpPr>
          <p:cNvPr id="27" name="Text 25"/>
          <p:cNvSpPr/>
          <p:nvPr/>
        </p:nvSpPr>
        <p:spPr>
          <a:xfrm>
            <a:off x="6556248" y="184708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8" name="Text 26"/>
          <p:cNvSpPr/>
          <p:nvPr/>
        </p:nvSpPr>
        <p:spPr>
          <a:xfrm>
            <a:off x="6556248" y="2231136"/>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policy page, top to bottom</a:t>
            </a:r>
            <a:endParaRPr lang="en-US" sz="1250" dirty="0"/>
          </a:p>
        </p:txBody>
      </p:sp>
      <p:sp>
        <p:nvSpPr>
          <p:cNvPr id="29" name="Text 27"/>
          <p:cNvSpPr/>
          <p:nvPr/>
        </p:nvSpPr>
        <p:spPr>
          <a:xfrm>
            <a:off x="6556248" y="2852928"/>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0" name="Text 28"/>
          <p:cNvSpPr/>
          <p:nvPr/>
        </p:nvSpPr>
        <p:spPr>
          <a:xfrm>
            <a:off x="6629400" y="3090672"/>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progress bars with their target markers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colour-coded action table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status summary doughnut chart</a:t>
            </a:r>
            <a:endParaRPr lang="en-US" sz="105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1 - Fiscal Policy &amp; Duty Tracker</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1</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What the three targets mean</a:t>
            </a:r>
            <a:endParaRPr lang="en-US" sz="3200" dirty="0"/>
          </a:p>
        </p:txBody>
      </p:sp>
      <p:sp>
        <p:nvSpPr>
          <p:cNvPr id="4" name="Shape 2"/>
          <p:cNvSpPr/>
          <p:nvPr/>
        </p:nvSpPr>
        <p:spPr>
          <a:xfrm>
            <a:off x="502920" y="1371600"/>
            <a:ext cx="3617976" cy="1783080"/>
          </a:xfrm>
          <a:prstGeom prst="roundRect">
            <a:avLst>
              <a:gd name="adj" fmla="val 3077"/>
            </a:avLst>
          </a:prstGeom>
          <a:solidFill>
            <a:srgbClr val="F1F6F4"/>
          </a:solidFill>
          <a:ln w="12700">
            <a:solidFill>
              <a:srgbClr val="D8E3E0"/>
            </a:solidFill>
            <a:prstDash val="solid"/>
          </a:ln>
        </p:spPr>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12%  Private vehicles</a:t>
            </a:r>
            <a:endParaRPr lang="en-US" sz="1100" dirty="0"/>
          </a:p>
        </p:txBody>
      </p:sp>
      <p:sp>
        <p:nvSpPr>
          <p:cNvPr id="6" name="Text 4"/>
          <p:cNvSpPr/>
          <p:nvPr/>
        </p:nvSpPr>
        <p:spPr>
          <a:xfrm>
            <a:off x="649224"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Just over one in ten privately owned cars should be electric by 2030. This is the target the EV vs. ICE Calculator relates to.</a:t>
            </a:r>
            <a:endParaRPr lang="en-US" sz="1050" dirty="0"/>
          </a:p>
        </p:txBody>
      </p:sp>
      <p:sp>
        <p:nvSpPr>
          <p:cNvPr id="7" name="Shape 5"/>
          <p:cNvSpPr/>
          <p:nvPr/>
        </p:nvSpPr>
        <p:spPr>
          <a:xfrm>
            <a:off x="4285488" y="1371600"/>
            <a:ext cx="3617976" cy="1783080"/>
          </a:xfrm>
          <a:prstGeom prst="roundRect">
            <a:avLst>
              <a:gd name="adj" fmla="val 3077"/>
            </a:avLst>
          </a:prstGeom>
          <a:solidFill>
            <a:srgbClr val="F1F6F4"/>
          </a:solidFill>
          <a:ln w="12700">
            <a:solidFill>
              <a:srgbClr val="D8E3E0"/>
            </a:solidFill>
            <a:prstDash val="solid"/>
          </a:ln>
        </p:spPr>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16%  Public transport</a:t>
            </a:r>
            <a:endParaRPr lang="en-US" sz="1100" dirty="0"/>
          </a:p>
        </p:txBody>
      </p:sp>
      <p:sp>
        <p:nvSpPr>
          <p:cNvPr id="9" name="Text 7"/>
          <p:cNvSpPr/>
          <p:nvPr/>
        </p:nvSpPr>
        <p:spPr>
          <a:xfrm>
            <a:off x="4431792"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Roughly one in six buses and public passenger vehicles. Relates to the Taxi Feasibility Tool.</a:t>
            </a:r>
            <a:endParaRPr lang="en-US" sz="1050" dirty="0"/>
          </a:p>
        </p:txBody>
      </p:sp>
      <p:sp>
        <p:nvSpPr>
          <p:cNvPr id="10" name="Shape 8"/>
          <p:cNvSpPr/>
          <p:nvPr/>
        </p:nvSpPr>
        <p:spPr>
          <a:xfrm>
            <a:off x="8068056" y="1371600"/>
            <a:ext cx="3617976" cy="1783080"/>
          </a:xfrm>
          <a:prstGeom prst="roundRect">
            <a:avLst>
              <a:gd name="adj" fmla="val 3077"/>
            </a:avLst>
          </a:prstGeom>
          <a:solidFill>
            <a:srgbClr val="F1F6F4"/>
          </a:solidFill>
          <a:ln w="12700">
            <a:solidFill>
              <a:srgbClr val="D8E3E0"/>
            </a:solidFill>
            <a:prstDash val="solid"/>
          </a:ln>
        </p:spPr>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100%  Government fleet</a:t>
            </a:r>
            <a:endParaRPr lang="en-US" sz="1100" dirty="0"/>
          </a:p>
        </p:txBody>
      </p:sp>
      <p:sp>
        <p:nvSpPr>
          <p:cNvPr id="12" name="Text 10"/>
          <p:cNvSpPr/>
          <p:nvPr/>
        </p:nvSpPr>
        <p:spPr>
          <a:xfrm>
            <a:off x="8214360"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Every government-owned vehicle. The most ambitious of the three, and the smallest fleet.</a:t>
            </a:r>
            <a:endParaRPr lang="en-US" sz="1050" dirty="0"/>
          </a:p>
        </p:txBody>
      </p:sp>
      <p:sp>
        <p:nvSpPr>
          <p:cNvPr id="13" name="Text 11"/>
          <p:cNvSpPr/>
          <p:nvPr/>
        </p:nvSpPr>
        <p:spPr>
          <a:xfrm>
            <a:off x="502920" y="338328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Reading the action table</a:t>
            </a:r>
            <a:endParaRPr lang="en-US" sz="1900" dirty="0"/>
          </a:p>
        </p:txBody>
      </p:sp>
      <p:sp>
        <p:nvSpPr>
          <p:cNvPr id="14" name="Text 12"/>
          <p:cNvSpPr/>
          <p:nvPr/>
        </p:nvSpPr>
        <p:spPr>
          <a:xfrm>
            <a:off x="502920" y="3794760"/>
            <a:ext cx="5577840" cy="1463040"/>
          </a:xfrm>
          <a:prstGeom prst="rect">
            <a:avLst/>
          </a:prstGeom>
          <a:noFill/>
          <a:ln/>
        </p:spPr>
        <p:txBody>
          <a:bodyPr wrap="square" lIns="0" tIns="0" rIns="0" bIns="0" rtlCol="0" anchor="t"/>
          <a:lstStyle/>
          <a:p>
            <a:pPr indent="0" marL="0">
              <a:lnSpc>
                <a:spcPct val="130000"/>
              </a:lnSpc>
              <a:buNone/>
            </a:pPr>
            <a:r>
              <a:rPr lang="en-US" sz="1250" dirty="0">
                <a:solidFill>
                  <a:srgbClr val="6B7A77"/>
                </a:solidFill>
                <a:latin typeface="Calibri" pitchFamily="34" charset="0"/>
                <a:ea typeface="Calibri" pitchFamily="34" charset="-122"/>
                <a:cs typeface="Calibri" pitchFamily="34" charset="-120"/>
              </a:rPr>
              <a:t>Each row is one commitment from the policy document, coloured on a six-step scale from deep green for fully achieved, through blue, amber and orange, to red for worse than the starting point. Grey means no score is available yet.</a:t>
            </a:r>
            <a:endParaRPr lang="en-US" sz="1250" dirty="0"/>
          </a:p>
          <a:p>
            <a:pPr indent="0" marL="0">
              <a:lnSpc>
                <a:spcPct val="130000"/>
              </a:lnSpc>
              <a:buNone/>
            </a:pPr>
            <a:r>
              <a:rPr lang="en-US" sz="1250" dirty="0">
                <a:solidFill>
                  <a:srgbClr val="6B7A77"/>
                </a:solidFill>
                <a:latin typeface="Calibri" pitchFamily="34" charset="0"/>
                <a:ea typeface="Calibri" pitchFamily="34" charset="-122"/>
                <a:cs typeface="Calibri" pitchFamily="34" charset="-120"/>
              </a:rPr>
              <a:t>The colour key beside the table names every step. The doughnut chart underneath counts the rows in each one, so it shows the overall shape of progress without reading every row.</a:t>
            </a:r>
            <a:endParaRPr lang="en-US" sz="1250" dirty="0"/>
          </a:p>
        </p:txBody>
      </p:sp>
      <p:sp>
        <p:nvSpPr>
          <p:cNvPr id="15" name="Shape 13"/>
          <p:cNvSpPr/>
          <p:nvPr/>
        </p:nvSpPr>
        <p:spPr>
          <a:xfrm>
            <a:off x="6355080" y="3364992"/>
            <a:ext cx="5330952" cy="2331720"/>
          </a:xfrm>
          <a:prstGeom prst="roundRect">
            <a:avLst>
              <a:gd name="adj" fmla="val 2353"/>
            </a:avLst>
          </a:prstGeom>
          <a:solidFill>
            <a:srgbClr val="FBFDFC"/>
          </a:solidFill>
          <a:ln w="19050">
            <a:solidFill>
              <a:srgbClr val="1A9E75"/>
            </a:solidFill>
            <a:prstDash val="dash"/>
          </a:ln>
        </p:spPr>
      </p:sp>
      <p:sp>
        <p:nvSpPr>
          <p:cNvPr id="16" name="Shape 14"/>
          <p:cNvSpPr/>
          <p:nvPr/>
        </p:nvSpPr>
        <p:spPr>
          <a:xfrm>
            <a:off x="6556248" y="3547872"/>
            <a:ext cx="1417320" cy="274320"/>
          </a:xfrm>
          <a:prstGeom prst="roundRect">
            <a:avLst>
              <a:gd name="adj" fmla="val 16667"/>
            </a:avLst>
          </a:prstGeom>
          <a:solidFill>
            <a:srgbClr val="1A9E75"/>
          </a:solidFill>
          <a:ln w="12700">
            <a:solidFill>
              <a:srgbClr val="1A9E75"/>
            </a:solidFill>
            <a:prstDash val="solid"/>
          </a:ln>
        </p:spPr>
      </p:sp>
      <p:sp>
        <p:nvSpPr>
          <p:cNvPr id="17" name="Text 15"/>
          <p:cNvSpPr/>
          <p:nvPr/>
        </p:nvSpPr>
        <p:spPr>
          <a:xfrm>
            <a:off x="6556248" y="354787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8" name="Text 16"/>
          <p:cNvSpPr/>
          <p:nvPr/>
        </p:nvSpPr>
        <p:spPr>
          <a:xfrm>
            <a:off x="6556248" y="393192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Close-up of a few rows of the action table</a:t>
            </a:r>
            <a:endParaRPr lang="en-US" sz="1250" dirty="0"/>
          </a:p>
        </p:txBody>
      </p:sp>
      <p:sp>
        <p:nvSpPr>
          <p:cNvPr id="19" name="Text 17"/>
          <p:cNvSpPr/>
          <p:nvPr/>
        </p:nvSpPr>
        <p:spPr>
          <a:xfrm>
            <a:off x="6556248" y="455371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0" name="Text 18"/>
          <p:cNvSpPr/>
          <p:nvPr/>
        </p:nvSpPr>
        <p:spPr>
          <a:xfrm>
            <a:off x="6629400" y="4791456"/>
            <a:ext cx="4782312"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row of a completed action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row of an action that has not been started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status legend</a:t>
            </a:r>
            <a:endParaRPr lang="en-US" sz="1050" dirty="0"/>
          </a:p>
        </p:txBody>
      </p:sp>
      <p:sp>
        <p:nvSpPr>
          <p:cNvPr id="21" name="Text 1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1 - Fiscal Policy &amp; Duty Tracker</a:t>
            </a:r>
            <a:endParaRPr lang="en-US" sz="900" dirty="0"/>
          </a:p>
        </p:txBody>
      </p:sp>
      <p:sp>
        <p:nvSpPr>
          <p:cNvPr id="22" name="Text 2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2</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2</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Caribbean Regional Comparison</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How Jamaica's electric vehicle uptake compares with its neighbours.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Are we ahead or behind, and does cheaper fuel explain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2</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regional comparison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Another read-only page. Three things to look at, in order.</a:t>
            </a:r>
            <a:endParaRPr lang="en-US" sz="1300" dirty="0"/>
          </a:p>
        </p:txBody>
      </p:sp>
      <p:sp>
        <p:nvSpPr>
          <p:cNvPr id="5" name="Shape 3"/>
          <p:cNvSpPr/>
          <p:nvPr/>
        </p:nvSpPr>
        <p:spPr>
          <a:xfrm>
            <a:off x="502920" y="1664208"/>
            <a:ext cx="292608" cy="292608"/>
          </a:xfrm>
          <a:prstGeom prst="ellipse">
            <a:avLst/>
          </a:prstGeom>
          <a:solidFill>
            <a:srgbClr val="1A7A6E"/>
          </a:solidFill>
          <a:ln w="12700">
            <a:solidFill>
              <a:srgbClr val="1A7A6E"/>
            </a:solidFill>
            <a:prstDash val="solid"/>
          </a:ln>
        </p:spPr>
      </p:sp>
      <p:sp>
        <p:nvSpPr>
          <p:cNvPr id="6" name="Text 4"/>
          <p:cNvSpPr/>
          <p:nvPr/>
        </p:nvSpPr>
        <p:spPr>
          <a:xfrm>
            <a:off x="502920" y="1664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367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bar chart</a:t>
            </a:r>
            <a:endParaRPr lang="en-US" sz="1300" dirty="0"/>
          </a:p>
        </p:txBody>
      </p:sp>
      <p:sp>
        <p:nvSpPr>
          <p:cNvPr id="8" name="Text 6"/>
          <p:cNvSpPr/>
          <p:nvPr/>
        </p:nvSpPr>
        <p:spPr>
          <a:xfrm>
            <a:off x="932688" y="186537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bar is one country's share of new car sales that are fully electric. Longer is further ahead. Jamaica is highlighted.</a:t>
            </a:r>
            <a:endParaRPr lang="en-US" sz="1150" dirty="0"/>
          </a:p>
        </p:txBody>
      </p:sp>
      <p:sp>
        <p:nvSpPr>
          <p:cNvPr id="9" name="Shape 7"/>
          <p:cNvSpPr/>
          <p:nvPr/>
        </p:nvSpPr>
        <p:spPr>
          <a:xfrm>
            <a:off x="502920" y="2441448"/>
            <a:ext cx="292608" cy="292608"/>
          </a:xfrm>
          <a:prstGeom prst="ellipse">
            <a:avLst/>
          </a:prstGeom>
          <a:solidFill>
            <a:srgbClr val="1A7A6E"/>
          </a:solidFill>
          <a:ln w="12700">
            <a:solidFill>
              <a:srgbClr val="1A7A6E"/>
            </a:solidFill>
            <a:prstDash val="solid"/>
          </a:ln>
        </p:spPr>
      </p:sp>
      <p:sp>
        <p:nvSpPr>
          <p:cNvPr id="10" name="Text 8"/>
          <p:cNvSpPr/>
          <p:nvPr/>
        </p:nvSpPr>
        <p:spPr>
          <a:xfrm>
            <a:off x="502920" y="244144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1401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dashed target line</a:t>
            </a:r>
            <a:endParaRPr lang="en-US" sz="1300" dirty="0"/>
          </a:p>
        </p:txBody>
      </p:sp>
      <p:sp>
        <p:nvSpPr>
          <p:cNvPr id="12" name="Text 10"/>
          <p:cNvSpPr/>
          <p:nvPr/>
        </p:nvSpPr>
        <p:spPr>
          <a:xfrm>
            <a:off x="932688" y="264261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Marks Jamaica's own 12% goal, so you can see the distance still to travel.</a:t>
            </a:r>
            <a:endParaRPr lang="en-US" sz="1150" dirty="0"/>
          </a:p>
        </p:txBody>
      </p:sp>
      <p:sp>
        <p:nvSpPr>
          <p:cNvPr id="13" name="Shape 11"/>
          <p:cNvSpPr/>
          <p:nvPr/>
        </p:nvSpPr>
        <p:spPr>
          <a:xfrm>
            <a:off x="502920" y="3218688"/>
            <a:ext cx="292608" cy="292608"/>
          </a:xfrm>
          <a:prstGeom prst="ellipse">
            <a:avLst/>
          </a:prstGeom>
          <a:solidFill>
            <a:srgbClr val="1A7A6E"/>
          </a:solidFill>
          <a:ln w="12700">
            <a:solidFill>
              <a:srgbClr val="1A7A6E"/>
            </a:solidFill>
            <a:prstDash val="solid"/>
          </a:ln>
        </p:spPr>
      </p:sp>
      <p:sp>
        <p:nvSpPr>
          <p:cNvPr id="14" name="Text 12"/>
          <p:cNvSpPr/>
          <p:nvPr/>
        </p:nvSpPr>
        <p:spPr>
          <a:xfrm>
            <a:off x="502920" y="32186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19125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scatter chart</a:t>
            </a:r>
            <a:endParaRPr lang="en-US" sz="1300" dirty="0"/>
          </a:p>
        </p:txBody>
      </p:sp>
      <p:sp>
        <p:nvSpPr>
          <p:cNvPr id="16" name="Text 14"/>
          <p:cNvSpPr/>
          <p:nvPr/>
        </p:nvSpPr>
        <p:spPr>
          <a:xfrm>
            <a:off x="932688" y="341985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Fuel price runs left to right, EV uptake runs bottom to top. Each dot is a country, labelled with its name.</a:t>
            </a:r>
            <a:endParaRPr lang="en-US" sz="1150" dirty="0"/>
          </a:p>
        </p:txBody>
      </p:sp>
      <p:sp>
        <p:nvSpPr>
          <p:cNvPr id="17" name="Shape 15"/>
          <p:cNvSpPr/>
          <p:nvPr/>
        </p:nvSpPr>
        <p:spPr>
          <a:xfrm>
            <a:off x="502920" y="3995928"/>
            <a:ext cx="292608" cy="292608"/>
          </a:xfrm>
          <a:prstGeom prst="ellipse">
            <a:avLst/>
          </a:prstGeom>
          <a:solidFill>
            <a:srgbClr val="1A7A6E"/>
          </a:solidFill>
          <a:ln w="12700">
            <a:solidFill>
              <a:srgbClr val="1A7A6E"/>
            </a:solidFill>
            <a:prstDash val="solid"/>
          </a:ln>
        </p:spPr>
      </p:sp>
      <p:sp>
        <p:nvSpPr>
          <p:cNvPr id="18" name="Text 16"/>
          <p:cNvSpPr/>
          <p:nvPr/>
        </p:nvSpPr>
        <p:spPr>
          <a:xfrm>
            <a:off x="502920" y="399592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396849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dotted trend line</a:t>
            </a:r>
            <a:endParaRPr lang="en-US" sz="1300" dirty="0"/>
          </a:p>
        </p:txBody>
      </p:sp>
      <p:sp>
        <p:nvSpPr>
          <p:cNvPr id="20" name="Text 18"/>
          <p:cNvSpPr/>
          <p:nvPr/>
        </p:nvSpPr>
        <p:spPr>
          <a:xfrm>
            <a:off x="932688" y="419709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Shows the general pattern: countries with dearer fuel tend to have more electric cars.</a:t>
            </a:r>
            <a:endParaRPr lang="en-US" sz="1150" dirty="0"/>
          </a:p>
        </p:txBody>
      </p:sp>
      <p:sp>
        <p:nvSpPr>
          <p:cNvPr id="21" name="Shape 19"/>
          <p:cNvSpPr/>
          <p:nvPr/>
        </p:nvSpPr>
        <p:spPr>
          <a:xfrm>
            <a:off x="502920" y="4773168"/>
            <a:ext cx="292608" cy="292608"/>
          </a:xfrm>
          <a:prstGeom prst="ellipse">
            <a:avLst/>
          </a:prstGeom>
          <a:solidFill>
            <a:srgbClr val="1A7A6E"/>
          </a:solidFill>
          <a:ln w="12700">
            <a:solidFill>
              <a:srgbClr val="1A7A6E"/>
            </a:solidFill>
            <a:prstDash val="solid"/>
          </a:ln>
        </p:spPr>
      </p:sp>
      <p:sp>
        <p:nvSpPr>
          <p:cNvPr id="22" name="Text 20"/>
          <p:cNvSpPr/>
          <p:nvPr/>
        </p:nvSpPr>
        <p:spPr>
          <a:xfrm>
            <a:off x="502920" y="477316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74573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summary table</a:t>
            </a:r>
            <a:endParaRPr lang="en-US" sz="1300" dirty="0"/>
          </a:p>
        </p:txBody>
      </p:sp>
      <p:sp>
        <p:nvSpPr>
          <p:cNvPr id="24" name="Text 22"/>
          <p:cNvSpPr/>
          <p:nvPr/>
        </p:nvSpPr>
        <p:spPr>
          <a:xfrm>
            <a:off x="932688" y="4974336"/>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Scroll to the bottom for the full detail on all 18 countries, 14 of them Caribbean, including import duty and a source link on every row.</a:t>
            </a:r>
            <a:endParaRPr lang="en-US" sz="1150" dirty="0"/>
          </a:p>
        </p:txBody>
      </p:sp>
      <p:sp>
        <p:nvSpPr>
          <p:cNvPr id="25" name="Shape 23"/>
          <p:cNvSpPr/>
          <p:nvPr/>
        </p:nvSpPr>
        <p:spPr>
          <a:xfrm>
            <a:off x="6355080" y="1664208"/>
            <a:ext cx="5330952" cy="3566160"/>
          </a:xfrm>
          <a:prstGeom prst="roundRect">
            <a:avLst>
              <a:gd name="adj" fmla="val 1538"/>
            </a:avLst>
          </a:prstGeom>
          <a:solidFill>
            <a:srgbClr val="FBFDFC"/>
          </a:solidFill>
          <a:ln w="19050">
            <a:solidFill>
              <a:srgbClr val="1A9E75"/>
            </a:solidFill>
            <a:prstDash val="dash"/>
          </a:ln>
        </p:spPr>
      </p:sp>
      <p:sp>
        <p:nvSpPr>
          <p:cNvPr id="26" name="Shape 24"/>
          <p:cNvSpPr/>
          <p:nvPr/>
        </p:nvSpPr>
        <p:spPr>
          <a:xfrm>
            <a:off x="6556248" y="1847088"/>
            <a:ext cx="1417320" cy="274320"/>
          </a:xfrm>
          <a:prstGeom prst="roundRect">
            <a:avLst>
              <a:gd name="adj" fmla="val 16667"/>
            </a:avLst>
          </a:prstGeom>
          <a:solidFill>
            <a:srgbClr val="1A9E75"/>
          </a:solidFill>
          <a:ln w="12700">
            <a:solidFill>
              <a:srgbClr val="1A9E75"/>
            </a:solidFill>
            <a:prstDash val="solid"/>
          </a:ln>
        </p:spPr>
      </p:sp>
      <p:sp>
        <p:nvSpPr>
          <p:cNvPr id="27" name="Text 25"/>
          <p:cNvSpPr/>
          <p:nvPr/>
        </p:nvSpPr>
        <p:spPr>
          <a:xfrm>
            <a:off x="6556248" y="184708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8" name="Text 26"/>
          <p:cNvSpPr/>
          <p:nvPr/>
        </p:nvSpPr>
        <p:spPr>
          <a:xfrm>
            <a:off x="6556248" y="2231136"/>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bar chart and scatter chart together</a:t>
            </a:r>
            <a:endParaRPr lang="en-US" sz="1250" dirty="0"/>
          </a:p>
        </p:txBody>
      </p:sp>
      <p:sp>
        <p:nvSpPr>
          <p:cNvPr id="29" name="Text 27"/>
          <p:cNvSpPr/>
          <p:nvPr/>
        </p:nvSpPr>
        <p:spPr>
          <a:xfrm>
            <a:off x="6556248" y="2852928"/>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0" name="Text 28"/>
          <p:cNvSpPr/>
          <p:nvPr/>
        </p:nvSpPr>
        <p:spPr>
          <a:xfrm>
            <a:off x="6629400" y="3090672"/>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Jamaica's bar, highlighted differently from the rest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12% target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Jamaica's dot on the scatter chart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dotted trend line</a:t>
            </a:r>
            <a:endParaRPr lang="en-US" sz="105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2 - Caribbean Regional Comparison</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2</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Getting the most out of the comparison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Two things are worth pointing out to anyone reading this page for the first time.</a:t>
            </a:r>
            <a:endParaRPr lang="en-US" sz="1300" dirty="0"/>
          </a:p>
        </p:txBody>
      </p:sp>
      <p:sp>
        <p:nvSpPr>
          <p:cNvPr id="5" name="Shape 3"/>
          <p:cNvSpPr/>
          <p:nvPr/>
        </p:nvSpPr>
        <p:spPr>
          <a:xfrm>
            <a:off x="502920" y="1691640"/>
            <a:ext cx="5509260" cy="1691640"/>
          </a:xfrm>
          <a:prstGeom prst="roundRect">
            <a:avLst>
              <a:gd name="adj" fmla="val 3243"/>
            </a:avLst>
          </a:prstGeom>
          <a:solidFill>
            <a:srgbClr val="F1F6F4"/>
          </a:solidFill>
          <a:ln w="12700">
            <a:solidFill>
              <a:srgbClr val="D8E3E0"/>
            </a:solidFill>
            <a:prstDash val="solid"/>
          </a:ln>
        </p:spPr>
      </p:sp>
      <p:sp>
        <p:nvSpPr>
          <p:cNvPr id="6" name="Text 4"/>
          <p:cNvSpPr/>
          <p:nvPr/>
        </p:nvSpPr>
        <p:spPr>
          <a:xfrm>
            <a:off x="649224" y="1819656"/>
            <a:ext cx="5216652"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Prices are in US dollars</a:t>
            </a:r>
            <a:endParaRPr lang="en-US" sz="1100" dirty="0"/>
          </a:p>
        </p:txBody>
      </p:sp>
      <p:sp>
        <p:nvSpPr>
          <p:cNvPr id="7" name="Text 5"/>
          <p:cNvSpPr/>
          <p:nvPr/>
        </p:nvSpPr>
        <p:spPr>
          <a:xfrm>
            <a:off x="649224" y="2093976"/>
            <a:ext cx="5216652" cy="11612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Fuel prices on this page are shown in US$ per litre, not Jamaican dollars. That is deliberate. Comparing countries in JMD would mean converting everyone's prices through Jamaica's exchange rate, which changes the picture every time the rate moves.</a:t>
            </a:r>
            <a:endParaRPr lang="en-US" sz="1050" dirty="0"/>
          </a:p>
        </p:txBody>
      </p:sp>
      <p:sp>
        <p:nvSpPr>
          <p:cNvPr id="8" name="Shape 6"/>
          <p:cNvSpPr/>
          <p:nvPr/>
        </p:nvSpPr>
        <p:spPr>
          <a:xfrm>
            <a:off x="6176772" y="1691640"/>
            <a:ext cx="5509260" cy="1691640"/>
          </a:xfrm>
          <a:prstGeom prst="roundRect">
            <a:avLst>
              <a:gd name="adj" fmla="val 3243"/>
            </a:avLst>
          </a:prstGeom>
          <a:solidFill>
            <a:srgbClr val="F1F6F4"/>
          </a:solidFill>
          <a:ln w="12700">
            <a:solidFill>
              <a:srgbClr val="D8E3E0"/>
            </a:solidFill>
            <a:prstDash val="solid"/>
          </a:ln>
        </p:spPr>
      </p:sp>
      <p:sp>
        <p:nvSpPr>
          <p:cNvPr id="9" name="Text 7"/>
          <p:cNvSpPr/>
          <p:nvPr/>
        </p:nvSpPr>
        <p:spPr>
          <a:xfrm>
            <a:off x="6323076" y="1819656"/>
            <a:ext cx="5216652"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Not every country is on every chart</a:t>
            </a:r>
            <a:endParaRPr lang="en-US" sz="1100" dirty="0"/>
          </a:p>
        </p:txBody>
      </p:sp>
      <p:sp>
        <p:nvSpPr>
          <p:cNvPr id="10" name="Text 8"/>
          <p:cNvSpPr/>
          <p:nvPr/>
        </p:nvSpPr>
        <p:spPr>
          <a:xfrm>
            <a:off x="6323076" y="2093976"/>
            <a:ext cx="5216652" cy="11612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Some countries appear in the table but not on the charts. That is because they do not publish the figure that chart needs. A country missing from the scatter has no published EV sales share, not zero electric cars.</a:t>
            </a:r>
            <a:endParaRPr lang="en-US" sz="1050" dirty="0"/>
          </a:p>
        </p:txBody>
      </p:sp>
      <p:sp>
        <p:nvSpPr>
          <p:cNvPr id="11" name="Shape 9"/>
          <p:cNvSpPr/>
          <p:nvPr/>
        </p:nvSpPr>
        <p:spPr>
          <a:xfrm>
            <a:off x="502920" y="3611880"/>
            <a:ext cx="11183112" cy="2103120"/>
          </a:xfrm>
          <a:prstGeom prst="roundRect">
            <a:avLst>
              <a:gd name="adj" fmla="val 2609"/>
            </a:avLst>
          </a:prstGeom>
          <a:solidFill>
            <a:srgbClr val="FBFDFC"/>
          </a:solidFill>
          <a:ln w="19050">
            <a:solidFill>
              <a:srgbClr val="1A9E75"/>
            </a:solidFill>
            <a:prstDash val="dash"/>
          </a:ln>
        </p:spPr>
      </p:sp>
      <p:sp>
        <p:nvSpPr>
          <p:cNvPr id="12" name="Shape 10"/>
          <p:cNvSpPr/>
          <p:nvPr/>
        </p:nvSpPr>
        <p:spPr>
          <a:xfrm>
            <a:off x="704088" y="3794760"/>
            <a:ext cx="1417320" cy="274320"/>
          </a:xfrm>
          <a:prstGeom prst="roundRect">
            <a:avLst>
              <a:gd name="adj" fmla="val 16667"/>
            </a:avLst>
          </a:prstGeom>
          <a:solidFill>
            <a:srgbClr val="1A9E75"/>
          </a:solidFill>
          <a:ln w="12700">
            <a:solidFill>
              <a:srgbClr val="1A9E75"/>
            </a:solidFill>
            <a:prstDash val="solid"/>
          </a:ln>
        </p:spPr>
      </p:sp>
      <p:sp>
        <p:nvSpPr>
          <p:cNvPr id="13" name="Text 11"/>
          <p:cNvSpPr/>
          <p:nvPr/>
        </p:nvSpPr>
        <p:spPr>
          <a:xfrm>
            <a:off x="704088" y="379476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4" name="Text 12"/>
          <p:cNvSpPr/>
          <p:nvPr/>
        </p:nvSpPr>
        <p:spPr>
          <a:xfrm>
            <a:off x="704088" y="4178808"/>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summary table at the bottom of the page</a:t>
            </a:r>
            <a:endParaRPr lang="en-US" sz="1250" dirty="0"/>
          </a:p>
        </p:txBody>
      </p:sp>
      <p:sp>
        <p:nvSpPr>
          <p:cNvPr id="15" name="Text 13"/>
          <p:cNvSpPr/>
          <p:nvPr/>
        </p:nvSpPr>
        <p:spPr>
          <a:xfrm>
            <a:off x="704088" y="4800600"/>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16" name="Text 14"/>
          <p:cNvSpPr/>
          <p:nvPr/>
        </p:nvSpPr>
        <p:spPr>
          <a:xfrm>
            <a:off x="777240" y="5038344"/>
            <a:ext cx="1063447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country column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import duty column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blank cell, showing where a country does not publish that figure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source link at the end of a row</a:t>
            </a:r>
            <a:endParaRPr lang="en-US" sz="1050" dirty="0"/>
          </a:p>
        </p:txBody>
      </p:sp>
      <p:sp>
        <p:nvSpPr>
          <p:cNvPr id="17" name="Text 15"/>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2 - Caribbean Regional Comparison</a:t>
            </a:r>
            <a:endParaRPr lang="en-US" sz="900" dirty="0"/>
          </a:p>
        </p:txBody>
      </p:sp>
      <p:sp>
        <p:nvSpPr>
          <p:cNvPr id="18" name="Text 16"/>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3</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3</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EV vs. ICE Calculator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Compare one petrol car against one electric car over the years you plan to own it.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Which is cheaper for me, and when does the electric car catch up?</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choose the two vehicles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'Vehicle selection and costs'</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heading if the section is not already open.</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petrol car</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first 'Select model' dropdown. The list covers the models most commonly sold and imported in Jamaica.</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the price it fills in</a:t>
            </a:r>
            <a:endParaRPr lang="en-US" sz="1300" dirty="0"/>
          </a:p>
        </p:txBody>
      </p:sp>
      <p:sp>
        <p:nvSpPr>
          <p:cNvPr id="15" name="Text 13"/>
          <p:cNvSpPr/>
          <p:nvPr/>
        </p:nvSpPr>
        <p:spPr>
          <a:xfrm>
            <a:off x="932688" y="295808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Choosing a model fills in a purchase price automatically. Type over it if you have a real quote.</a:t>
            </a:r>
            <a:endParaRPr lang="en-US" sz="1150" dirty="0"/>
          </a:p>
        </p:txBody>
      </p:sp>
      <p:sp>
        <p:nvSpPr>
          <p:cNvPr id="16" name="Shape 14"/>
          <p:cNvSpPr/>
          <p:nvPr/>
        </p:nvSpPr>
        <p:spPr>
          <a:xfrm>
            <a:off x="502920" y="3534156"/>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53415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50672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the fuel consumption</a:t>
            </a:r>
            <a:endParaRPr lang="en-US" sz="1300" dirty="0"/>
          </a:p>
        </p:txBody>
      </p:sp>
      <p:sp>
        <p:nvSpPr>
          <p:cNvPr id="19" name="Text 17"/>
          <p:cNvSpPr/>
          <p:nvPr/>
        </p:nvSpPr>
        <p:spPr>
          <a:xfrm>
            <a:off x="932688" y="373532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Given in litres per 100 km. Type over it, or drag the slider, if you know what your car really uses.</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electric car</a:t>
            </a:r>
            <a:endParaRPr lang="en-US" sz="1300" dirty="0"/>
          </a:p>
        </p:txBody>
      </p:sp>
      <p:sp>
        <p:nvSpPr>
          <p:cNvPr id="23" name="Text 21"/>
          <p:cNvSpPr/>
          <p:nvPr/>
        </p:nvSpPr>
        <p:spPr>
          <a:xfrm>
            <a:off x="932688" y="451256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second 'Select model' dropdown, below the petrol one.</a:t>
            </a:r>
            <a:endParaRPr lang="en-US" sz="1150" dirty="0"/>
          </a:p>
        </p:txBody>
      </p:sp>
      <p:sp>
        <p:nvSpPr>
          <p:cNvPr id="24" name="Shape 22"/>
          <p:cNvSpPr/>
          <p:nvPr/>
        </p:nvSpPr>
        <p:spPr>
          <a:xfrm>
            <a:off x="502920" y="4919472"/>
            <a:ext cx="292608" cy="292608"/>
          </a:xfrm>
          <a:prstGeom prst="ellipse">
            <a:avLst/>
          </a:prstGeom>
          <a:solidFill>
            <a:srgbClr val="1A7A6E"/>
          </a:solidFill>
          <a:ln w="12700">
            <a:solidFill>
              <a:srgbClr val="1A7A6E"/>
            </a:solidFill>
            <a:prstDash val="solid"/>
          </a:ln>
        </p:spPr>
      </p:sp>
      <p:sp>
        <p:nvSpPr>
          <p:cNvPr id="25" name="Text 23"/>
          <p:cNvSpPr/>
          <p:nvPr/>
        </p:nvSpPr>
        <p:spPr>
          <a:xfrm>
            <a:off x="502920" y="49194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932688" y="48920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its price and consumption</a:t>
            </a:r>
            <a:endParaRPr lang="en-US" sz="1300" dirty="0"/>
          </a:p>
        </p:txBody>
      </p:sp>
      <p:sp>
        <p:nvSpPr>
          <p:cNvPr id="27" name="Text 25"/>
          <p:cNvSpPr/>
          <p:nvPr/>
        </p:nvSpPr>
        <p:spPr>
          <a:xfrm>
            <a:off x="932688" y="512064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Electric consumption is in kWh per 100 km instead of litres.</a:t>
            </a:r>
            <a:endParaRPr lang="en-US" sz="1150" dirty="0"/>
          </a:p>
        </p:txBody>
      </p:sp>
      <p:sp>
        <p:nvSpPr>
          <p:cNvPr id="28" name="Shape 26"/>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sp>
      <p:sp>
        <p:nvSpPr>
          <p:cNvPr id="29" name="Shape 27"/>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30" name="Text 28"/>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1" name="Text 29"/>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'Vehicle selection and costs' panel with both cars chosen</a:t>
            </a:r>
            <a:endParaRPr lang="en-US" sz="1250" dirty="0"/>
          </a:p>
        </p:txBody>
      </p:sp>
      <p:sp>
        <p:nvSpPr>
          <p:cNvPr id="32" name="Text 30"/>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3" name="Text 31"/>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petrol model dropdown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purchase price box that fills in automatically</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consumption box and its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electric model dropdown below</a:t>
            </a:r>
            <a:endParaRPr lang="en-US" sz="105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your driving and charging</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'Driving and ownership'</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section below the vehicle choices.</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daily distance</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far you drive on a typical day, in kilometres. Type a number or drag the slider.</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how long you will keep the car</a:t>
            </a:r>
            <a:endParaRPr lang="en-US" sz="1300" dirty="0"/>
          </a:p>
        </p:txBody>
      </p:sp>
      <p:sp>
        <p:nvSpPr>
          <p:cNvPr id="15" name="Text 13"/>
          <p:cNvSpPr/>
          <p:nvPr/>
        </p:nvSpPr>
        <p:spPr>
          <a:xfrm>
            <a:off x="932688" y="295808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years. This decides how far the chart runs.</a:t>
            </a:r>
            <a:endParaRPr lang="en-US" sz="1150" dirty="0"/>
          </a:p>
        </p:txBody>
      </p:sp>
      <p:sp>
        <p:nvSpPr>
          <p:cNvPr id="16" name="Shape 14"/>
          <p:cNvSpPr/>
          <p:nvPr/>
        </p:nvSpPr>
        <p:spPr>
          <a:xfrm>
            <a:off x="502920" y="3364992"/>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364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3375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'Charging location'</a:t>
            </a:r>
            <a:endParaRPr lang="en-US" sz="1300" dirty="0"/>
          </a:p>
        </p:txBody>
      </p:sp>
      <p:sp>
        <p:nvSpPr>
          <p:cNvPr id="19" name="Text 17"/>
          <p:cNvSpPr/>
          <p:nvPr/>
        </p:nvSpPr>
        <p:spPr>
          <a:xfrm>
            <a:off x="932688" y="35661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part most people miss, and it changes the answer a lot. Choose home only, public only, or a mixture.</a:t>
            </a:r>
            <a:endParaRPr lang="en-US" sz="1150" dirty="0"/>
          </a:p>
        </p:txBody>
      </p:sp>
      <p:sp>
        <p:nvSpPr>
          <p:cNvPr id="20" name="Shape 18"/>
          <p:cNvSpPr/>
          <p:nvPr/>
        </p:nvSpPr>
        <p:spPr>
          <a:xfrm>
            <a:off x="502920" y="4142232"/>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1422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1148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If you chose a mixture</a:t>
            </a:r>
            <a:endParaRPr lang="en-US" sz="1300" dirty="0"/>
          </a:p>
        </p:txBody>
      </p:sp>
      <p:sp>
        <p:nvSpPr>
          <p:cNvPr id="23" name="Text 21"/>
          <p:cNvSpPr/>
          <p:nvPr/>
        </p:nvSpPr>
        <p:spPr>
          <a:xfrm>
            <a:off x="932688" y="434340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 box appears asking what percentage you charge at home. Enter your best estimate.</a:t>
            </a:r>
            <a:endParaRPr lang="en-US" sz="1150" dirty="0"/>
          </a:p>
        </p:txBody>
      </p:sp>
      <p:sp>
        <p:nvSpPr>
          <p:cNvPr id="24" name="Shape 22"/>
          <p:cNvSpPr/>
          <p:nvPr/>
        </p:nvSpPr>
        <p:spPr>
          <a:xfrm>
            <a:off x="6355080" y="1371600"/>
            <a:ext cx="5330952" cy="3520440"/>
          </a:xfrm>
          <a:prstGeom prst="roundRect">
            <a:avLst>
              <a:gd name="adj" fmla="val 1558"/>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driving inputs and the charging location options</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daily distance box and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ownership period box and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charging location options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 charged at home' box that appears for a mixture</a:t>
            </a:r>
            <a:endParaRPr lang="en-US" sz="1050" dirty="0"/>
          </a:p>
        </p:txBody>
      </p:sp>
      <p:sp>
        <p:nvSpPr>
          <p:cNvPr id="30" name="Shape 28"/>
          <p:cNvSpPr/>
          <p:nvPr/>
        </p:nvSpPr>
        <p:spPr>
          <a:xfrm>
            <a:off x="502920" y="5074920"/>
            <a:ext cx="11183112" cy="658368"/>
          </a:xfrm>
          <a:prstGeom prst="roundRect">
            <a:avLst>
              <a:gd name="adj" fmla="val 8333"/>
            </a:avLst>
          </a:prstGeom>
          <a:solidFill>
            <a:srgbClr val="F1F6F4"/>
          </a:solidFill>
          <a:ln w="12700">
            <a:solidFill>
              <a:srgbClr val="D8E3E0"/>
            </a:solidFill>
            <a:prstDash val="solid"/>
          </a:ln>
        </p:spPr>
      </p:sp>
      <p:sp>
        <p:nvSpPr>
          <p:cNvPr id="31" name="Shape 29"/>
          <p:cNvSpPr/>
          <p:nvPr/>
        </p:nvSpPr>
        <p:spPr>
          <a:xfrm>
            <a:off x="685800" y="5248656"/>
            <a:ext cx="310896" cy="310896"/>
          </a:xfrm>
          <a:prstGeom prst="ellipse">
            <a:avLst/>
          </a:prstGeom>
          <a:solidFill>
            <a:srgbClr val="1A9E75"/>
          </a:solidFill>
          <a:ln w="12700">
            <a:solidFill>
              <a:srgbClr val="1A9E75"/>
            </a:solidFill>
            <a:prstDash val="solid"/>
          </a:ln>
        </p:spPr>
      </p:sp>
      <p:sp>
        <p:nvSpPr>
          <p:cNvPr id="32" name="Text 30"/>
          <p:cNvSpPr/>
          <p:nvPr/>
        </p:nvSpPr>
        <p:spPr>
          <a:xfrm>
            <a:off x="685800" y="5248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18464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This matters:  </a:t>
            </a:r>
            <a:pPr indent="0" marL="0">
              <a:buNone/>
            </a:pPr>
            <a:r>
              <a:rPr lang="en-US" sz="1100" dirty="0">
                <a:solidFill>
                  <a:srgbClr val="6B7A77"/>
                </a:solidFill>
                <a:latin typeface="Calibri" pitchFamily="34" charset="0"/>
                <a:ea typeface="Calibri" pitchFamily="34" charset="-122"/>
                <a:cs typeface="Calibri" pitchFamily="34" charset="-120"/>
              </a:rPr>
              <a:t>home charging is far cheaper than public charging, so an honest split here makes the result far more realistic.</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reading your answer</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Nothing needs to be submitted. The results on the right update as soon as you change any input.</a:t>
            </a:r>
            <a:endParaRPr lang="en-US" sz="1300" dirty="0"/>
          </a:p>
        </p:txBody>
      </p:sp>
      <p:sp>
        <p:nvSpPr>
          <p:cNvPr id="5" name="Shape 3"/>
          <p:cNvSpPr/>
          <p:nvPr/>
        </p:nvSpPr>
        <p:spPr>
          <a:xfrm>
            <a:off x="502920" y="1691640"/>
            <a:ext cx="3617976" cy="1371600"/>
          </a:xfrm>
          <a:prstGeom prst="roundRect">
            <a:avLst>
              <a:gd name="adj" fmla="val 4000"/>
            </a:avLst>
          </a:prstGeom>
          <a:solidFill>
            <a:srgbClr val="F1F6F4"/>
          </a:solidFill>
          <a:ln w="12700">
            <a:solidFill>
              <a:srgbClr val="D8E3E0"/>
            </a:solidFill>
            <a:prstDash val="solid"/>
          </a:ln>
        </p:spPr>
      </p:sp>
      <p:sp>
        <p:nvSpPr>
          <p:cNvPr id="6" name="Text 4"/>
          <p:cNvSpPr/>
          <p:nvPr/>
        </p:nvSpPr>
        <p:spPr>
          <a:xfrm>
            <a:off x="649224" y="181965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The summary cards</a:t>
            </a:r>
            <a:endParaRPr lang="en-US" sz="1100" dirty="0"/>
          </a:p>
        </p:txBody>
      </p:sp>
      <p:sp>
        <p:nvSpPr>
          <p:cNvPr id="7" name="Text 5"/>
          <p:cNvSpPr/>
          <p:nvPr/>
        </p:nvSpPr>
        <p:spPr>
          <a:xfrm>
            <a:off x="649224"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Quick totals across the top: what each vehicle costs to run, and the difference between them.</a:t>
            </a:r>
            <a:endParaRPr lang="en-US" sz="1050" dirty="0"/>
          </a:p>
        </p:txBody>
      </p:sp>
      <p:sp>
        <p:nvSpPr>
          <p:cNvPr id="8" name="Shape 6"/>
          <p:cNvSpPr/>
          <p:nvPr/>
        </p:nvSpPr>
        <p:spPr>
          <a:xfrm>
            <a:off x="4285488" y="1691640"/>
            <a:ext cx="3617976" cy="1371600"/>
          </a:xfrm>
          <a:prstGeom prst="roundRect">
            <a:avLst>
              <a:gd name="adj" fmla="val 4000"/>
            </a:avLst>
          </a:prstGeom>
          <a:solidFill>
            <a:srgbClr val="F1F6F4"/>
          </a:solidFill>
          <a:ln w="12700">
            <a:solidFill>
              <a:srgbClr val="D8E3E0"/>
            </a:solidFill>
            <a:prstDash val="solid"/>
          </a:ln>
        </p:spPr>
      </p:sp>
      <p:sp>
        <p:nvSpPr>
          <p:cNvPr id="9" name="Text 7"/>
          <p:cNvSpPr/>
          <p:nvPr/>
        </p:nvSpPr>
        <p:spPr>
          <a:xfrm>
            <a:off x="4431792" y="181965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The verdict box</a:t>
            </a:r>
            <a:endParaRPr lang="en-US" sz="1100" dirty="0"/>
          </a:p>
        </p:txBody>
      </p:sp>
      <p:sp>
        <p:nvSpPr>
          <p:cNvPr id="10" name="Text 8"/>
          <p:cNvSpPr/>
          <p:nvPr/>
        </p:nvSpPr>
        <p:spPr>
          <a:xfrm>
            <a:off x="4431792"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Under the cards, in plain words: 'The EV becomes the cheaper vehicle after 3 years, 4 months', or a red warning that it never does.</a:t>
            </a:r>
            <a:endParaRPr lang="en-US" sz="1050" dirty="0"/>
          </a:p>
        </p:txBody>
      </p:sp>
      <p:sp>
        <p:nvSpPr>
          <p:cNvPr id="11" name="Shape 9"/>
          <p:cNvSpPr/>
          <p:nvPr/>
        </p:nvSpPr>
        <p:spPr>
          <a:xfrm>
            <a:off x="8068056" y="1691640"/>
            <a:ext cx="3617976" cy="1371600"/>
          </a:xfrm>
          <a:prstGeom prst="roundRect">
            <a:avLst>
              <a:gd name="adj" fmla="val 4000"/>
            </a:avLst>
          </a:prstGeom>
          <a:solidFill>
            <a:srgbClr val="F1F6F4"/>
          </a:solidFill>
          <a:ln w="12700">
            <a:solidFill>
              <a:srgbClr val="D8E3E0"/>
            </a:solidFill>
            <a:prstDash val="solid"/>
          </a:ln>
        </p:spPr>
      </p:sp>
      <p:sp>
        <p:nvSpPr>
          <p:cNvPr id="12" name="Text 10"/>
          <p:cNvSpPr/>
          <p:nvPr/>
        </p:nvSpPr>
        <p:spPr>
          <a:xfrm>
            <a:off x="8214360" y="181965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The two lines on the chart</a:t>
            </a:r>
            <a:endParaRPr lang="en-US" sz="1100" dirty="0"/>
          </a:p>
        </p:txBody>
      </p:sp>
      <p:sp>
        <p:nvSpPr>
          <p:cNvPr id="13" name="Text 11"/>
          <p:cNvSpPr/>
          <p:nvPr/>
        </p:nvSpPr>
        <p:spPr>
          <a:xfrm>
            <a:off x="8214360"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Total money spent so far, year by year. Orange is petrol, green is electric. Where they cross is the payback point.</a:t>
            </a:r>
            <a:endParaRPr lang="en-US" sz="1050" dirty="0"/>
          </a:p>
        </p:txBody>
      </p:sp>
      <p:sp>
        <p:nvSpPr>
          <p:cNvPr id="14" name="Text 12"/>
          <p:cNvSpPr/>
          <p:nvPr/>
        </p:nvSpPr>
        <p:spPr>
          <a:xfrm>
            <a:off x="502920" y="329184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Things worth trying</a:t>
            </a:r>
            <a:endParaRPr lang="en-US" sz="1900" dirty="0"/>
          </a:p>
        </p:txBody>
      </p:sp>
      <p:sp>
        <p:nvSpPr>
          <p:cNvPr id="15" name="Text 13"/>
          <p:cNvSpPr/>
          <p:nvPr/>
        </p:nvSpPr>
        <p:spPr>
          <a:xfrm>
            <a:off x="502920" y="3703320"/>
            <a:ext cx="5577840"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Push the daily distance up and watch the crossing point move earlier. The more you drive, the sooner an EV pays back.</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Switch charging from home to public only, and see how much of the saving disappears.</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Try a used electric car against a new petrol one, which is the choice many Jamaican buyers actually face.</a:t>
            </a:r>
            <a:endParaRPr lang="en-US" sz="1250" dirty="0"/>
          </a:p>
        </p:txBody>
      </p:sp>
      <p:sp>
        <p:nvSpPr>
          <p:cNvPr id="16" name="Shape 14"/>
          <p:cNvSpPr/>
          <p:nvPr/>
        </p:nvSpPr>
        <p:spPr>
          <a:xfrm>
            <a:off x="6355080" y="3273552"/>
            <a:ext cx="5330952" cy="2423160"/>
          </a:xfrm>
          <a:prstGeom prst="roundRect">
            <a:avLst>
              <a:gd name="adj" fmla="val 2264"/>
            </a:avLst>
          </a:prstGeom>
          <a:solidFill>
            <a:srgbClr val="FBFDFC"/>
          </a:solidFill>
          <a:ln w="19050">
            <a:solidFill>
              <a:srgbClr val="1A9E75"/>
            </a:solidFill>
            <a:prstDash val="dash"/>
          </a:ln>
        </p:spPr>
      </p:sp>
      <p:sp>
        <p:nvSpPr>
          <p:cNvPr id="17" name="Shape 15"/>
          <p:cNvSpPr/>
          <p:nvPr/>
        </p:nvSpPr>
        <p:spPr>
          <a:xfrm>
            <a:off x="6556248" y="3456432"/>
            <a:ext cx="1417320" cy="274320"/>
          </a:xfrm>
          <a:prstGeom prst="roundRect">
            <a:avLst>
              <a:gd name="adj" fmla="val 16667"/>
            </a:avLst>
          </a:prstGeom>
          <a:solidFill>
            <a:srgbClr val="1A9E75"/>
          </a:solidFill>
          <a:ln w="12700">
            <a:solidFill>
              <a:srgbClr val="1A9E75"/>
            </a:solidFill>
            <a:prstDash val="solid"/>
          </a:ln>
        </p:spPr>
      </p:sp>
      <p:sp>
        <p:nvSpPr>
          <p:cNvPr id="18" name="Text 16"/>
          <p:cNvSpPr/>
          <p:nvPr/>
        </p:nvSpPr>
        <p:spPr>
          <a:xfrm>
            <a:off x="6556248" y="345643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9" name="Text 17"/>
          <p:cNvSpPr/>
          <p:nvPr/>
        </p:nvSpPr>
        <p:spPr>
          <a:xfrm>
            <a:off x="6556248" y="384048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result cards, the verdict box and the cost chart</a:t>
            </a:r>
            <a:endParaRPr lang="en-US" sz="1250" dirty="0"/>
          </a:p>
        </p:txBody>
      </p:sp>
      <p:sp>
        <p:nvSpPr>
          <p:cNvPr id="20" name="Text 18"/>
          <p:cNvSpPr/>
          <p:nvPr/>
        </p:nvSpPr>
        <p:spPr>
          <a:xfrm>
            <a:off x="6556248" y="446227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1" name="Text 19"/>
          <p:cNvSpPr/>
          <p:nvPr/>
        </p:nvSpPr>
        <p:spPr>
          <a:xfrm>
            <a:off x="6629400" y="4700016"/>
            <a:ext cx="4782312" cy="822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summary cards along the top</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'When does the EV overtake?' verdict box</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point where the two lines cross</a:t>
            </a:r>
            <a:endParaRPr lang="en-US" sz="1050" dirty="0"/>
          </a:p>
        </p:txBody>
      </p:sp>
      <p:sp>
        <p:nvSpPr>
          <p:cNvPr id="22" name="Text 2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23" name="Text 2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4</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4</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Taxi Feasibility Tool</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Work out what a taxi operator actually takes home, after fuel or charging, servicing and loan repayments.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Can an electric taxi pay for itself, and how long does it take?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choose which vehicles to compare</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'Vehicles to compare'</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first section on the left.</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Look at the list</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There are twelve vehicles: three petrol taxis, including an older and a late-model Probox, and nine electric ones.</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Add or remove vehicles</a:t>
            </a:r>
            <a:endParaRPr lang="en-US" sz="1300" dirty="0"/>
          </a:p>
        </p:txBody>
      </p:sp>
      <p:sp>
        <p:nvSpPr>
          <p:cNvPr id="15" name="Text 13"/>
          <p:cNvSpPr/>
          <p:nvPr/>
        </p:nvSpPr>
        <p:spPr>
          <a:xfrm>
            <a:off x="932688" y="295808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box to add a vehicle. Click the small x on a name to remove it.</a:t>
            </a:r>
            <a:endParaRPr lang="en-US" sz="1150" dirty="0"/>
          </a:p>
        </p:txBody>
      </p:sp>
      <p:sp>
        <p:nvSpPr>
          <p:cNvPr id="16" name="Shape 14"/>
          <p:cNvSpPr/>
          <p:nvPr/>
        </p:nvSpPr>
        <p:spPr>
          <a:xfrm>
            <a:off x="502920" y="3534156"/>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53415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50672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Keep at least one petrol vehicle</a:t>
            </a:r>
            <a:endParaRPr lang="en-US" sz="1300" dirty="0"/>
          </a:p>
        </p:txBody>
      </p:sp>
      <p:sp>
        <p:nvSpPr>
          <p:cNvPr id="19" name="Text 17"/>
          <p:cNvSpPr/>
          <p:nvPr/>
        </p:nvSpPr>
        <p:spPr>
          <a:xfrm>
            <a:off x="932688" y="373532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tool measures the electric vehicles against a petrol baseline, so it needs one to compare to.</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Notice the labels</a:t>
            </a:r>
            <a:endParaRPr lang="en-US" sz="1300" dirty="0"/>
          </a:p>
        </p:txBody>
      </p:sp>
      <p:sp>
        <p:nvSpPr>
          <p:cNvPr id="23" name="Text 21"/>
          <p:cNvSpPr/>
          <p:nvPr/>
        </p:nvSpPr>
        <p:spPr>
          <a:xfrm>
            <a:off x="932688" y="451256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Some names are tagged 'consumption derived'. Those are estimates rather than measured figures, so treat them as a guide.</a:t>
            </a:r>
            <a:endParaRPr lang="en-US" sz="1150" dirty="0"/>
          </a:p>
        </p:txBody>
      </p:sp>
      <p:sp>
        <p:nvSpPr>
          <p:cNvPr id="24" name="Shape 22"/>
          <p:cNvSpPr/>
          <p:nvPr/>
        </p:nvSpPr>
        <p:spPr>
          <a:xfrm>
            <a:off x="6355080" y="1371600"/>
            <a:ext cx="5330952" cy="3566160"/>
          </a:xfrm>
          <a:prstGeom prst="roundRect">
            <a:avLst>
              <a:gd name="adj" fmla="val 1538"/>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vehicle selection dropdown, open</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list of available vehicles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vehicle tagged 'consumption derived'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small x used to remove a chosen vehicle</a:t>
            </a:r>
            <a:endParaRPr lang="en-US" sz="1050" dirty="0"/>
          </a:p>
        </p:txBody>
      </p:sp>
      <p:sp>
        <p:nvSpPr>
          <p:cNvPr id="30" name="Shape 28"/>
          <p:cNvSpPr/>
          <p:nvPr/>
        </p:nvSpPr>
        <p:spPr>
          <a:xfrm>
            <a:off x="502920" y="5120640"/>
            <a:ext cx="11183112" cy="658368"/>
          </a:xfrm>
          <a:prstGeom prst="roundRect">
            <a:avLst>
              <a:gd name="adj" fmla="val 8333"/>
            </a:avLst>
          </a:prstGeom>
          <a:solidFill>
            <a:srgbClr val="F1F6F4"/>
          </a:solidFill>
          <a:ln w="12700">
            <a:solidFill>
              <a:srgbClr val="D8E3E0"/>
            </a:solidFill>
            <a:prstDash val="solid"/>
          </a:ln>
        </p:spPr>
      </p:sp>
      <p:sp>
        <p:nvSpPr>
          <p:cNvPr id="31" name="Shape 29"/>
          <p:cNvSpPr/>
          <p:nvPr/>
        </p:nvSpPr>
        <p:spPr>
          <a:xfrm>
            <a:off x="685800" y="5294376"/>
            <a:ext cx="310896" cy="310896"/>
          </a:xfrm>
          <a:prstGeom prst="ellipse">
            <a:avLst/>
          </a:prstGeom>
          <a:solidFill>
            <a:srgbClr val="1F3864"/>
          </a:solidFill>
          <a:ln w="12700">
            <a:solidFill>
              <a:srgbClr val="1F3864"/>
            </a:solidFill>
            <a:prstDash val="solid"/>
          </a:ln>
        </p:spPr>
      </p:sp>
      <p:sp>
        <p:nvSpPr>
          <p:cNvPr id="32" name="Text 30"/>
          <p:cNvSpPr/>
          <p:nvPr/>
        </p:nvSpPr>
        <p:spPr>
          <a:xfrm>
            <a:off x="685800" y="5294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230368"/>
            <a:ext cx="10424160" cy="457200"/>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Start small:  </a:t>
            </a:r>
            <a:pPr indent="0" marL="0">
              <a:buNone/>
            </a:pPr>
            <a:r>
              <a:rPr lang="en-US" sz="1100" dirty="0">
                <a:solidFill>
                  <a:srgbClr val="6B7A77"/>
                </a:solidFill>
                <a:latin typeface="Calibri" pitchFamily="34" charset="0"/>
                <a:ea typeface="Calibri" pitchFamily="34" charset="-122"/>
                <a:cs typeface="Calibri" pitchFamily="34" charset="-120"/>
              </a:rPr>
              <a:t>four vehicles is comfortable to read. Selecting all twelve works, and each gets its own marker shape, but the chart gets busy.</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your working day and financing</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'Trip volume and revenue'</a:t>
            </a:r>
            <a:endParaRPr lang="en-US" sz="1300" dirty="0"/>
          </a:p>
        </p:txBody>
      </p:sp>
      <p:sp>
        <p:nvSpPr>
          <p:cNvPr id="7" name="Text 5"/>
          <p:cNvSpPr/>
          <p:nvPr/>
        </p:nvSpPr>
        <p:spPr>
          <a:xfrm>
            <a:off x="932688" y="1572768"/>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Enter how many trips you do a day, what you charge per trip, the average trip length in km, and how many days a week you work.</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your ownership horizon</a:t>
            </a:r>
            <a:endParaRPr lang="en-US" sz="1300" dirty="0"/>
          </a:p>
        </p:txBody>
      </p:sp>
      <p:sp>
        <p:nvSpPr>
          <p:cNvPr id="11" name="Text 9"/>
          <p:cNvSpPr/>
          <p:nvPr/>
        </p:nvSpPr>
        <p:spPr>
          <a:xfrm>
            <a:off x="932688" y="2350008"/>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many years ahead to look. Longer horizons show what happens once the loan is paid off.</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'EV charging scenario'</a:t>
            </a:r>
            <a:endParaRPr lang="en-US" sz="1300" dirty="0"/>
          </a:p>
        </p:txBody>
      </p:sp>
      <p:sp>
        <p:nvSpPr>
          <p:cNvPr id="15" name="Text 13"/>
          <p:cNvSpPr/>
          <p:nvPr/>
        </p:nvSpPr>
        <p:spPr>
          <a:xfrm>
            <a:off x="932688" y="3127248"/>
            <a:ext cx="5102352" cy="859536"/>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Eight options: charging at home, the public network you picked in Global settings, JPS overnight, daytime or evening peak, a fleet base, a mixture, or your own price. This choice moves the result more than any other.</a:t>
            </a:r>
            <a:endParaRPr lang="en-US" sz="1150" dirty="0"/>
          </a:p>
        </p:txBody>
      </p:sp>
      <p:sp>
        <p:nvSpPr>
          <p:cNvPr id="16" name="Shape 14"/>
          <p:cNvSpPr/>
          <p:nvPr/>
        </p:nvSpPr>
        <p:spPr>
          <a:xfrm>
            <a:off x="502920" y="4041648"/>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404164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4014216"/>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'Loan financing'</a:t>
            </a:r>
            <a:endParaRPr lang="en-US" sz="1300" dirty="0"/>
          </a:p>
        </p:txBody>
      </p:sp>
      <p:sp>
        <p:nvSpPr>
          <p:cNvPr id="19" name="Text 17"/>
          <p:cNvSpPr/>
          <p:nvPr/>
        </p:nvSpPr>
        <p:spPr>
          <a:xfrm>
            <a:off x="932688" y="4242816"/>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selected vehicle gets its own deposit, interest rate and loan term. Defaults reflect typical Jamaican lending.</a:t>
            </a:r>
            <a:endParaRPr lang="en-US" sz="1150" dirty="0"/>
          </a:p>
        </p:txBody>
      </p:sp>
      <p:sp>
        <p:nvSpPr>
          <p:cNvPr id="20" name="Shape 18"/>
          <p:cNvSpPr/>
          <p:nvPr/>
        </p:nvSpPr>
        <p:spPr>
          <a:xfrm>
            <a:off x="502920" y="4818888"/>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8188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791456"/>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per vehicle if needed</a:t>
            </a:r>
            <a:endParaRPr lang="en-US" sz="1300" dirty="0"/>
          </a:p>
        </p:txBody>
      </p:sp>
      <p:sp>
        <p:nvSpPr>
          <p:cNvPr id="23" name="Text 21"/>
          <p:cNvSpPr/>
          <p:nvPr/>
        </p:nvSpPr>
        <p:spPr>
          <a:xfrm>
            <a:off x="932688" y="5020056"/>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Used vehicles and electric vehicles are often financed on different terms, which is why each has its own settings.</a:t>
            </a:r>
            <a:endParaRPr lang="en-US" sz="1150" dirty="0"/>
          </a:p>
        </p:txBody>
      </p:sp>
      <p:sp>
        <p:nvSpPr>
          <p:cNvPr id="24" name="Shape 22"/>
          <p:cNvSpPr/>
          <p:nvPr/>
        </p:nvSpPr>
        <p:spPr>
          <a:xfrm>
            <a:off x="6400800" y="1371600"/>
            <a:ext cx="5285232" cy="3977640"/>
          </a:xfrm>
          <a:prstGeom prst="roundRect">
            <a:avLst>
              <a:gd name="adj" fmla="val 1379"/>
            </a:avLst>
          </a:prstGeom>
          <a:solidFill>
            <a:srgbClr val="FBFDFC"/>
          </a:solidFill>
          <a:ln w="19050">
            <a:solidFill>
              <a:srgbClr val="1A9E75"/>
            </a:solidFill>
            <a:prstDash val="dash"/>
          </a:ln>
        </p:spPr>
      </p:sp>
      <p:sp>
        <p:nvSpPr>
          <p:cNvPr id="25" name="Shape 23"/>
          <p:cNvSpPr/>
          <p:nvPr/>
        </p:nvSpPr>
        <p:spPr>
          <a:xfrm>
            <a:off x="660196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60196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601968" y="1938528"/>
            <a:ext cx="488289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trip volume, charging and loan sections</a:t>
            </a:r>
            <a:endParaRPr lang="en-US" sz="1250" dirty="0"/>
          </a:p>
        </p:txBody>
      </p:sp>
      <p:sp>
        <p:nvSpPr>
          <p:cNvPr id="28" name="Text 26"/>
          <p:cNvSpPr/>
          <p:nvPr/>
        </p:nvSpPr>
        <p:spPr>
          <a:xfrm>
            <a:off x="6601968" y="2560320"/>
            <a:ext cx="488289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75120" y="2798064"/>
            <a:ext cx="4736592" cy="2377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Trips per day, fare, trip distance and days per week</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four charging options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vehicle's loan settings, expanded</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reading the result</a:t>
            </a:r>
            <a:endParaRPr lang="en-US" sz="3200" dirty="0"/>
          </a:p>
        </p:txBody>
      </p:sp>
      <p:sp>
        <p:nvSpPr>
          <p:cNvPr id="4" name="Shape 2"/>
          <p:cNvSpPr/>
          <p:nvPr/>
        </p:nvSpPr>
        <p:spPr>
          <a:xfrm>
            <a:off x="502920" y="1371600"/>
            <a:ext cx="3617976" cy="1463040"/>
          </a:xfrm>
          <a:prstGeom prst="roundRect">
            <a:avLst>
              <a:gd name="adj" fmla="val 3750"/>
            </a:avLst>
          </a:prstGeom>
          <a:solidFill>
            <a:srgbClr val="F1F6F4"/>
          </a:solidFill>
          <a:ln w="12700">
            <a:solidFill>
              <a:srgbClr val="D8E3E0"/>
            </a:solidFill>
            <a:prstDash val="solid"/>
          </a:ln>
        </p:spPr>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Vehicle cards</a:t>
            </a:r>
            <a:endParaRPr lang="en-US" sz="1100" dirty="0"/>
          </a:p>
        </p:txBody>
      </p:sp>
      <p:sp>
        <p:nvSpPr>
          <p:cNvPr id="6" name="Text 4"/>
          <p:cNvSpPr/>
          <p:nvPr/>
        </p:nvSpPr>
        <p:spPr>
          <a:xfrm>
            <a:off x="649224"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One block per vehicle: purchase price, monthly loan payment, energy cost per kilometre, and what is left over each year.</a:t>
            </a:r>
            <a:endParaRPr lang="en-US" sz="1050" dirty="0"/>
          </a:p>
        </p:txBody>
      </p:sp>
      <p:sp>
        <p:nvSpPr>
          <p:cNvPr id="7" name="Shape 5"/>
          <p:cNvSpPr/>
          <p:nvPr/>
        </p:nvSpPr>
        <p:spPr>
          <a:xfrm>
            <a:off x="4285488" y="1371600"/>
            <a:ext cx="3617976" cy="1463040"/>
          </a:xfrm>
          <a:prstGeom prst="roundRect">
            <a:avLst>
              <a:gd name="adj" fmla="val 3750"/>
            </a:avLst>
          </a:prstGeom>
          <a:solidFill>
            <a:srgbClr val="F1F6F4"/>
          </a:solidFill>
          <a:ln w="12700">
            <a:solidFill>
              <a:srgbClr val="D8E3E0"/>
            </a:solidFill>
            <a:prstDash val="solid"/>
          </a:ln>
        </p:spPr>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The income chart</a:t>
            </a:r>
            <a:endParaRPr lang="en-US" sz="1100" dirty="0"/>
          </a:p>
        </p:txBody>
      </p:sp>
      <p:sp>
        <p:nvSpPr>
          <p:cNvPr id="9" name="Text 7"/>
          <p:cNvSpPr/>
          <p:nvPr/>
        </p:nvSpPr>
        <p:spPr>
          <a:xfrm>
            <a:off x="4431792"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Money accumulated over time for each vehicle. Lines start below zero because of the deposit.</a:t>
            </a:r>
            <a:endParaRPr lang="en-US" sz="1050" dirty="0"/>
          </a:p>
        </p:txBody>
      </p:sp>
      <p:sp>
        <p:nvSpPr>
          <p:cNvPr id="10" name="Shape 8"/>
          <p:cNvSpPr/>
          <p:nvPr/>
        </p:nvSpPr>
        <p:spPr>
          <a:xfrm>
            <a:off x="8068056" y="1371600"/>
            <a:ext cx="3617976" cy="1463040"/>
          </a:xfrm>
          <a:prstGeom prst="roundRect">
            <a:avLst>
              <a:gd name="adj" fmla="val 3750"/>
            </a:avLst>
          </a:prstGeom>
          <a:solidFill>
            <a:srgbClr val="F1F6F4"/>
          </a:solidFill>
          <a:ln w="12700">
            <a:solidFill>
              <a:srgbClr val="D8E3E0"/>
            </a:solidFill>
            <a:prstDash val="solid"/>
          </a:ln>
        </p:spPr>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Crossover cards</a:t>
            </a:r>
            <a:endParaRPr lang="en-US" sz="1100" dirty="0"/>
          </a:p>
        </p:txBody>
      </p:sp>
      <p:sp>
        <p:nvSpPr>
          <p:cNvPr id="12" name="Text 10"/>
          <p:cNvSpPr/>
          <p:nvPr/>
        </p:nvSpPr>
        <p:spPr>
          <a:xfrm>
            <a:off x="8214360"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For each electric vehicle, how long until it overtakes the petrol baseline. 'Does not overtake' means not within your horizon.</a:t>
            </a:r>
            <a:endParaRPr lang="en-US" sz="1050" dirty="0"/>
          </a:p>
        </p:txBody>
      </p:sp>
      <p:sp>
        <p:nvSpPr>
          <p:cNvPr id="13" name="Text 11"/>
          <p:cNvSpPr/>
          <p:nvPr/>
        </p:nvSpPr>
        <p:spPr>
          <a:xfrm>
            <a:off x="502920" y="306324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Two details on the chart</a:t>
            </a:r>
            <a:endParaRPr lang="en-US" sz="1900" dirty="0"/>
          </a:p>
        </p:txBody>
      </p:sp>
      <p:sp>
        <p:nvSpPr>
          <p:cNvPr id="14" name="Text 12"/>
          <p:cNvSpPr/>
          <p:nvPr/>
        </p:nvSpPr>
        <p:spPr>
          <a:xfrm>
            <a:off x="502920" y="3474720"/>
            <a:ext cx="5577840" cy="17373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Every vehicle has its own marker shape, a circle, square, diamond, triangle and so on, so you can tell the lines apart even in black and white or on a printed poster.</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A dotted line instead of a solid one means that vehicle's fuel or energy figure is an estimate rather than a measurement.</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horizontal break-even line marks the point where the vehicle has repaid everything spent on it.</a:t>
            </a:r>
            <a:endParaRPr lang="en-US" sz="1250" dirty="0"/>
          </a:p>
        </p:txBody>
      </p:sp>
      <p:sp>
        <p:nvSpPr>
          <p:cNvPr id="15" name="Shape 13"/>
          <p:cNvSpPr/>
          <p:nvPr/>
        </p:nvSpPr>
        <p:spPr>
          <a:xfrm>
            <a:off x="6355080" y="3044952"/>
            <a:ext cx="5330952" cy="2651760"/>
          </a:xfrm>
          <a:prstGeom prst="roundRect">
            <a:avLst>
              <a:gd name="adj" fmla="val 2069"/>
            </a:avLst>
          </a:prstGeom>
          <a:solidFill>
            <a:srgbClr val="FBFDFC"/>
          </a:solidFill>
          <a:ln w="19050">
            <a:solidFill>
              <a:srgbClr val="1A9E75"/>
            </a:solidFill>
            <a:prstDash val="dash"/>
          </a:ln>
        </p:spPr>
      </p:sp>
      <p:sp>
        <p:nvSpPr>
          <p:cNvPr id="16" name="Shape 14"/>
          <p:cNvSpPr/>
          <p:nvPr/>
        </p:nvSpPr>
        <p:spPr>
          <a:xfrm>
            <a:off x="6556248" y="3227832"/>
            <a:ext cx="1417320" cy="274320"/>
          </a:xfrm>
          <a:prstGeom prst="roundRect">
            <a:avLst>
              <a:gd name="adj" fmla="val 16667"/>
            </a:avLst>
          </a:prstGeom>
          <a:solidFill>
            <a:srgbClr val="1A9E75"/>
          </a:solidFill>
          <a:ln w="12700">
            <a:solidFill>
              <a:srgbClr val="1A9E75"/>
            </a:solidFill>
            <a:prstDash val="solid"/>
          </a:ln>
        </p:spPr>
      </p:sp>
      <p:sp>
        <p:nvSpPr>
          <p:cNvPr id="17" name="Text 15"/>
          <p:cNvSpPr/>
          <p:nvPr/>
        </p:nvSpPr>
        <p:spPr>
          <a:xfrm>
            <a:off x="6556248" y="322783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8" name="Text 16"/>
          <p:cNvSpPr/>
          <p:nvPr/>
        </p:nvSpPr>
        <p:spPr>
          <a:xfrm>
            <a:off x="6556248" y="361188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income chart with the crossover cards below it</a:t>
            </a:r>
            <a:endParaRPr lang="en-US" sz="1250" dirty="0"/>
          </a:p>
        </p:txBody>
      </p:sp>
      <p:sp>
        <p:nvSpPr>
          <p:cNvPr id="19" name="Text 17"/>
          <p:cNvSpPr/>
          <p:nvPr/>
        </p:nvSpPr>
        <p:spPr>
          <a:xfrm>
            <a:off x="6556248" y="423367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0" name="Text 18"/>
          <p:cNvSpPr/>
          <p:nvPr/>
        </p:nvSpPr>
        <p:spPr>
          <a:xfrm>
            <a:off x="6629400" y="4471416"/>
            <a:ext cx="478231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Two different marker shapes on neighbouring lines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solid line and a dotted line, side by side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crossover card showing a time in years and months</a:t>
            </a:r>
            <a:endParaRPr lang="en-US" sz="1050" dirty="0"/>
          </a:p>
        </p:txBody>
      </p:sp>
      <p:sp>
        <p:nvSpPr>
          <p:cNvPr id="21" name="Text 1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22" name="Text 2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286000"/>
            <a:ext cx="1371600" cy="1371600"/>
          </a:xfrm>
          <a:prstGeom prst="roundRect">
            <a:avLst>
              <a:gd name="adj" fmla="val 6667"/>
            </a:avLst>
          </a:prstGeom>
          <a:solidFill>
            <a:srgbClr val="2A4A42"/>
          </a:solidFill>
          <a:ln w="19050">
            <a:solidFill>
              <a:srgbClr val="3E6259"/>
            </a:solidFill>
            <a:prstDash val="dash"/>
          </a:ln>
        </p:spPr>
      </p:sp>
      <p:sp>
        <p:nvSpPr>
          <p:cNvPr id="3" name="Text 1"/>
          <p:cNvSpPr/>
          <p:nvPr/>
        </p:nvSpPr>
        <p:spPr>
          <a:xfrm>
            <a:off x="822960" y="2286000"/>
            <a:ext cx="1371600" cy="1371600"/>
          </a:xfrm>
          <a:prstGeom prst="rect">
            <a:avLst/>
          </a:prstGeom>
          <a:noFill/>
          <a:ln/>
        </p:spPr>
        <p:txBody>
          <a:bodyPr wrap="square" lIns="0" tIns="0" rIns="0" bIns="0" rtlCol="0" anchor="ctr"/>
          <a:lstStyle/>
          <a:p>
            <a:pPr algn="ctr" indent="0" marL="0">
              <a:buNone/>
            </a:pPr>
            <a:r>
              <a:rPr lang="en-US" sz="6200" b="1" dirty="0">
                <a:solidFill>
                  <a:srgbClr val="7FA69C"/>
                </a:solidFill>
                <a:latin typeface="Cambria" pitchFamily="34" charset="0"/>
                <a:ea typeface="Cambria" pitchFamily="34" charset="-122"/>
                <a:cs typeface="Cambria" pitchFamily="34" charset="-120"/>
              </a:rPr>
              <a:t>5</a:t>
            </a:r>
            <a:endParaRPr lang="en-US" sz="6200" dirty="0"/>
          </a:p>
        </p:txBody>
      </p:sp>
      <p:sp>
        <p:nvSpPr>
          <p:cNvPr id="4" name="Text 2"/>
          <p:cNvSpPr/>
          <p:nvPr/>
        </p:nvSpPr>
        <p:spPr>
          <a:xfrm>
            <a:off x="2514600" y="2331720"/>
            <a:ext cx="8686800" cy="292608"/>
          </a:xfrm>
          <a:prstGeom prst="rect">
            <a:avLst/>
          </a:prstGeom>
          <a:noFill/>
          <a:ln/>
        </p:spPr>
        <p:txBody>
          <a:bodyPr wrap="square" lIns="0" tIns="0" rIns="0" bIns="0" rtlCol="0" anchor="ctr"/>
          <a:lstStyle/>
          <a:p>
            <a:pPr indent="0" marL="0">
              <a:buNone/>
            </a:pPr>
            <a:r>
              <a:rPr lang="en-US" sz="1200" b="1" spc="200" kern="0" dirty="0">
                <a:solidFill>
                  <a:srgbClr val="7FA69C"/>
                </a:solidFill>
                <a:latin typeface="Calibri" pitchFamily="34" charset="0"/>
                <a:ea typeface="Calibri" pitchFamily="34" charset="-122"/>
                <a:cs typeface="Calibri" pitchFamily="34" charset="-120"/>
              </a:rPr>
              <a:t>MODULE 5</a:t>
            </a:r>
            <a:endParaRPr lang="en-US" sz="1200" dirty="0"/>
          </a:p>
        </p:txBody>
      </p:sp>
      <p:sp>
        <p:nvSpPr>
          <p:cNvPr id="5" name="Text 3"/>
          <p:cNvSpPr/>
          <p:nvPr/>
        </p:nvSpPr>
        <p:spPr>
          <a:xfrm>
            <a:off x="2514600" y="262432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Route Cost Map</a:t>
            </a:r>
            <a:endParaRPr lang="en-US" sz="3400" dirty="0"/>
          </a:p>
        </p:txBody>
      </p:sp>
      <p:sp>
        <p:nvSpPr>
          <p:cNvPr id="6" name="Shape 4"/>
          <p:cNvSpPr/>
          <p:nvPr/>
        </p:nvSpPr>
        <p:spPr>
          <a:xfrm>
            <a:off x="2542032" y="3401568"/>
            <a:ext cx="2377440" cy="384048"/>
          </a:xfrm>
          <a:prstGeom prst="roundRect">
            <a:avLst>
              <a:gd name="adj" fmla="val 19048"/>
            </a:avLst>
          </a:prstGeom>
          <a:solidFill>
            <a:srgbClr val="3E6259"/>
          </a:solidFill>
          <a:ln w="12700">
            <a:solidFill>
              <a:srgbClr val="3E6259"/>
            </a:solidFill>
            <a:prstDash val="solid"/>
          </a:ln>
        </p:spPr>
      </p:sp>
      <p:sp>
        <p:nvSpPr>
          <p:cNvPr id="7" name="Text 5"/>
          <p:cNvSpPr/>
          <p:nvPr/>
        </p:nvSpPr>
        <p:spPr>
          <a:xfrm>
            <a:off x="2542032" y="3401568"/>
            <a:ext cx="237744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TO BE COMPLETED</a:t>
            </a:r>
            <a:endParaRPr lang="en-US" sz="1100" dirty="0"/>
          </a:p>
        </p:txBody>
      </p:sp>
      <p:sp>
        <p:nvSpPr>
          <p:cNvPr id="8" name="Text 6"/>
          <p:cNvSpPr/>
          <p:nvPr/>
        </p:nvSpPr>
        <p:spPr>
          <a:xfrm>
            <a:off x="2542032" y="3950208"/>
            <a:ext cx="8138160" cy="1097280"/>
          </a:xfrm>
          <a:prstGeom prst="rect">
            <a:avLst/>
          </a:prstGeom>
          <a:noFill/>
          <a:ln/>
        </p:spPr>
        <p:txBody>
          <a:bodyPr wrap="square" lIns="0" tIns="0" rIns="0" bIns="0" rtlCol="0" anchor="ctr"/>
          <a:lstStyle/>
          <a:p>
            <a:pPr indent="0" marL="0">
              <a:lnSpc>
                <a:spcPct val="130000"/>
              </a:lnSpc>
              <a:buNone/>
            </a:pPr>
            <a:r>
              <a:rPr lang="en-US" sz="1400" dirty="0">
                <a:solidFill>
                  <a:srgbClr val="A9C6BF"/>
                </a:solidFill>
                <a:latin typeface="Calibri" pitchFamily="34" charset="0"/>
                <a:ea typeface="Calibri" pitchFamily="34" charset="-122"/>
                <a:cs typeface="Calibri" pitchFamily="34" charset="-120"/>
              </a:rPr>
              <a:t>This page is still being built. It appears in the sidebar and on the home page with a faded card, and opening it shows a short placeholder message.</a:t>
            </a:r>
            <a:endParaRPr lang="en-US" sz="1400" dirty="0"/>
          </a:p>
          <a:p>
            <a:pPr indent="0" marL="0">
              <a:lnSpc>
                <a:spcPct val="130000"/>
              </a:lnSpc>
              <a:buNone/>
            </a:pPr>
            <a:endParaRPr lang="en-US" sz="1400" dirty="0"/>
          </a:p>
          <a:p>
            <a:pPr indent="0" marL="0">
              <a:lnSpc>
                <a:spcPct val="130000"/>
              </a:lnSpc>
              <a:buNone/>
            </a:pPr>
            <a:r>
              <a:rPr lang="en-US" sz="1400" dirty="0">
                <a:solidFill>
                  <a:srgbClr val="A9C6BF"/>
                </a:solidFill>
                <a:latin typeface="Calibri" pitchFamily="34" charset="0"/>
                <a:ea typeface="Calibri" pitchFamily="34" charset="-122"/>
                <a:cs typeface="Calibri" pitchFamily="34" charset="-120"/>
              </a:rPr>
              <a:t>Instructions will be added to this guide once the page is finished.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6</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6</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Fleet Penetration Simulator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Project how quickly electric vehicles could spread across Jamaica's national fleet.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What would it take to hit the 2030 targets, and what would it save?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the three fleets</a:t>
            </a:r>
            <a:endParaRPr lang="en-US" sz="3200" dirty="0"/>
          </a:p>
        </p:txBody>
      </p:sp>
      <p:sp>
        <p:nvSpPr>
          <p:cNvPr id="4" name="Text 2"/>
          <p:cNvSpPr/>
          <p:nvPr/>
        </p:nvSpPr>
        <p:spPr>
          <a:xfrm>
            <a:off x="502920" y="1207008"/>
            <a:ext cx="11155680" cy="36576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This page models three separate groups of vehicles at the same time. Each has its own settings block, and each works identically.</a:t>
            </a:r>
            <a:endParaRPr lang="en-US" sz="1300" dirty="0"/>
          </a:p>
        </p:txBody>
      </p:sp>
      <p:sp>
        <p:nvSpPr>
          <p:cNvPr id="5" name="Shape 3"/>
          <p:cNvSpPr/>
          <p:nvPr/>
        </p:nvSpPr>
        <p:spPr>
          <a:xfrm>
            <a:off x="502920" y="1719072"/>
            <a:ext cx="3617976" cy="1188720"/>
          </a:xfrm>
          <a:prstGeom prst="roundRect">
            <a:avLst>
              <a:gd name="adj" fmla="val 4615"/>
            </a:avLst>
          </a:prstGeom>
          <a:solidFill>
            <a:srgbClr val="F1F6F4"/>
          </a:solidFill>
          <a:ln w="12700">
            <a:solidFill>
              <a:srgbClr val="D8E3E0"/>
            </a:solidFill>
            <a:prstDash val="solid"/>
          </a:ln>
        </p:spPr>
      </p:sp>
      <p:sp>
        <p:nvSpPr>
          <p:cNvPr id="6" name="Text 4"/>
          <p:cNvSpPr/>
          <p:nvPr/>
        </p:nvSpPr>
        <p:spPr>
          <a:xfrm>
            <a:off x="649224" y="1847088"/>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Private Vehicle Fleet</a:t>
            </a:r>
            <a:endParaRPr lang="en-US" sz="1100" dirty="0"/>
          </a:p>
        </p:txBody>
      </p:sp>
      <p:sp>
        <p:nvSpPr>
          <p:cNvPr id="7" name="Text 5"/>
          <p:cNvSpPr/>
          <p:nvPr/>
        </p:nvSpPr>
        <p:spPr>
          <a:xfrm>
            <a:off x="649224"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Privately owned cars. The largest group by far. Target 12% by 2030.</a:t>
            </a:r>
            <a:endParaRPr lang="en-US" sz="1050" dirty="0"/>
          </a:p>
        </p:txBody>
      </p:sp>
      <p:sp>
        <p:nvSpPr>
          <p:cNvPr id="8" name="Shape 6"/>
          <p:cNvSpPr/>
          <p:nvPr/>
        </p:nvSpPr>
        <p:spPr>
          <a:xfrm>
            <a:off x="4285488" y="1719072"/>
            <a:ext cx="3617976" cy="1188720"/>
          </a:xfrm>
          <a:prstGeom prst="roundRect">
            <a:avLst>
              <a:gd name="adj" fmla="val 4615"/>
            </a:avLst>
          </a:prstGeom>
          <a:solidFill>
            <a:srgbClr val="F1F6F4"/>
          </a:solidFill>
          <a:ln w="12700">
            <a:solidFill>
              <a:srgbClr val="D8E3E0"/>
            </a:solidFill>
            <a:prstDash val="solid"/>
          </a:ln>
        </p:spPr>
      </p:sp>
      <p:sp>
        <p:nvSpPr>
          <p:cNvPr id="9" name="Text 7"/>
          <p:cNvSpPr/>
          <p:nvPr/>
        </p:nvSpPr>
        <p:spPr>
          <a:xfrm>
            <a:off x="4431792" y="1847088"/>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Public Transport Fleet</a:t>
            </a:r>
            <a:endParaRPr lang="en-US" sz="1100" dirty="0"/>
          </a:p>
        </p:txBody>
      </p:sp>
      <p:sp>
        <p:nvSpPr>
          <p:cNvPr id="10" name="Text 8"/>
          <p:cNvSpPr/>
          <p:nvPr/>
        </p:nvSpPr>
        <p:spPr>
          <a:xfrm>
            <a:off x="4431792"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Buses and public passenger vehicles. Target 16% by 2030.</a:t>
            </a:r>
            <a:endParaRPr lang="en-US" sz="1050" dirty="0"/>
          </a:p>
        </p:txBody>
      </p:sp>
      <p:sp>
        <p:nvSpPr>
          <p:cNvPr id="11" name="Shape 9"/>
          <p:cNvSpPr/>
          <p:nvPr/>
        </p:nvSpPr>
        <p:spPr>
          <a:xfrm>
            <a:off x="8068056" y="1719072"/>
            <a:ext cx="3617976" cy="1188720"/>
          </a:xfrm>
          <a:prstGeom prst="roundRect">
            <a:avLst>
              <a:gd name="adj" fmla="val 4615"/>
            </a:avLst>
          </a:prstGeom>
          <a:solidFill>
            <a:srgbClr val="F1F6F4"/>
          </a:solidFill>
          <a:ln w="12700">
            <a:solidFill>
              <a:srgbClr val="D8E3E0"/>
            </a:solidFill>
            <a:prstDash val="solid"/>
          </a:ln>
        </p:spPr>
      </p:sp>
      <p:sp>
        <p:nvSpPr>
          <p:cNvPr id="12" name="Text 10"/>
          <p:cNvSpPr/>
          <p:nvPr/>
        </p:nvSpPr>
        <p:spPr>
          <a:xfrm>
            <a:off x="8214360" y="1847088"/>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Government Fleet</a:t>
            </a:r>
            <a:endParaRPr lang="en-US" sz="1100" dirty="0"/>
          </a:p>
        </p:txBody>
      </p:sp>
      <p:sp>
        <p:nvSpPr>
          <p:cNvPr id="13" name="Text 11"/>
          <p:cNvSpPr/>
          <p:nvPr/>
        </p:nvSpPr>
        <p:spPr>
          <a:xfrm>
            <a:off x="8214360"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State-owned vehicles. Target 100% by 2030.</a:t>
            </a:r>
            <a:endParaRPr lang="en-US" sz="1050" dirty="0"/>
          </a:p>
        </p:txBody>
      </p:sp>
      <p:sp>
        <p:nvSpPr>
          <p:cNvPr id="14" name="Shape 12"/>
          <p:cNvSpPr/>
          <p:nvPr/>
        </p:nvSpPr>
        <p:spPr>
          <a:xfrm>
            <a:off x="502920" y="3154680"/>
            <a:ext cx="292608" cy="292608"/>
          </a:xfrm>
          <a:prstGeom prst="ellipse">
            <a:avLst/>
          </a:prstGeom>
          <a:solidFill>
            <a:srgbClr val="1A7A6E"/>
          </a:solidFill>
          <a:ln w="12700">
            <a:solidFill>
              <a:srgbClr val="1A7A6E"/>
            </a:solidFill>
            <a:prstDash val="solid"/>
          </a:ln>
        </p:spPr>
      </p:sp>
      <p:sp>
        <p:nvSpPr>
          <p:cNvPr id="15" name="Text 13"/>
          <p:cNvSpPr/>
          <p:nvPr/>
        </p:nvSpPr>
        <p:spPr>
          <a:xfrm>
            <a:off x="502920" y="31546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932688" y="31272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a scenario for each fleet</a:t>
            </a:r>
            <a:endParaRPr lang="en-US" sz="1300" dirty="0"/>
          </a:p>
        </p:txBody>
      </p:sp>
      <p:sp>
        <p:nvSpPr>
          <p:cNvPr id="17" name="Text 15"/>
          <p:cNvSpPr/>
          <p:nvPr/>
        </p:nvSpPr>
        <p:spPr>
          <a:xfrm>
            <a:off x="932688" y="33558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Conservative, Base or Optimistic. This is the quickest way to use the page.</a:t>
            </a:r>
            <a:endParaRPr lang="en-US" sz="1150" dirty="0"/>
          </a:p>
        </p:txBody>
      </p:sp>
      <p:sp>
        <p:nvSpPr>
          <p:cNvPr id="18" name="Shape 16"/>
          <p:cNvSpPr/>
          <p:nvPr/>
        </p:nvSpPr>
        <p:spPr>
          <a:xfrm>
            <a:off x="502920" y="3931920"/>
            <a:ext cx="292608" cy="292608"/>
          </a:xfrm>
          <a:prstGeom prst="ellipse">
            <a:avLst/>
          </a:prstGeom>
          <a:solidFill>
            <a:srgbClr val="1A7A6E"/>
          </a:solidFill>
          <a:ln w="12700">
            <a:solidFill>
              <a:srgbClr val="1A7A6E"/>
            </a:solidFill>
            <a:prstDash val="solid"/>
          </a:ln>
        </p:spPr>
      </p:sp>
      <p:sp>
        <p:nvSpPr>
          <p:cNvPr id="19" name="Text 17"/>
          <p:cNvSpPr/>
          <p:nvPr/>
        </p:nvSpPr>
        <p:spPr>
          <a:xfrm>
            <a:off x="502920" y="39319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932688" y="39044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the fleet details if you want</a:t>
            </a:r>
            <a:endParaRPr lang="en-US" sz="1300" dirty="0"/>
          </a:p>
        </p:txBody>
      </p:sp>
      <p:sp>
        <p:nvSpPr>
          <p:cNvPr id="21" name="Text 19"/>
          <p:cNvSpPr/>
          <p:nvPr/>
        </p:nvSpPr>
        <p:spPr>
          <a:xfrm>
            <a:off x="932688" y="41330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Fleet size, yearly distance per vehicle, and the fuel or energy each vehicle uses.</a:t>
            </a:r>
            <a:endParaRPr lang="en-US" sz="1150" dirty="0"/>
          </a:p>
        </p:txBody>
      </p:sp>
      <p:sp>
        <p:nvSpPr>
          <p:cNvPr id="22" name="Shape 20"/>
          <p:cNvSpPr/>
          <p:nvPr/>
        </p:nvSpPr>
        <p:spPr>
          <a:xfrm>
            <a:off x="502920" y="4709160"/>
            <a:ext cx="292608" cy="292608"/>
          </a:xfrm>
          <a:prstGeom prst="ellipse">
            <a:avLst/>
          </a:prstGeom>
          <a:solidFill>
            <a:srgbClr val="1A7A6E"/>
          </a:solidFill>
          <a:ln w="12700">
            <a:solidFill>
              <a:srgbClr val="1A7A6E"/>
            </a:solidFill>
            <a:prstDash val="solid"/>
          </a:ln>
        </p:spPr>
      </p:sp>
      <p:sp>
        <p:nvSpPr>
          <p:cNvPr id="23" name="Text 21"/>
          <p:cNvSpPr/>
          <p:nvPr/>
        </p:nvSpPr>
        <p:spPr>
          <a:xfrm>
            <a:off x="502920" y="47091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932688" y="46817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Fine-tune only if you need to</a:t>
            </a:r>
            <a:endParaRPr lang="en-US" sz="1300" dirty="0"/>
          </a:p>
        </p:txBody>
      </p:sp>
      <p:sp>
        <p:nvSpPr>
          <p:cNvPr id="25" name="Text 23"/>
          <p:cNvSpPr/>
          <p:nvPr/>
        </p:nvSpPr>
        <p:spPr>
          <a:xfrm>
            <a:off x="932688" y="49103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advanced section lets you set how sharply uptake accelerates and the year it reaches halfway.</a:t>
            </a:r>
            <a:endParaRPr lang="en-US" sz="1150" dirty="0"/>
          </a:p>
        </p:txBody>
      </p:sp>
      <p:sp>
        <p:nvSpPr>
          <p:cNvPr id="26" name="Shape 24"/>
          <p:cNvSpPr/>
          <p:nvPr/>
        </p:nvSpPr>
        <p:spPr>
          <a:xfrm>
            <a:off x="6355080" y="3108960"/>
            <a:ext cx="5330952" cy="2560320"/>
          </a:xfrm>
          <a:prstGeom prst="roundRect">
            <a:avLst>
              <a:gd name="adj" fmla="val 2143"/>
            </a:avLst>
          </a:prstGeom>
          <a:solidFill>
            <a:srgbClr val="FBFDFC"/>
          </a:solidFill>
          <a:ln w="19050">
            <a:solidFill>
              <a:srgbClr val="1A9E75"/>
            </a:solidFill>
            <a:prstDash val="dash"/>
          </a:ln>
        </p:spPr>
      </p:sp>
      <p:sp>
        <p:nvSpPr>
          <p:cNvPr id="27" name="Shape 25"/>
          <p:cNvSpPr/>
          <p:nvPr/>
        </p:nvSpPr>
        <p:spPr>
          <a:xfrm>
            <a:off x="6556248" y="3291840"/>
            <a:ext cx="1417320" cy="274320"/>
          </a:xfrm>
          <a:prstGeom prst="roundRect">
            <a:avLst>
              <a:gd name="adj" fmla="val 16667"/>
            </a:avLst>
          </a:prstGeom>
          <a:solidFill>
            <a:srgbClr val="1A9E75"/>
          </a:solidFill>
          <a:ln w="12700">
            <a:solidFill>
              <a:srgbClr val="1A9E75"/>
            </a:solidFill>
            <a:prstDash val="solid"/>
          </a:ln>
        </p:spPr>
      </p:sp>
      <p:sp>
        <p:nvSpPr>
          <p:cNvPr id="28" name="Text 26"/>
          <p:cNvSpPr/>
          <p:nvPr/>
        </p:nvSpPr>
        <p:spPr>
          <a:xfrm>
            <a:off x="6556248" y="329184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9" name="Text 27"/>
          <p:cNvSpPr/>
          <p:nvPr/>
        </p:nvSpPr>
        <p:spPr>
          <a:xfrm>
            <a:off x="6556248" y="367588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One fleet's settings block, expanded</a:t>
            </a:r>
            <a:endParaRPr lang="en-US" sz="1250" dirty="0"/>
          </a:p>
        </p:txBody>
      </p:sp>
      <p:sp>
        <p:nvSpPr>
          <p:cNvPr id="30" name="Text 28"/>
          <p:cNvSpPr/>
          <p:nvPr/>
        </p:nvSpPr>
        <p:spPr>
          <a:xfrm>
            <a:off x="6556248" y="429768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1" name="Text 29"/>
          <p:cNvSpPr/>
          <p:nvPr/>
        </p:nvSpPr>
        <p:spPr>
          <a:xfrm>
            <a:off x="6629400" y="4535424"/>
            <a:ext cx="478231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scenario buttons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fleet size and distance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advanced fine-tuning section</a:t>
            </a:r>
            <a:endParaRPr lang="en-US" sz="1050" dirty="0"/>
          </a:p>
        </p:txBody>
      </p:sp>
      <p:sp>
        <p:nvSpPr>
          <p:cNvPr id="32" name="Text 3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3" name="Text 3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horizon, grid and results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projection horizon</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many years ahead to project. Keep it past 2030 so the target year stays visible.</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a grid scenario</a:t>
            </a:r>
            <a:endParaRPr lang="en-US" sz="1300" dirty="0"/>
          </a:p>
        </p:txBody>
      </p:sp>
      <p:sp>
        <p:nvSpPr>
          <p:cNvPr id="11" name="Text 9"/>
          <p:cNvSpPr/>
          <p:nvPr/>
        </p:nvSpPr>
        <p:spPr>
          <a:xfrm>
            <a:off x="932688" y="2350008"/>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clean the electricity supply is assumed to be. Cleaner electricity means bigger emissions savings from the same number of EVs.</a:t>
            </a:r>
            <a:endParaRPr lang="en-US" sz="1150" dirty="0"/>
          </a:p>
        </p:txBody>
      </p:sp>
      <p:sp>
        <p:nvSpPr>
          <p:cNvPr id="12" name="Shape 10"/>
          <p:cNvSpPr/>
          <p:nvPr/>
        </p:nvSpPr>
        <p:spPr>
          <a:xfrm>
            <a:off x="502920" y="3095244"/>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30952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306781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target cards</a:t>
            </a:r>
            <a:endParaRPr lang="en-US" sz="1300" dirty="0"/>
          </a:p>
        </p:txBody>
      </p:sp>
      <p:sp>
        <p:nvSpPr>
          <p:cNvPr id="15" name="Text 13"/>
          <p:cNvSpPr/>
          <p:nvPr/>
        </p:nvSpPr>
        <p:spPr>
          <a:xfrm>
            <a:off x="932688" y="329641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For each fleet, the 2030 target, where your settings land, and the gap between them.</a:t>
            </a:r>
            <a:endParaRPr lang="en-US" sz="1150" dirty="0"/>
          </a:p>
        </p:txBody>
      </p:sp>
      <p:sp>
        <p:nvSpPr>
          <p:cNvPr id="16" name="Shape 14"/>
          <p:cNvSpPr/>
          <p:nvPr/>
        </p:nvSpPr>
        <p:spPr>
          <a:xfrm>
            <a:off x="502920" y="3872484"/>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87248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84505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uptake chart</a:t>
            </a:r>
            <a:endParaRPr lang="en-US" sz="1300" dirty="0"/>
          </a:p>
        </p:txBody>
      </p:sp>
      <p:sp>
        <p:nvSpPr>
          <p:cNvPr id="19" name="Text 17"/>
          <p:cNvSpPr/>
          <p:nvPr/>
        </p:nvSpPr>
        <p:spPr>
          <a:xfrm>
            <a:off x="932688" y="407365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One curve per fleet, showing the share of vehicles that are electric over time, with 2030 marked.</a:t>
            </a:r>
            <a:endParaRPr lang="en-US" sz="1150" dirty="0"/>
          </a:p>
        </p:txBody>
      </p:sp>
      <p:sp>
        <p:nvSpPr>
          <p:cNvPr id="20" name="Shape 18"/>
          <p:cNvSpPr/>
          <p:nvPr/>
        </p:nvSpPr>
        <p:spPr>
          <a:xfrm>
            <a:off x="502920" y="4649724"/>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64972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62229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two charts below</a:t>
            </a:r>
            <a:endParaRPr lang="en-US" sz="1300" dirty="0"/>
          </a:p>
        </p:txBody>
      </p:sp>
      <p:sp>
        <p:nvSpPr>
          <p:cNvPr id="23" name="Text 21"/>
          <p:cNvSpPr/>
          <p:nvPr/>
        </p:nvSpPr>
        <p:spPr>
          <a:xfrm>
            <a:off x="932688" y="485089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One shows carbon dioxide avoided, the other shows government revenue given up through reduced duty.</a:t>
            </a:r>
            <a:endParaRPr lang="en-US" sz="1150" dirty="0"/>
          </a:p>
        </p:txBody>
      </p:sp>
      <p:sp>
        <p:nvSpPr>
          <p:cNvPr id="24" name="Shape 22"/>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horizon and grid controls with the uptake chart</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projection horizon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grid scenario dropdown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target cards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2030 marker on the uptake chart</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the private fleet emissions comparison</a:t>
            </a:r>
            <a:endParaRPr lang="en-US" sz="3200" dirty="0"/>
          </a:p>
        </p:txBody>
      </p:sp>
      <p:sp>
        <p:nvSpPr>
          <p:cNvPr id="4" name="Text 2"/>
          <p:cNvSpPr/>
          <p:nvPr/>
        </p:nvSpPr>
        <p:spPr>
          <a:xfrm>
            <a:off x="502920" y="1207008"/>
            <a:ext cx="11155680" cy="384048"/>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Scroll down past the three fleets to find this section. It answers a different question: instead of projecting one likely path, it asks what would happen at any level of electrification you choose.</a:t>
            </a:r>
            <a:endParaRPr lang="en-US" sz="1300" dirty="0"/>
          </a:p>
        </p:txBody>
      </p:sp>
      <p:sp>
        <p:nvSpPr>
          <p:cNvPr id="5" name="Shape 3"/>
          <p:cNvSpPr/>
          <p:nvPr/>
        </p:nvSpPr>
        <p:spPr>
          <a:xfrm>
            <a:off x="502920" y="1737360"/>
            <a:ext cx="292608" cy="292608"/>
          </a:xfrm>
          <a:prstGeom prst="ellipse">
            <a:avLst/>
          </a:prstGeom>
          <a:solidFill>
            <a:srgbClr val="1A7A6E"/>
          </a:solidFill>
          <a:ln w="12700">
            <a:solidFill>
              <a:srgbClr val="1A7A6E"/>
            </a:solidFill>
            <a:prstDash val="solid"/>
          </a:ln>
        </p:spPr>
      </p:sp>
      <p:sp>
        <p:nvSpPr>
          <p:cNvPr id="6" name="Text 4"/>
          <p:cNvSpPr/>
          <p:nvPr/>
        </p:nvSpPr>
        <p:spPr>
          <a:xfrm>
            <a:off x="502920" y="17373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7099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a direction</a:t>
            </a:r>
            <a:endParaRPr lang="en-US" sz="1300" dirty="0"/>
          </a:p>
        </p:txBody>
      </p:sp>
      <p:sp>
        <p:nvSpPr>
          <p:cNvPr id="8" name="Text 6"/>
          <p:cNvSpPr/>
          <p:nvPr/>
        </p:nvSpPr>
        <p:spPr>
          <a:xfrm>
            <a:off x="932688" y="19385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Looking back asks what emissions would have been since 2015. Looking forward asks what they will be to 2035.</a:t>
            </a:r>
            <a:endParaRPr lang="en-US" sz="1150" dirty="0"/>
          </a:p>
        </p:txBody>
      </p:sp>
      <p:sp>
        <p:nvSpPr>
          <p:cNvPr id="9" name="Shape 7"/>
          <p:cNvSpPr/>
          <p:nvPr/>
        </p:nvSpPr>
        <p:spPr>
          <a:xfrm>
            <a:off x="502920" y="2514600"/>
            <a:ext cx="292608" cy="292608"/>
          </a:xfrm>
          <a:prstGeom prst="ellipse">
            <a:avLst/>
          </a:prstGeom>
          <a:solidFill>
            <a:srgbClr val="1A7A6E"/>
          </a:solidFill>
          <a:ln w="12700">
            <a:solidFill>
              <a:srgbClr val="1A7A6E"/>
            </a:solidFill>
            <a:prstDash val="solid"/>
          </a:ln>
        </p:spPr>
      </p:sp>
      <p:sp>
        <p:nvSpPr>
          <p:cNvPr id="10" name="Text 8"/>
          <p:cNvSpPr/>
          <p:nvPr/>
        </p:nvSpPr>
        <p:spPr>
          <a:xfrm>
            <a:off x="502920" y="2514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87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Move the penetration slider</a:t>
            </a:r>
            <a:endParaRPr lang="en-US" sz="1300" dirty="0"/>
          </a:p>
        </p:txBody>
      </p:sp>
      <p:sp>
        <p:nvSpPr>
          <p:cNvPr id="12" name="Text 10"/>
          <p:cNvSpPr/>
          <p:nvPr/>
        </p:nvSpPr>
        <p:spPr>
          <a:xfrm>
            <a:off x="932688" y="2715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Anywhere from 0% to 100%. It starts at 12%, the national target.</a:t>
            </a:r>
            <a:endParaRPr lang="en-US" sz="1150" dirty="0"/>
          </a:p>
        </p:txBody>
      </p:sp>
      <p:sp>
        <p:nvSpPr>
          <p:cNvPr id="13" name="Shape 11"/>
          <p:cNvSpPr/>
          <p:nvPr/>
        </p:nvSpPr>
        <p:spPr>
          <a:xfrm>
            <a:off x="502920" y="3291840"/>
            <a:ext cx="292608" cy="292608"/>
          </a:xfrm>
          <a:prstGeom prst="ellipse">
            <a:avLst/>
          </a:prstGeom>
          <a:solidFill>
            <a:srgbClr val="1A7A6E"/>
          </a:solidFill>
          <a:ln w="12700">
            <a:solidFill>
              <a:srgbClr val="1A7A6E"/>
            </a:solidFill>
            <a:prstDash val="solid"/>
          </a:ln>
        </p:spPr>
      </p:sp>
      <p:sp>
        <p:nvSpPr>
          <p:cNvPr id="14" name="Text 12"/>
          <p:cNvSpPr/>
          <p:nvPr/>
        </p:nvSpPr>
        <p:spPr>
          <a:xfrm>
            <a:off x="502920" y="3291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264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Decide on battery manufacturing</a:t>
            </a:r>
            <a:endParaRPr lang="en-US" sz="1300" dirty="0"/>
          </a:p>
        </p:txBody>
      </p:sp>
      <p:sp>
        <p:nvSpPr>
          <p:cNvPr id="16" name="Text 14"/>
          <p:cNvSpPr/>
          <p:nvPr/>
        </p:nvSpPr>
        <p:spPr>
          <a:xfrm>
            <a:off x="932688" y="3493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Leave this on to include the emissions cost of building the batteries. Turning it off flatters the electric case.</a:t>
            </a:r>
            <a:endParaRPr lang="en-US" sz="1150" dirty="0"/>
          </a:p>
        </p:txBody>
      </p:sp>
      <p:sp>
        <p:nvSpPr>
          <p:cNvPr id="17" name="Shape 15"/>
          <p:cNvSpPr/>
          <p:nvPr/>
        </p:nvSpPr>
        <p:spPr>
          <a:xfrm>
            <a:off x="502920" y="4069080"/>
            <a:ext cx="292608" cy="292608"/>
          </a:xfrm>
          <a:prstGeom prst="ellipse">
            <a:avLst/>
          </a:prstGeom>
          <a:solidFill>
            <a:srgbClr val="1A7A6E"/>
          </a:solidFill>
          <a:ln w="12700">
            <a:solidFill>
              <a:srgbClr val="1A7A6E"/>
            </a:solidFill>
            <a:prstDash val="solid"/>
          </a:ln>
        </p:spPr>
      </p:sp>
      <p:sp>
        <p:nvSpPr>
          <p:cNvPr id="18" name="Text 16"/>
          <p:cNvSpPr/>
          <p:nvPr/>
        </p:nvSpPr>
        <p:spPr>
          <a:xfrm>
            <a:off x="502920" y="4069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4041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six cards</a:t>
            </a:r>
            <a:endParaRPr lang="en-US" sz="1300" dirty="0"/>
          </a:p>
        </p:txBody>
      </p:sp>
      <p:sp>
        <p:nvSpPr>
          <p:cNvPr id="20" name="Text 18"/>
          <p:cNvSpPr/>
          <p:nvPr/>
        </p:nvSpPr>
        <p:spPr>
          <a:xfrm>
            <a:off x="932688" y="4270248"/>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Carbon dioxide avoided, the battery manufacturing cost, the net figure, litres of petrol not burned, money not spent on fuel, and the year the battery cost is repaid.</a:t>
            </a:r>
            <a:endParaRPr lang="en-US" sz="1150" dirty="0"/>
          </a:p>
        </p:txBody>
      </p:sp>
      <p:sp>
        <p:nvSpPr>
          <p:cNvPr id="21" name="Shape 19"/>
          <p:cNvSpPr/>
          <p:nvPr/>
        </p:nvSpPr>
        <p:spPr>
          <a:xfrm>
            <a:off x="6355080" y="1719072"/>
            <a:ext cx="5330952" cy="3246120"/>
          </a:xfrm>
          <a:prstGeom prst="roundRect">
            <a:avLst>
              <a:gd name="adj" fmla="val 1690"/>
            </a:avLst>
          </a:prstGeom>
          <a:solidFill>
            <a:srgbClr val="FBFDFC"/>
          </a:solidFill>
          <a:ln w="19050">
            <a:solidFill>
              <a:srgbClr val="1A9E75"/>
            </a:solidFill>
            <a:prstDash val="dash"/>
          </a:ln>
        </p:spPr>
      </p:sp>
      <p:sp>
        <p:nvSpPr>
          <p:cNvPr id="22" name="Shape 20"/>
          <p:cNvSpPr/>
          <p:nvPr/>
        </p:nvSpPr>
        <p:spPr>
          <a:xfrm>
            <a:off x="6556248" y="1901952"/>
            <a:ext cx="1417320" cy="274320"/>
          </a:xfrm>
          <a:prstGeom prst="roundRect">
            <a:avLst>
              <a:gd name="adj" fmla="val 16667"/>
            </a:avLst>
          </a:prstGeom>
          <a:solidFill>
            <a:srgbClr val="1A9E75"/>
          </a:solidFill>
          <a:ln w="12700">
            <a:solidFill>
              <a:srgbClr val="1A9E75"/>
            </a:solidFill>
            <a:prstDash val="solid"/>
          </a:ln>
        </p:spPr>
      </p:sp>
      <p:sp>
        <p:nvSpPr>
          <p:cNvPr id="23" name="Text 21"/>
          <p:cNvSpPr/>
          <p:nvPr/>
        </p:nvSpPr>
        <p:spPr>
          <a:xfrm>
            <a:off x="6556248" y="190195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4" name="Text 22"/>
          <p:cNvSpPr/>
          <p:nvPr/>
        </p:nvSpPr>
        <p:spPr>
          <a:xfrm>
            <a:off x="6556248" y="228600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emissions comparison controls and its chart</a:t>
            </a:r>
            <a:endParaRPr lang="en-US" sz="1250" dirty="0"/>
          </a:p>
        </p:txBody>
      </p:sp>
      <p:sp>
        <p:nvSpPr>
          <p:cNvPr id="25" name="Text 23"/>
          <p:cNvSpPr/>
          <p:nvPr/>
        </p:nvSpPr>
        <p:spPr>
          <a:xfrm>
            <a:off x="6556248" y="290779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6" name="Text 24"/>
          <p:cNvSpPr/>
          <p:nvPr/>
        </p:nvSpPr>
        <p:spPr>
          <a:xfrm>
            <a:off x="6629400" y="3145536"/>
            <a:ext cx="4782312" cy="1645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direction options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0 to 100% penetration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orange 'all petrol' line and the green mixed-fleet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cumulative line and the repayment marker</a:t>
            </a:r>
            <a:endParaRPr lang="en-US" sz="1050" dirty="0"/>
          </a:p>
        </p:txBody>
      </p:sp>
      <p:sp>
        <p:nvSpPr>
          <p:cNvPr id="27" name="Shape 25"/>
          <p:cNvSpPr/>
          <p:nvPr/>
        </p:nvSpPr>
        <p:spPr>
          <a:xfrm>
            <a:off x="502920" y="5138928"/>
            <a:ext cx="11183112" cy="658368"/>
          </a:xfrm>
          <a:prstGeom prst="roundRect">
            <a:avLst>
              <a:gd name="adj" fmla="val 8333"/>
            </a:avLst>
          </a:prstGeom>
          <a:solidFill>
            <a:srgbClr val="F1F6F4"/>
          </a:solidFill>
          <a:ln w="12700">
            <a:solidFill>
              <a:srgbClr val="D8E3E0"/>
            </a:solidFill>
            <a:prstDash val="solid"/>
          </a:ln>
        </p:spPr>
      </p:sp>
      <p:sp>
        <p:nvSpPr>
          <p:cNvPr id="28" name="Shape 26"/>
          <p:cNvSpPr/>
          <p:nvPr/>
        </p:nvSpPr>
        <p:spPr>
          <a:xfrm>
            <a:off x="685800" y="5312664"/>
            <a:ext cx="310896" cy="310896"/>
          </a:xfrm>
          <a:prstGeom prst="ellipse">
            <a:avLst/>
          </a:prstGeom>
          <a:solidFill>
            <a:srgbClr val="1A9E75"/>
          </a:solidFill>
          <a:ln w="12700">
            <a:solidFill>
              <a:srgbClr val="1A9E75"/>
            </a:solidFill>
            <a:prstDash val="solid"/>
          </a:ln>
        </p:spPr>
      </p:sp>
      <p:sp>
        <p:nvSpPr>
          <p:cNvPr id="29" name="Text 27"/>
          <p:cNvSpPr/>
          <p:nvPr/>
        </p:nvSpPr>
        <p:spPr>
          <a:xfrm>
            <a:off x="685800" y="5312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0" name="Text 28"/>
          <p:cNvSpPr/>
          <p:nvPr/>
        </p:nvSpPr>
        <p:spPr>
          <a:xfrm>
            <a:off x="1133856" y="5248656"/>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Reading the chart:  </a:t>
            </a:r>
            <a:pPr indent="0" marL="0">
              <a:buNone/>
            </a:pPr>
            <a:r>
              <a:rPr lang="en-US" sz="1100" dirty="0">
                <a:solidFill>
                  <a:srgbClr val="6B7A77"/>
                </a:solidFill>
                <a:latin typeface="Calibri" pitchFamily="34" charset="0"/>
                <a:ea typeface="Calibri" pitchFamily="34" charset="-122"/>
                <a:cs typeface="Calibri" pitchFamily="34" charset="-120"/>
              </a:rPr>
              <a:t>the gap between the orange and green lines is what electrification saves each year. The dashed line adds it up.</a:t>
            </a:r>
            <a:endParaRPr lang="en-US" sz="110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7</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7</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Emissions Impact Calculator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The carbon dioxide side of the same comparison the calculator makes on cost.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Is an electric car actually cleaner here, and after how long?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7</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2: filling it in</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petrol car</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first 'Select model' dropdown. Its fuel consumption fills in automatically.</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electric car</a:t>
            </a:r>
            <a:endParaRPr lang="en-US" sz="1300" dirty="0"/>
          </a:p>
        </p:txBody>
      </p:sp>
      <p:sp>
        <p:nvSpPr>
          <p:cNvPr id="11" name="Text 9"/>
          <p:cNvSpPr/>
          <p:nvPr/>
        </p:nvSpPr>
        <p:spPr>
          <a:xfrm>
            <a:off x="932688" y="2350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second dropdown. Its energy consumption fills in the same way.</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consumption if you know better</a:t>
            </a:r>
            <a:endParaRPr lang="en-US" sz="1300" dirty="0"/>
          </a:p>
        </p:txBody>
      </p:sp>
      <p:sp>
        <p:nvSpPr>
          <p:cNvPr id="15" name="Text 13"/>
          <p:cNvSpPr/>
          <p:nvPr/>
        </p:nvSpPr>
        <p:spPr>
          <a:xfrm>
            <a:off x="932688" y="31272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Both boxes can be typed over with real figures from your own driving.</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daily distance</a:t>
            </a:r>
            <a:endParaRPr lang="en-US" sz="1300" dirty="0"/>
          </a:p>
        </p:txBody>
      </p:sp>
      <p:sp>
        <p:nvSpPr>
          <p:cNvPr id="19" name="Text 17"/>
          <p:cNvSpPr/>
          <p:nvPr/>
        </p:nvSpPr>
        <p:spPr>
          <a:xfrm>
            <a:off x="932688" y="390448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kilometres, the same as on the cost calculator.</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ownership period</a:t>
            </a:r>
            <a:endParaRPr lang="en-US" sz="1300" dirty="0"/>
          </a:p>
        </p:txBody>
      </p:sp>
      <p:sp>
        <p:nvSpPr>
          <p:cNvPr id="23" name="Text 21"/>
          <p:cNvSpPr/>
          <p:nvPr/>
        </p:nvSpPr>
        <p:spPr>
          <a:xfrm>
            <a:off x="932688" y="451256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years. This sets how far the chart runs.</a:t>
            </a:r>
            <a:endParaRPr lang="en-US" sz="1150" dirty="0"/>
          </a:p>
        </p:txBody>
      </p:sp>
      <p:sp>
        <p:nvSpPr>
          <p:cNvPr id="24" name="Shape 22"/>
          <p:cNvSpPr/>
          <p:nvPr/>
        </p:nvSpPr>
        <p:spPr>
          <a:xfrm>
            <a:off x="502920" y="4919472"/>
            <a:ext cx="292608" cy="292608"/>
          </a:xfrm>
          <a:prstGeom prst="ellipse">
            <a:avLst/>
          </a:prstGeom>
          <a:solidFill>
            <a:srgbClr val="1A7A6E"/>
          </a:solidFill>
          <a:ln w="12700">
            <a:solidFill>
              <a:srgbClr val="1A7A6E"/>
            </a:solidFill>
            <a:prstDash val="solid"/>
          </a:ln>
        </p:spPr>
      </p:sp>
      <p:sp>
        <p:nvSpPr>
          <p:cNvPr id="25" name="Text 23"/>
          <p:cNvSpPr/>
          <p:nvPr/>
        </p:nvSpPr>
        <p:spPr>
          <a:xfrm>
            <a:off x="502920" y="49194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932688" y="48920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a grid scenario</a:t>
            </a:r>
            <a:endParaRPr lang="en-US" sz="1300" dirty="0"/>
          </a:p>
        </p:txBody>
      </p:sp>
      <p:sp>
        <p:nvSpPr>
          <p:cNvPr id="27" name="Text 25"/>
          <p:cNvSpPr/>
          <p:nvPr/>
        </p:nvSpPr>
        <p:spPr>
          <a:xfrm>
            <a:off x="932688" y="512064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Electricity today, or the cleaner supply projected for later years. An EV gets cleaner as the grid does.</a:t>
            </a:r>
            <a:endParaRPr lang="en-US" sz="1150" dirty="0"/>
          </a:p>
        </p:txBody>
      </p:sp>
      <p:sp>
        <p:nvSpPr>
          <p:cNvPr id="28" name="Shape 26"/>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sp>
      <p:sp>
        <p:nvSpPr>
          <p:cNvPr id="29" name="Shape 27"/>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sp>
      <p:sp>
        <p:nvSpPr>
          <p:cNvPr id="30" name="Text 28"/>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1" name="Text 29"/>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set of inputs on the emissions page</a:t>
            </a:r>
            <a:endParaRPr lang="en-US" sz="1250" dirty="0"/>
          </a:p>
        </p:txBody>
      </p:sp>
      <p:sp>
        <p:nvSpPr>
          <p:cNvPr id="32" name="Text 30"/>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3" name="Text 31"/>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Both vehicle dropdowns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two consumption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daily distance and ownership period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grid scenario dropdown</a:t>
            </a:r>
            <a:endParaRPr lang="en-US" sz="105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7 - Emissions Impact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7</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2: reading the result</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Six cards appear across the top, and one chart below them.</a:t>
            </a:r>
            <a:endParaRPr lang="en-US" sz="1300" dirty="0"/>
          </a:p>
        </p:txBody>
      </p:sp>
      <p:sp>
        <p:nvSpPr>
          <p:cNvPr id="5" name="Shape 3"/>
          <p:cNvSpPr/>
          <p:nvPr/>
        </p:nvSpPr>
        <p:spPr>
          <a:xfrm>
            <a:off x="502920" y="1664208"/>
            <a:ext cx="3617976" cy="1417320"/>
          </a:xfrm>
          <a:prstGeom prst="roundRect">
            <a:avLst>
              <a:gd name="adj" fmla="val 3871"/>
            </a:avLst>
          </a:prstGeom>
          <a:solidFill>
            <a:srgbClr val="F1F6F4"/>
          </a:solidFill>
          <a:ln w="12700">
            <a:solidFill>
              <a:srgbClr val="D8E3E0"/>
            </a:solidFill>
            <a:prstDash val="solid"/>
          </a:ln>
        </p:spPr>
      </p:sp>
      <p:sp>
        <p:nvSpPr>
          <p:cNvPr id="6" name="Text 4"/>
          <p:cNvSpPr/>
          <p:nvPr/>
        </p:nvSpPr>
        <p:spPr>
          <a:xfrm>
            <a:off x="649224" y="1792224"/>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Yearly figures</a:t>
            </a:r>
            <a:endParaRPr lang="en-US" sz="1100" dirty="0"/>
          </a:p>
        </p:txBody>
      </p:sp>
      <p:sp>
        <p:nvSpPr>
          <p:cNvPr id="7" name="Text 5"/>
          <p:cNvSpPr/>
          <p:nvPr/>
        </p:nvSpPr>
        <p:spPr>
          <a:xfrm>
            <a:off x="649224"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How much carbon dioxide each vehicle produces in a year, and the difference between them, in tonnes.</a:t>
            </a:r>
            <a:endParaRPr lang="en-US" sz="1050" dirty="0"/>
          </a:p>
        </p:txBody>
      </p:sp>
      <p:sp>
        <p:nvSpPr>
          <p:cNvPr id="8" name="Shape 6"/>
          <p:cNvSpPr/>
          <p:nvPr/>
        </p:nvSpPr>
        <p:spPr>
          <a:xfrm>
            <a:off x="4285488" y="1664208"/>
            <a:ext cx="3617976" cy="1417320"/>
          </a:xfrm>
          <a:prstGeom prst="roundRect">
            <a:avLst>
              <a:gd name="adj" fmla="val 3871"/>
            </a:avLst>
          </a:prstGeom>
          <a:solidFill>
            <a:srgbClr val="F1F6F4"/>
          </a:solidFill>
          <a:ln w="12700">
            <a:solidFill>
              <a:srgbClr val="D8E3E0"/>
            </a:solidFill>
            <a:prstDash val="solid"/>
          </a:ln>
        </p:spPr>
      </p:sp>
      <p:sp>
        <p:nvSpPr>
          <p:cNvPr id="9" name="Text 7"/>
          <p:cNvSpPr/>
          <p:nvPr/>
        </p:nvSpPr>
        <p:spPr>
          <a:xfrm>
            <a:off x="4431792" y="1792224"/>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Lifetime figures</a:t>
            </a:r>
            <a:endParaRPr lang="en-US" sz="1100" dirty="0"/>
          </a:p>
        </p:txBody>
      </p:sp>
      <p:sp>
        <p:nvSpPr>
          <p:cNvPr id="10" name="Text 8"/>
          <p:cNvSpPr/>
          <p:nvPr/>
        </p:nvSpPr>
        <p:spPr>
          <a:xfrm>
            <a:off x="4431792"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same over your whole ownership period. The electric figure also includes building its battery.</a:t>
            </a:r>
            <a:endParaRPr lang="en-US" sz="1050" dirty="0"/>
          </a:p>
        </p:txBody>
      </p:sp>
      <p:sp>
        <p:nvSpPr>
          <p:cNvPr id="11" name="Shape 9"/>
          <p:cNvSpPr/>
          <p:nvPr/>
        </p:nvSpPr>
        <p:spPr>
          <a:xfrm>
            <a:off x="8068056" y="1664208"/>
            <a:ext cx="3617976" cy="1417320"/>
          </a:xfrm>
          <a:prstGeom prst="roundRect">
            <a:avLst>
              <a:gd name="adj" fmla="val 3871"/>
            </a:avLst>
          </a:prstGeom>
          <a:solidFill>
            <a:srgbClr val="F1F6F4"/>
          </a:solidFill>
          <a:ln w="12700">
            <a:solidFill>
              <a:srgbClr val="D8E3E0"/>
            </a:solidFill>
            <a:prstDash val="solid"/>
          </a:ln>
        </p:spPr>
      </p:sp>
      <p:sp>
        <p:nvSpPr>
          <p:cNvPr id="12" name="Text 10"/>
          <p:cNvSpPr/>
          <p:nvPr/>
        </p:nvSpPr>
        <p:spPr>
          <a:xfrm>
            <a:off x="8214360" y="1792224"/>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Carbon payback</a:t>
            </a:r>
            <a:endParaRPr lang="en-US" sz="1100" dirty="0"/>
          </a:p>
        </p:txBody>
      </p:sp>
      <p:sp>
        <p:nvSpPr>
          <p:cNvPr id="13" name="Text 11"/>
          <p:cNvSpPr/>
          <p:nvPr/>
        </p:nvSpPr>
        <p:spPr>
          <a:xfrm>
            <a:off x="8214360"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single most useful number here. How long the electric car must be driven before it has made up for the emissions of building its battery.</a:t>
            </a:r>
            <a:endParaRPr lang="en-US" sz="1050" dirty="0"/>
          </a:p>
        </p:txBody>
      </p:sp>
      <p:sp>
        <p:nvSpPr>
          <p:cNvPr id="14" name="Text 12"/>
          <p:cNvSpPr/>
          <p:nvPr/>
        </p:nvSpPr>
        <p:spPr>
          <a:xfrm>
            <a:off x="502920" y="3310128"/>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Understanding the chart</a:t>
            </a:r>
            <a:endParaRPr lang="en-US" sz="1900" dirty="0"/>
          </a:p>
        </p:txBody>
      </p:sp>
      <p:sp>
        <p:nvSpPr>
          <p:cNvPr id="15" name="Text 13"/>
          <p:cNvSpPr/>
          <p:nvPr/>
        </p:nvSpPr>
        <p:spPr>
          <a:xfrm>
            <a:off x="502920" y="3730752"/>
            <a:ext cx="5577840" cy="17373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green electric line does not start at zero. It starts partway up, because making the battery produced emissions before the car was ever driven.</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orange petrol line starts at zero but climbs faster, because it emits every kilometre.</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Where the lines cross is the carbon payback point. After it, the electric car is ahead on emissions.</a:t>
            </a:r>
            <a:endParaRPr lang="en-US" sz="1250" dirty="0"/>
          </a:p>
        </p:txBody>
      </p:sp>
      <p:sp>
        <p:nvSpPr>
          <p:cNvPr id="16" name="Shape 14"/>
          <p:cNvSpPr/>
          <p:nvPr/>
        </p:nvSpPr>
        <p:spPr>
          <a:xfrm>
            <a:off x="6355080" y="3291840"/>
            <a:ext cx="5330952" cy="2404872"/>
          </a:xfrm>
          <a:prstGeom prst="roundRect">
            <a:avLst>
              <a:gd name="adj" fmla="val 2281"/>
            </a:avLst>
          </a:prstGeom>
          <a:solidFill>
            <a:srgbClr val="FBFDFC"/>
          </a:solidFill>
          <a:ln w="19050">
            <a:solidFill>
              <a:srgbClr val="1A9E75"/>
            </a:solidFill>
            <a:prstDash val="dash"/>
          </a:ln>
        </p:spPr>
      </p:sp>
      <p:sp>
        <p:nvSpPr>
          <p:cNvPr id="17" name="Shape 15"/>
          <p:cNvSpPr/>
          <p:nvPr/>
        </p:nvSpPr>
        <p:spPr>
          <a:xfrm>
            <a:off x="6556248" y="3474720"/>
            <a:ext cx="1417320" cy="274320"/>
          </a:xfrm>
          <a:prstGeom prst="roundRect">
            <a:avLst>
              <a:gd name="adj" fmla="val 16667"/>
            </a:avLst>
          </a:prstGeom>
          <a:solidFill>
            <a:srgbClr val="1A9E75"/>
          </a:solidFill>
          <a:ln w="12700">
            <a:solidFill>
              <a:srgbClr val="1A9E75"/>
            </a:solidFill>
            <a:prstDash val="solid"/>
          </a:ln>
        </p:spPr>
      </p:sp>
      <p:sp>
        <p:nvSpPr>
          <p:cNvPr id="18" name="Text 16"/>
          <p:cNvSpPr/>
          <p:nvPr/>
        </p:nvSpPr>
        <p:spPr>
          <a:xfrm>
            <a:off x="6556248" y="347472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9" name="Text 17"/>
          <p:cNvSpPr/>
          <p:nvPr/>
        </p:nvSpPr>
        <p:spPr>
          <a:xfrm>
            <a:off x="6556248" y="385876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result cards and the cumulative emissions chart</a:t>
            </a:r>
            <a:endParaRPr lang="en-US" sz="1250" dirty="0"/>
          </a:p>
        </p:txBody>
      </p:sp>
      <p:sp>
        <p:nvSpPr>
          <p:cNvPr id="20" name="Text 18"/>
          <p:cNvSpPr/>
          <p:nvPr/>
        </p:nvSpPr>
        <p:spPr>
          <a:xfrm>
            <a:off x="6556248" y="448056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1" name="Text 19"/>
          <p:cNvSpPr/>
          <p:nvPr/>
        </p:nvSpPr>
        <p:spPr>
          <a:xfrm>
            <a:off x="6629400" y="4718304"/>
            <a:ext cx="4782312" cy="804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carbon payback card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green line starting above zero</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point where the two lines cross</a:t>
            </a:r>
            <a:endParaRPr lang="en-US" sz="1050" dirty="0"/>
          </a:p>
        </p:txBody>
      </p:sp>
      <p:sp>
        <p:nvSpPr>
          <p:cNvPr id="22" name="Text 2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7 - Emissions Impact Calculator</a:t>
            </a:r>
            <a:endParaRPr lang="en-US" sz="900" dirty="0"/>
          </a:p>
        </p:txBody>
      </p:sp>
      <p:sp>
        <p:nvSpPr>
          <p:cNvPr id="23" name="Text 2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8</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8</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Gas &amp; Energy Price Tracker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Jamaican fuel prices from 2015 to today, with your own price marked on the same scale.</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How unusual is what I am paying now, historically?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8</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price tracker</a:t>
            </a:r>
            <a:endParaRPr lang="en-US" sz="3200" dirty="0"/>
          </a:p>
        </p:txBody>
      </p:sp>
      <p:sp>
        <p:nvSpPr>
          <p:cNvPr id="4" name="Text 2"/>
          <p:cNvSpPr/>
          <p:nvPr/>
        </p:nvSpPr>
        <p:spPr>
          <a:xfrm>
            <a:off x="502920" y="1207008"/>
            <a:ext cx="11155680" cy="36576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There are no controls on this page. It draws itself from whatever you entered in Global settings, so set that first.</a:t>
            </a:r>
            <a:endParaRPr lang="en-US" sz="1300" dirty="0"/>
          </a:p>
        </p:txBody>
      </p:sp>
      <p:sp>
        <p:nvSpPr>
          <p:cNvPr id="5" name="Shape 3"/>
          <p:cNvSpPr/>
          <p:nvPr/>
        </p:nvSpPr>
        <p:spPr>
          <a:xfrm>
            <a:off x="502920" y="1719072"/>
            <a:ext cx="292608" cy="292608"/>
          </a:xfrm>
          <a:prstGeom prst="ellipse">
            <a:avLst/>
          </a:prstGeom>
          <a:solidFill>
            <a:srgbClr val="1A7A6E"/>
          </a:solidFill>
          <a:ln w="12700">
            <a:solidFill>
              <a:srgbClr val="1A7A6E"/>
            </a:solidFill>
            <a:prstDash val="solid"/>
          </a:ln>
        </p:spPr>
      </p:sp>
      <p:sp>
        <p:nvSpPr>
          <p:cNvPr id="6" name="Text 4"/>
          <p:cNvSpPr/>
          <p:nvPr/>
        </p:nvSpPr>
        <p:spPr>
          <a:xfrm>
            <a:off x="502920" y="17190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916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Global settings first</a:t>
            </a:r>
            <a:endParaRPr lang="en-US" sz="1300" dirty="0"/>
          </a:p>
        </p:txBody>
      </p:sp>
      <p:sp>
        <p:nvSpPr>
          <p:cNvPr id="8" name="Text 6"/>
          <p:cNvSpPr/>
          <p:nvPr/>
        </p:nvSpPr>
        <p:spPr>
          <a:xfrm>
            <a:off x="932688" y="192024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Your fuel grade and station markup decide what this page shows.</a:t>
            </a:r>
            <a:endParaRPr lang="en-US" sz="1150" dirty="0"/>
          </a:p>
        </p:txBody>
      </p:sp>
      <p:sp>
        <p:nvSpPr>
          <p:cNvPr id="9" name="Shape 7"/>
          <p:cNvSpPr/>
          <p:nvPr/>
        </p:nvSpPr>
        <p:spPr>
          <a:xfrm>
            <a:off x="502920" y="2496312"/>
            <a:ext cx="292608" cy="292608"/>
          </a:xfrm>
          <a:prstGeom prst="ellipse">
            <a:avLst/>
          </a:prstGeom>
          <a:solidFill>
            <a:srgbClr val="1A7A6E"/>
          </a:solidFill>
          <a:ln w="12700">
            <a:solidFill>
              <a:srgbClr val="1A7A6E"/>
            </a:solidFill>
            <a:prstDash val="solid"/>
          </a:ln>
        </p:spPr>
      </p:sp>
      <p:sp>
        <p:nvSpPr>
          <p:cNvPr id="10" name="Text 8"/>
          <p:cNvSpPr/>
          <p:nvPr/>
        </p:nvSpPr>
        <p:spPr>
          <a:xfrm>
            <a:off x="502920" y="249631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6888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the page</a:t>
            </a:r>
            <a:endParaRPr lang="en-US" sz="1300" dirty="0"/>
          </a:p>
        </p:txBody>
      </p:sp>
      <p:sp>
        <p:nvSpPr>
          <p:cNvPr id="12" name="Text 10"/>
          <p:cNvSpPr/>
          <p:nvPr/>
        </p:nvSpPr>
        <p:spPr>
          <a:xfrm>
            <a:off x="932688" y="269748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'8. Gas &amp; Energy Price Tracker' in the sidebar.</a:t>
            </a:r>
            <a:endParaRPr lang="en-US" sz="1150" dirty="0"/>
          </a:p>
        </p:txBody>
      </p:sp>
      <p:sp>
        <p:nvSpPr>
          <p:cNvPr id="13" name="Shape 11"/>
          <p:cNvSpPr/>
          <p:nvPr/>
        </p:nvSpPr>
        <p:spPr>
          <a:xfrm>
            <a:off x="502920" y="3104388"/>
            <a:ext cx="292608" cy="292608"/>
          </a:xfrm>
          <a:prstGeom prst="ellipse">
            <a:avLst/>
          </a:prstGeom>
          <a:solidFill>
            <a:srgbClr val="1A7A6E"/>
          </a:solidFill>
          <a:ln w="12700">
            <a:solidFill>
              <a:srgbClr val="1A7A6E"/>
            </a:solidFill>
            <a:prstDash val="solid"/>
          </a:ln>
        </p:spPr>
      </p:sp>
      <p:sp>
        <p:nvSpPr>
          <p:cNvPr id="14" name="Text 12"/>
          <p:cNvSpPr/>
          <p:nvPr/>
        </p:nvSpPr>
        <p:spPr>
          <a:xfrm>
            <a:off x="502920" y="31043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07695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main line</a:t>
            </a:r>
            <a:endParaRPr lang="en-US" sz="1300" dirty="0"/>
          </a:p>
        </p:txBody>
      </p:sp>
      <p:sp>
        <p:nvSpPr>
          <p:cNvPr id="16" name="Text 14"/>
          <p:cNvSpPr/>
          <p:nvPr/>
        </p:nvSpPr>
        <p:spPr>
          <a:xfrm>
            <a:off x="932688" y="330555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weekly Petrojam price from 2015 to the present. This is the wholesale reference, not the pump price.</a:t>
            </a:r>
            <a:endParaRPr lang="en-US" sz="1150" dirty="0"/>
          </a:p>
        </p:txBody>
      </p:sp>
      <p:sp>
        <p:nvSpPr>
          <p:cNvPr id="17" name="Shape 15"/>
          <p:cNvSpPr/>
          <p:nvPr/>
        </p:nvSpPr>
        <p:spPr>
          <a:xfrm>
            <a:off x="502920" y="3881628"/>
            <a:ext cx="292608" cy="292608"/>
          </a:xfrm>
          <a:prstGeom prst="ellipse">
            <a:avLst/>
          </a:prstGeom>
          <a:solidFill>
            <a:srgbClr val="1A7A6E"/>
          </a:solidFill>
          <a:ln w="12700">
            <a:solidFill>
              <a:srgbClr val="1A7A6E"/>
            </a:solidFill>
            <a:prstDash val="solid"/>
          </a:ln>
        </p:spPr>
      </p:sp>
      <p:sp>
        <p:nvSpPr>
          <p:cNvPr id="18" name="Text 16"/>
          <p:cNvSpPr/>
          <p:nvPr/>
        </p:nvSpPr>
        <p:spPr>
          <a:xfrm>
            <a:off x="502920" y="388162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385419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Find the dashed line</a:t>
            </a:r>
            <a:endParaRPr lang="en-US" sz="1300" dirty="0"/>
          </a:p>
        </p:txBody>
      </p:sp>
      <p:sp>
        <p:nvSpPr>
          <p:cNvPr id="20" name="Text 18"/>
          <p:cNvSpPr/>
          <p:nvPr/>
        </p:nvSpPr>
        <p:spPr>
          <a:xfrm>
            <a:off x="932688" y="408279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is your own effective price, from Global settings, drawn across the whole chart.</a:t>
            </a:r>
            <a:endParaRPr lang="en-US" sz="1150" dirty="0"/>
          </a:p>
        </p:txBody>
      </p:sp>
      <p:sp>
        <p:nvSpPr>
          <p:cNvPr id="21" name="Shape 19"/>
          <p:cNvSpPr/>
          <p:nvPr/>
        </p:nvSpPr>
        <p:spPr>
          <a:xfrm>
            <a:off x="502920" y="4658868"/>
            <a:ext cx="292608" cy="292608"/>
          </a:xfrm>
          <a:prstGeom prst="ellipse">
            <a:avLst/>
          </a:prstGeom>
          <a:solidFill>
            <a:srgbClr val="1A7A6E"/>
          </a:solidFill>
          <a:ln w="12700">
            <a:solidFill>
              <a:srgbClr val="1A7A6E"/>
            </a:solidFill>
            <a:prstDash val="solid"/>
          </a:ln>
        </p:spPr>
      </p:sp>
      <p:sp>
        <p:nvSpPr>
          <p:cNvPr id="22" name="Text 20"/>
          <p:cNvSpPr/>
          <p:nvPr/>
        </p:nvSpPr>
        <p:spPr>
          <a:xfrm>
            <a:off x="502920" y="465886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63143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Compare the two</a:t>
            </a:r>
            <a:endParaRPr lang="en-US" sz="1300" dirty="0"/>
          </a:p>
        </p:txBody>
      </p:sp>
      <p:sp>
        <p:nvSpPr>
          <p:cNvPr id="24" name="Text 22"/>
          <p:cNvSpPr/>
          <p:nvPr/>
        </p:nvSpPr>
        <p:spPr>
          <a:xfrm>
            <a:off x="932688" y="486003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gap between them shows what the retail markup adds to the wholesale price.</a:t>
            </a:r>
            <a:endParaRPr lang="en-US" sz="1150" dirty="0"/>
          </a:p>
        </p:txBody>
      </p:sp>
      <p:sp>
        <p:nvSpPr>
          <p:cNvPr id="25" name="Shape 23"/>
          <p:cNvSpPr/>
          <p:nvPr/>
        </p:nvSpPr>
        <p:spPr>
          <a:xfrm>
            <a:off x="502920" y="5436108"/>
            <a:ext cx="292608" cy="292608"/>
          </a:xfrm>
          <a:prstGeom prst="ellipse">
            <a:avLst/>
          </a:prstGeom>
          <a:solidFill>
            <a:srgbClr val="1A7A6E"/>
          </a:solidFill>
          <a:ln w="12700">
            <a:solidFill>
              <a:srgbClr val="1A7A6E"/>
            </a:solidFill>
            <a:prstDash val="solid"/>
          </a:ln>
        </p:spPr>
      </p:sp>
      <p:sp>
        <p:nvSpPr>
          <p:cNvPr id="26" name="Text 24"/>
          <p:cNvSpPr/>
          <p:nvPr/>
        </p:nvSpPr>
        <p:spPr>
          <a:xfrm>
            <a:off x="502920" y="54361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7" name="Text 25"/>
          <p:cNvSpPr/>
          <p:nvPr/>
        </p:nvSpPr>
        <p:spPr>
          <a:xfrm>
            <a:off x="932688" y="54086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Hover for exact values</a:t>
            </a:r>
            <a:endParaRPr lang="en-US" sz="1300" dirty="0"/>
          </a:p>
        </p:txBody>
      </p:sp>
      <p:sp>
        <p:nvSpPr>
          <p:cNvPr id="28" name="Text 26"/>
          <p:cNvSpPr/>
          <p:nvPr/>
        </p:nvSpPr>
        <p:spPr>
          <a:xfrm>
            <a:off x="932688" y="5637276"/>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Move the pointer along the line to read the price at any date.</a:t>
            </a:r>
            <a:endParaRPr lang="en-US" sz="1150" dirty="0"/>
          </a:p>
        </p:txBody>
      </p:sp>
      <p:sp>
        <p:nvSpPr>
          <p:cNvPr id="29" name="Shape 27"/>
          <p:cNvSpPr/>
          <p:nvPr/>
        </p:nvSpPr>
        <p:spPr>
          <a:xfrm>
            <a:off x="6355080" y="1691640"/>
            <a:ext cx="5330952" cy="3749040"/>
          </a:xfrm>
          <a:prstGeom prst="roundRect">
            <a:avLst>
              <a:gd name="adj" fmla="val 1463"/>
            </a:avLst>
          </a:prstGeom>
          <a:solidFill>
            <a:srgbClr val="FBFDFC"/>
          </a:solidFill>
          <a:ln w="19050">
            <a:solidFill>
              <a:srgbClr val="1A9E75"/>
            </a:solidFill>
            <a:prstDash val="dash"/>
          </a:ln>
        </p:spPr>
      </p:sp>
      <p:sp>
        <p:nvSpPr>
          <p:cNvPr id="30" name="Shape 28"/>
          <p:cNvSpPr/>
          <p:nvPr/>
        </p:nvSpPr>
        <p:spPr>
          <a:xfrm>
            <a:off x="6556248" y="1874520"/>
            <a:ext cx="1417320" cy="274320"/>
          </a:xfrm>
          <a:prstGeom prst="roundRect">
            <a:avLst>
              <a:gd name="adj" fmla="val 16667"/>
            </a:avLst>
          </a:prstGeom>
          <a:solidFill>
            <a:srgbClr val="1A9E75"/>
          </a:solidFill>
          <a:ln w="12700">
            <a:solidFill>
              <a:srgbClr val="1A9E75"/>
            </a:solidFill>
            <a:prstDash val="solid"/>
          </a:ln>
        </p:spPr>
      </p:sp>
      <p:sp>
        <p:nvSpPr>
          <p:cNvPr id="31" name="Text 29"/>
          <p:cNvSpPr/>
          <p:nvPr/>
        </p:nvSpPr>
        <p:spPr>
          <a:xfrm>
            <a:off x="6556248" y="187452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2" name="Text 30"/>
          <p:cNvSpPr/>
          <p:nvPr/>
        </p:nvSpPr>
        <p:spPr>
          <a:xfrm>
            <a:off x="6556248" y="225856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price chart, 2015 to present</a:t>
            </a:r>
            <a:endParaRPr lang="en-US" sz="1250" dirty="0"/>
          </a:p>
        </p:txBody>
      </p:sp>
      <p:sp>
        <p:nvSpPr>
          <p:cNvPr id="33" name="Text 31"/>
          <p:cNvSpPr/>
          <p:nvPr/>
        </p:nvSpPr>
        <p:spPr>
          <a:xfrm>
            <a:off x="6556248" y="288036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4" name="Text 32"/>
          <p:cNvSpPr/>
          <p:nvPr/>
        </p:nvSpPr>
        <p:spPr>
          <a:xfrm>
            <a:off x="6629400" y="3118104"/>
            <a:ext cx="4782312" cy="2148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historic Petrojam price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reference line for your own price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hover tooltip showing one date and price</a:t>
            </a:r>
            <a:endParaRPr lang="en-US" sz="1050" dirty="0"/>
          </a:p>
        </p:txBody>
      </p:sp>
      <p:sp>
        <p:nvSpPr>
          <p:cNvPr id="35" name="Text 33"/>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8 - Gas &amp; Energy Price Tracker</a:t>
            </a:r>
            <a:endParaRPr lang="en-US" sz="900" dirty="0"/>
          </a:p>
        </p:txBody>
      </p:sp>
      <p:sp>
        <p:nvSpPr>
          <p:cNvPr id="36" name="Text 34"/>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REFERENCE</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Tips and common problems</a:t>
            </a:r>
            <a:endParaRPr lang="en-US" sz="3200" dirty="0"/>
          </a:p>
        </p:txBody>
      </p:sp>
      <p:sp>
        <p:nvSpPr>
          <p:cNvPr id="4" name="Shape 2"/>
          <p:cNvSpPr/>
          <p:nvPr/>
        </p:nvSpPr>
        <p:spPr>
          <a:xfrm>
            <a:off x="502920" y="1371600"/>
            <a:ext cx="3617976" cy="1508760"/>
          </a:xfrm>
          <a:prstGeom prst="roundRect">
            <a:avLst>
              <a:gd name="adj" fmla="val 3636"/>
            </a:avLst>
          </a:prstGeom>
          <a:solidFill>
            <a:srgbClr val="F1F6F4"/>
          </a:solidFill>
          <a:ln w="12700">
            <a:solidFill>
              <a:srgbClr val="D8E3E0"/>
            </a:solidFill>
            <a:prstDash val="solid"/>
          </a:ln>
        </p:spPr>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Nothing to submit</a:t>
            </a:r>
            <a:endParaRPr lang="en-US" sz="1100" dirty="0"/>
          </a:p>
        </p:txBody>
      </p:sp>
      <p:sp>
        <p:nvSpPr>
          <p:cNvPr id="6" name="Text 4"/>
          <p:cNvSpPr/>
          <p:nvPr/>
        </p:nvSpPr>
        <p:spPr>
          <a:xfrm>
            <a:off x="649224"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There is no Save or Calculate button anywhere. Charts redraw as soon as you change a value, so just type and look.</a:t>
            </a:r>
            <a:endParaRPr lang="en-US" sz="1050" dirty="0"/>
          </a:p>
        </p:txBody>
      </p:sp>
      <p:sp>
        <p:nvSpPr>
          <p:cNvPr id="7" name="Shape 5"/>
          <p:cNvSpPr/>
          <p:nvPr/>
        </p:nvSpPr>
        <p:spPr>
          <a:xfrm>
            <a:off x="4285488" y="1371600"/>
            <a:ext cx="3617976" cy="1508760"/>
          </a:xfrm>
          <a:prstGeom prst="roundRect">
            <a:avLst>
              <a:gd name="adj" fmla="val 3636"/>
            </a:avLst>
          </a:prstGeom>
          <a:solidFill>
            <a:srgbClr val="F1F6F4"/>
          </a:solidFill>
          <a:ln w="12700">
            <a:solidFill>
              <a:srgbClr val="D8E3E0"/>
            </a:solidFill>
            <a:prstDash val="solid"/>
          </a:ln>
        </p:spPr>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A box turns red</a:t>
            </a:r>
            <a:endParaRPr lang="en-US" sz="1100" dirty="0"/>
          </a:p>
        </p:txBody>
      </p:sp>
      <p:sp>
        <p:nvSpPr>
          <p:cNvPr id="9" name="Text 7"/>
          <p:cNvSpPr/>
          <p:nvPr/>
        </p:nvSpPr>
        <p:spPr>
          <a:xfrm>
            <a:off x="4431792"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value is outside the range the box accepts. Put it back inside the range shown next to the box.</a:t>
            </a:r>
            <a:endParaRPr lang="en-US" sz="1050" dirty="0"/>
          </a:p>
        </p:txBody>
      </p:sp>
      <p:sp>
        <p:nvSpPr>
          <p:cNvPr id="10" name="Shape 8"/>
          <p:cNvSpPr/>
          <p:nvPr/>
        </p:nvSpPr>
        <p:spPr>
          <a:xfrm>
            <a:off x="8068056" y="1371600"/>
            <a:ext cx="3617976" cy="1508760"/>
          </a:xfrm>
          <a:prstGeom prst="roundRect">
            <a:avLst>
              <a:gd name="adj" fmla="val 3636"/>
            </a:avLst>
          </a:prstGeom>
          <a:solidFill>
            <a:srgbClr val="F1F6F4"/>
          </a:solidFill>
          <a:ln w="12700">
            <a:solidFill>
              <a:srgbClr val="D8E3E0"/>
            </a:solidFill>
            <a:prstDash val="solid"/>
          </a:ln>
        </p:spPr>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The chart says 'enter all inputs'</a:t>
            </a:r>
            <a:endParaRPr lang="en-US" sz="1100" dirty="0"/>
          </a:p>
        </p:txBody>
      </p:sp>
      <p:sp>
        <p:nvSpPr>
          <p:cNvPr id="12" name="Text 10"/>
          <p:cNvSpPr/>
          <p:nvPr/>
        </p:nvSpPr>
        <p:spPr>
          <a:xfrm>
            <a:off x="8214360"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One box has been left empty. Fill in every field in that module and the chart appears.</a:t>
            </a:r>
            <a:endParaRPr lang="en-US" sz="1050" dirty="0"/>
          </a:p>
        </p:txBody>
      </p:sp>
      <p:sp>
        <p:nvSpPr>
          <p:cNvPr id="13" name="Shape 11"/>
          <p:cNvSpPr/>
          <p:nvPr/>
        </p:nvSpPr>
        <p:spPr>
          <a:xfrm>
            <a:off x="502920" y="3063240"/>
            <a:ext cx="3617976" cy="1508760"/>
          </a:xfrm>
          <a:prstGeom prst="roundRect">
            <a:avLst>
              <a:gd name="adj" fmla="val 3636"/>
            </a:avLst>
          </a:prstGeom>
          <a:solidFill>
            <a:srgbClr val="F1F6F4"/>
          </a:solidFill>
          <a:ln w="12700">
            <a:solidFill>
              <a:srgbClr val="D8E3E0"/>
            </a:solidFill>
            <a:prstDash val="solid"/>
          </a:ln>
        </p:spPr>
      </p:sp>
      <p:sp>
        <p:nvSpPr>
          <p:cNvPr id="14" name="Text 12"/>
          <p:cNvSpPr/>
          <p:nvPr/>
        </p:nvSpPr>
        <p:spPr>
          <a:xfrm>
            <a:off x="649224" y="319125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Scrolling changes my numbers</a:t>
            </a:r>
            <a:endParaRPr lang="en-US" sz="1100" dirty="0"/>
          </a:p>
        </p:txBody>
      </p:sp>
      <p:sp>
        <p:nvSpPr>
          <p:cNvPr id="15" name="Text 13"/>
          <p:cNvSpPr/>
          <p:nvPr/>
        </p:nvSpPr>
        <p:spPr>
          <a:xfrm>
            <a:off x="649224"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Click on an empty part of the page first, then scroll. Clicking a box and scrolling can change its value.</a:t>
            </a:r>
            <a:endParaRPr lang="en-US" sz="1050" dirty="0"/>
          </a:p>
        </p:txBody>
      </p:sp>
      <p:sp>
        <p:nvSpPr>
          <p:cNvPr id="16" name="Shape 14"/>
          <p:cNvSpPr/>
          <p:nvPr/>
        </p:nvSpPr>
        <p:spPr>
          <a:xfrm>
            <a:off x="4285488" y="3063240"/>
            <a:ext cx="3617976" cy="1508760"/>
          </a:xfrm>
          <a:prstGeom prst="roundRect">
            <a:avLst>
              <a:gd name="adj" fmla="val 3636"/>
            </a:avLst>
          </a:prstGeom>
          <a:solidFill>
            <a:srgbClr val="F1F6F4"/>
          </a:solidFill>
          <a:ln w="12700">
            <a:solidFill>
              <a:srgbClr val="D8E3E0"/>
            </a:solidFill>
            <a:prstDash val="solid"/>
          </a:ln>
        </p:spPr>
      </p:sp>
      <p:sp>
        <p:nvSpPr>
          <p:cNvPr id="17" name="Text 15"/>
          <p:cNvSpPr/>
          <p:nvPr/>
        </p:nvSpPr>
        <p:spPr>
          <a:xfrm>
            <a:off x="4431792" y="319125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The page will not load</a:t>
            </a:r>
            <a:endParaRPr lang="en-US" sz="1100" dirty="0"/>
          </a:p>
        </p:txBody>
      </p:sp>
      <p:sp>
        <p:nvSpPr>
          <p:cNvPr id="18" name="Text 16"/>
          <p:cNvSpPr/>
          <p:nvPr/>
        </p:nvSpPr>
        <p:spPr>
          <a:xfrm>
            <a:off x="4431792"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Check the command prompt window is still open and running. If it closed, start the dashboard again.</a:t>
            </a:r>
            <a:endParaRPr lang="en-US" sz="1050" dirty="0"/>
          </a:p>
        </p:txBody>
      </p:sp>
      <p:sp>
        <p:nvSpPr>
          <p:cNvPr id="19" name="Shape 17"/>
          <p:cNvSpPr/>
          <p:nvPr/>
        </p:nvSpPr>
        <p:spPr>
          <a:xfrm>
            <a:off x="8068056" y="3063240"/>
            <a:ext cx="3617976" cy="1508760"/>
          </a:xfrm>
          <a:prstGeom prst="roundRect">
            <a:avLst>
              <a:gd name="adj" fmla="val 3636"/>
            </a:avLst>
          </a:prstGeom>
          <a:solidFill>
            <a:srgbClr val="F1F6F4"/>
          </a:solidFill>
          <a:ln w="12700">
            <a:solidFill>
              <a:srgbClr val="D8E3E0"/>
            </a:solidFill>
            <a:prstDash val="solid"/>
          </a:ln>
        </p:spPr>
      </p:sp>
      <p:sp>
        <p:nvSpPr>
          <p:cNvPr id="20" name="Text 18"/>
          <p:cNvSpPr/>
          <p:nvPr/>
        </p:nvSpPr>
        <p:spPr>
          <a:xfrm>
            <a:off x="8214360" y="319125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Results look wrong</a:t>
            </a:r>
            <a:endParaRPr lang="en-US" sz="1100" dirty="0"/>
          </a:p>
        </p:txBody>
      </p:sp>
      <p:sp>
        <p:nvSpPr>
          <p:cNvPr id="21" name="Text 19"/>
          <p:cNvSpPr/>
          <p:nvPr/>
        </p:nvSpPr>
        <p:spPr>
          <a:xfrm>
            <a:off x="8214360"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Go back to Global settings. A wrong fuel price, home rate or charging network there affects most other pages.</a:t>
            </a:r>
            <a:endParaRPr lang="en-US" sz="1050" dirty="0"/>
          </a:p>
        </p:txBody>
      </p:sp>
      <p:sp>
        <p:nvSpPr>
          <p:cNvPr id="22" name="Shape 20"/>
          <p:cNvSpPr/>
          <p:nvPr/>
        </p:nvSpPr>
        <p:spPr>
          <a:xfrm>
            <a:off x="502920" y="4892040"/>
            <a:ext cx="11183112" cy="658368"/>
          </a:xfrm>
          <a:prstGeom prst="roundRect">
            <a:avLst>
              <a:gd name="adj" fmla="val 8333"/>
            </a:avLst>
          </a:prstGeom>
          <a:solidFill>
            <a:srgbClr val="F1F6F4"/>
          </a:solidFill>
          <a:ln w="12700">
            <a:solidFill>
              <a:srgbClr val="D8E3E0"/>
            </a:solidFill>
            <a:prstDash val="solid"/>
          </a:ln>
        </p:spPr>
      </p:sp>
      <p:sp>
        <p:nvSpPr>
          <p:cNvPr id="23" name="Shape 21"/>
          <p:cNvSpPr/>
          <p:nvPr/>
        </p:nvSpPr>
        <p:spPr>
          <a:xfrm>
            <a:off x="685800" y="5065776"/>
            <a:ext cx="310896" cy="310896"/>
          </a:xfrm>
          <a:prstGeom prst="ellipse">
            <a:avLst/>
          </a:prstGeom>
          <a:solidFill>
            <a:srgbClr val="1A9E75"/>
          </a:solidFill>
          <a:ln w="12700">
            <a:solidFill>
              <a:srgbClr val="1A9E75"/>
            </a:solidFill>
            <a:prstDash val="solid"/>
          </a:ln>
        </p:spPr>
      </p:sp>
      <p:sp>
        <p:nvSpPr>
          <p:cNvPr id="24" name="Text 22"/>
          <p:cNvSpPr/>
          <p:nvPr/>
        </p:nvSpPr>
        <p:spPr>
          <a:xfrm>
            <a:off x="685800" y="50657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25" name="Text 23"/>
          <p:cNvSpPr/>
          <p:nvPr/>
        </p:nvSpPr>
        <p:spPr>
          <a:xfrm>
            <a:off x="1133856" y="500176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Golden rule:  </a:t>
            </a:r>
            <a:pPr indent="0" marL="0">
              <a:buNone/>
            </a:pPr>
            <a:r>
              <a:rPr lang="en-US" sz="1100" dirty="0">
                <a:solidFill>
                  <a:srgbClr val="6B7A77"/>
                </a:solidFill>
                <a:latin typeface="Calibri" pitchFamily="34" charset="0"/>
                <a:ea typeface="Calibri" pitchFamily="34" charset="-122"/>
                <a:cs typeface="Calibri" pitchFamily="34" charset="-120"/>
              </a:rPr>
              <a:t>set Global settings before using Modules 3, 4, 7 and 8. Everything else follows from those prices.</a:t>
            </a:r>
            <a:endParaRPr lang="en-US" sz="1100" dirty="0"/>
          </a:p>
        </p:txBody>
      </p:sp>
      <p:sp>
        <p:nvSpPr>
          <p:cNvPr id="26" name="Text 24"/>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Reference</a:t>
            </a:r>
            <a:endParaRPr lang="en-US" sz="900" dirty="0"/>
          </a:p>
        </p:txBody>
      </p:sp>
      <p:sp>
        <p:nvSpPr>
          <p:cNvPr id="27" name="Text 25"/>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2A24"/>
        </a:solidFill>
      </p:bgPr>
    </p:bg>
    <p:spTree>
      <p:nvGrpSpPr>
        <p:cNvPr id="1" name=""/>
        <p:cNvGrpSpPr/>
        <p:nvPr/>
      </p:nvGrpSpPr>
      <p:grpSpPr>
        <a:xfrm>
          <a:off x="0" y="0"/>
          <a:ext cx="0" cy="0"/>
          <a:chOff x="0" y="0"/>
          <a:chExt cx="0" cy="0"/>
        </a:xfrm>
      </p:grpSpPr>
      <p:sp>
        <p:nvSpPr>
          <p:cNvPr id="2" name="Text 0"/>
          <p:cNvSpPr/>
          <p:nvPr/>
        </p:nvSpPr>
        <p:spPr>
          <a:xfrm>
            <a:off x="822960" y="1417320"/>
            <a:ext cx="105156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suggested order to try</a:t>
            </a:r>
            <a:endParaRPr lang="en-US" sz="3400" dirty="0"/>
          </a:p>
        </p:txBody>
      </p:sp>
      <p:sp>
        <p:nvSpPr>
          <p:cNvPr id="3" name="Text 1"/>
          <p:cNvSpPr/>
          <p:nvPr/>
        </p:nvSpPr>
        <p:spPr>
          <a:xfrm>
            <a:off x="822960" y="2084832"/>
            <a:ext cx="10058400" cy="365760"/>
          </a:xfrm>
          <a:prstGeom prst="rect">
            <a:avLst/>
          </a:prstGeom>
          <a:noFill/>
          <a:ln/>
        </p:spPr>
        <p:txBody>
          <a:bodyPr wrap="square" lIns="0" tIns="0" rIns="0" bIns="0" rtlCol="0" anchor="ctr"/>
          <a:lstStyle/>
          <a:p>
            <a:pPr indent="0" marL="0">
              <a:buNone/>
            </a:pPr>
            <a:r>
              <a:rPr lang="en-US" sz="1400" dirty="0">
                <a:solidFill>
                  <a:srgbClr val="A9C6BF"/>
                </a:solidFill>
                <a:latin typeface="Calibri" pitchFamily="34" charset="0"/>
                <a:ea typeface="Calibri" pitchFamily="34" charset="-122"/>
                <a:cs typeface="Calibri" pitchFamily="34" charset="-120"/>
              </a:rPr>
              <a:t>If you have never opened the dashboard before, this route makes the most sense.</a:t>
            </a:r>
            <a:endParaRPr lang="en-US" sz="1400" dirty="0"/>
          </a:p>
        </p:txBody>
      </p:sp>
      <p:sp>
        <p:nvSpPr>
          <p:cNvPr id="4" name="Shape 2"/>
          <p:cNvSpPr/>
          <p:nvPr/>
        </p:nvSpPr>
        <p:spPr>
          <a:xfrm>
            <a:off x="868680" y="2697480"/>
            <a:ext cx="347472" cy="347472"/>
          </a:xfrm>
          <a:prstGeom prst="ellipse">
            <a:avLst/>
          </a:prstGeom>
          <a:solidFill>
            <a:srgbClr val="1A9E75"/>
          </a:solidFill>
          <a:ln w="12700">
            <a:solidFill>
              <a:srgbClr val="1A9E75"/>
            </a:solidFill>
            <a:prstDash val="solid"/>
          </a:ln>
        </p:spPr>
      </p:sp>
      <p:sp>
        <p:nvSpPr>
          <p:cNvPr id="5" name="Text 3"/>
          <p:cNvSpPr/>
          <p:nvPr/>
        </p:nvSpPr>
        <p:spPr>
          <a:xfrm>
            <a:off x="868680" y="2697480"/>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89888" y="2670048"/>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Set Global settings</a:t>
            </a:r>
            <a:endParaRPr lang="en-US" sz="1500" dirty="0"/>
          </a:p>
        </p:txBody>
      </p:sp>
      <p:sp>
        <p:nvSpPr>
          <p:cNvPr id="7" name="Text 5"/>
          <p:cNvSpPr/>
          <p:nvPr/>
        </p:nvSpPr>
        <p:spPr>
          <a:xfrm>
            <a:off x="5440680" y="2670048"/>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Enter the fuel price you actually pay, your home electricity rate, and your charging network.</a:t>
            </a:r>
            <a:endParaRPr lang="en-US" sz="1250" dirty="0"/>
          </a:p>
        </p:txBody>
      </p:sp>
      <p:sp>
        <p:nvSpPr>
          <p:cNvPr id="8" name="Shape 6"/>
          <p:cNvSpPr/>
          <p:nvPr/>
        </p:nvSpPr>
        <p:spPr>
          <a:xfrm>
            <a:off x="868680" y="3355848"/>
            <a:ext cx="347472" cy="347472"/>
          </a:xfrm>
          <a:prstGeom prst="ellipse">
            <a:avLst/>
          </a:prstGeom>
          <a:solidFill>
            <a:srgbClr val="1A9E75"/>
          </a:solidFill>
          <a:ln w="12700">
            <a:solidFill>
              <a:srgbClr val="1A9E75"/>
            </a:solidFill>
            <a:prstDash val="solid"/>
          </a:ln>
        </p:spPr>
      </p:sp>
      <p:sp>
        <p:nvSpPr>
          <p:cNvPr id="9" name="Text 7"/>
          <p:cNvSpPr/>
          <p:nvPr/>
        </p:nvSpPr>
        <p:spPr>
          <a:xfrm>
            <a:off x="868680" y="3355848"/>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389888" y="3328416"/>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Open Module 3, the calculator</a:t>
            </a:r>
            <a:endParaRPr lang="en-US" sz="1500" dirty="0"/>
          </a:p>
        </p:txBody>
      </p:sp>
      <p:sp>
        <p:nvSpPr>
          <p:cNvPr id="11" name="Text 9"/>
          <p:cNvSpPr/>
          <p:nvPr/>
        </p:nvSpPr>
        <p:spPr>
          <a:xfrm>
            <a:off x="5440680" y="3328416"/>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Compare a car you know against an electric one. This is the quickest way to see what the dashboard does.</a:t>
            </a:r>
            <a:endParaRPr lang="en-US" sz="1250" dirty="0"/>
          </a:p>
        </p:txBody>
      </p:sp>
      <p:sp>
        <p:nvSpPr>
          <p:cNvPr id="12" name="Shape 10"/>
          <p:cNvSpPr/>
          <p:nvPr/>
        </p:nvSpPr>
        <p:spPr>
          <a:xfrm>
            <a:off x="868680" y="4014216"/>
            <a:ext cx="347472" cy="347472"/>
          </a:xfrm>
          <a:prstGeom prst="ellipse">
            <a:avLst/>
          </a:prstGeom>
          <a:solidFill>
            <a:srgbClr val="1A9E75"/>
          </a:solidFill>
          <a:ln w="12700">
            <a:solidFill>
              <a:srgbClr val="1A9E75"/>
            </a:solidFill>
            <a:prstDash val="solid"/>
          </a:ln>
        </p:spPr>
      </p:sp>
      <p:sp>
        <p:nvSpPr>
          <p:cNvPr id="13" name="Text 11"/>
          <p:cNvSpPr/>
          <p:nvPr/>
        </p:nvSpPr>
        <p:spPr>
          <a:xfrm>
            <a:off x="868680" y="4014216"/>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89888" y="3986784"/>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Try Module 7, emissions</a:t>
            </a:r>
            <a:endParaRPr lang="en-US" sz="1500" dirty="0"/>
          </a:p>
        </p:txBody>
      </p:sp>
      <p:sp>
        <p:nvSpPr>
          <p:cNvPr id="15" name="Text 13"/>
          <p:cNvSpPr/>
          <p:nvPr/>
        </p:nvSpPr>
        <p:spPr>
          <a:xfrm>
            <a:off x="5440680" y="3986784"/>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The same comparison, but for carbon dioxide instead of money.</a:t>
            </a:r>
            <a:endParaRPr lang="en-US" sz="1250" dirty="0"/>
          </a:p>
        </p:txBody>
      </p:sp>
      <p:sp>
        <p:nvSpPr>
          <p:cNvPr id="16" name="Shape 14"/>
          <p:cNvSpPr/>
          <p:nvPr/>
        </p:nvSpPr>
        <p:spPr>
          <a:xfrm>
            <a:off x="868680" y="4672584"/>
            <a:ext cx="347472" cy="347472"/>
          </a:xfrm>
          <a:prstGeom prst="ellipse">
            <a:avLst/>
          </a:prstGeom>
          <a:solidFill>
            <a:srgbClr val="1A9E75"/>
          </a:solidFill>
          <a:ln w="12700">
            <a:solidFill>
              <a:srgbClr val="1A9E75"/>
            </a:solidFill>
            <a:prstDash val="solid"/>
          </a:ln>
        </p:spPr>
      </p:sp>
      <p:sp>
        <p:nvSpPr>
          <p:cNvPr id="17" name="Text 15"/>
          <p:cNvSpPr/>
          <p:nvPr/>
        </p:nvSpPr>
        <p:spPr>
          <a:xfrm>
            <a:off x="868680" y="4672584"/>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389888" y="4645152"/>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Look at Modules 1 and 2</a:t>
            </a:r>
            <a:endParaRPr lang="en-US" sz="1500" dirty="0"/>
          </a:p>
        </p:txBody>
      </p:sp>
      <p:sp>
        <p:nvSpPr>
          <p:cNvPr id="19" name="Text 17"/>
          <p:cNvSpPr/>
          <p:nvPr/>
        </p:nvSpPr>
        <p:spPr>
          <a:xfrm>
            <a:off x="5440680" y="4645152"/>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Policy context and how Jamaica compares regionally.</a:t>
            </a:r>
            <a:endParaRPr lang="en-US" sz="1250" dirty="0"/>
          </a:p>
        </p:txBody>
      </p:sp>
      <p:sp>
        <p:nvSpPr>
          <p:cNvPr id="20" name="Shape 18"/>
          <p:cNvSpPr/>
          <p:nvPr/>
        </p:nvSpPr>
        <p:spPr>
          <a:xfrm>
            <a:off x="868680" y="5330952"/>
            <a:ext cx="347472" cy="347472"/>
          </a:xfrm>
          <a:prstGeom prst="ellipse">
            <a:avLst/>
          </a:prstGeom>
          <a:solidFill>
            <a:srgbClr val="1A9E75"/>
          </a:solidFill>
          <a:ln w="12700">
            <a:solidFill>
              <a:srgbClr val="1A9E75"/>
            </a:solidFill>
            <a:prstDash val="solid"/>
          </a:ln>
        </p:spPr>
      </p:sp>
      <p:sp>
        <p:nvSpPr>
          <p:cNvPr id="21" name="Text 19"/>
          <p:cNvSpPr/>
          <p:nvPr/>
        </p:nvSpPr>
        <p:spPr>
          <a:xfrm>
            <a:off x="868680" y="5330952"/>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389888" y="5303520"/>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Explore Modules 4, 6 and 8</a:t>
            </a:r>
            <a:endParaRPr lang="en-US" sz="1500" dirty="0"/>
          </a:p>
        </p:txBody>
      </p:sp>
      <p:sp>
        <p:nvSpPr>
          <p:cNvPr id="23" name="Text 21"/>
          <p:cNvSpPr/>
          <p:nvPr/>
        </p:nvSpPr>
        <p:spPr>
          <a:xfrm>
            <a:off x="5440680" y="5303520"/>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The taxi tool, national fleet projections and fuel price history.</a:t>
            </a:r>
            <a:endParaRPr lang="en-US" sz="1250" dirty="0"/>
          </a:p>
        </p:txBody>
      </p:sp>
      <p:sp>
        <p:nvSpPr>
          <p:cNvPr id="24" name="Text 22"/>
          <p:cNvSpPr/>
          <p:nvPr/>
        </p:nvSpPr>
        <p:spPr>
          <a:xfrm>
            <a:off x="868680" y="6144768"/>
            <a:ext cx="5486400" cy="27432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UWI Mona  ·  EV Lab</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Jamaica EV Dashboard - User Guide</dc:title>
  <dc:subject>PptxGenJS Presentation</dc:subject>
  <dc:creator>PptxGenJS</dc:creator>
  <cp:lastModifiedBy>PptxGenJS</cp:lastModifiedBy>
  <cp:revision>1</cp:revision>
  <dcterms:created xsi:type="dcterms:W3CDTF">2026-07-30T14:35:41Z</dcterms:created>
  <dcterms:modified xsi:type="dcterms:W3CDTF">2026-07-30T14:35:41Z</dcterms:modified>
</cp:coreProperties>
</file>